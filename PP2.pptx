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9.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10.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11.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12.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notesSlides/notesSlide13.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14.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notesSlides/notesSlide15.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16.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17.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notesSlides/notesSlide18.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notesSlides/notesSlide19.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notesSlides/notesSlide20.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notesSlides/notesSlide21.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notesSlides/notesSlide22.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23.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notesSlides/notesSlide24.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notesSlides/notesSlide25.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notesSlides/notesSlide26.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62" r:id="rId2"/>
    <p:sldId id="260" r:id="rId3"/>
    <p:sldId id="258" r:id="rId4"/>
    <p:sldId id="269" r:id="rId5"/>
    <p:sldId id="288" r:id="rId6"/>
    <p:sldId id="266" r:id="rId7"/>
    <p:sldId id="287" r:id="rId8"/>
    <p:sldId id="272" r:id="rId9"/>
    <p:sldId id="305" r:id="rId10"/>
    <p:sldId id="267" r:id="rId11"/>
    <p:sldId id="291" r:id="rId12"/>
    <p:sldId id="328" r:id="rId13"/>
    <p:sldId id="289" r:id="rId14"/>
    <p:sldId id="268" r:id="rId15"/>
    <p:sldId id="329" r:id="rId16"/>
    <p:sldId id="330" r:id="rId17"/>
    <p:sldId id="279" r:id="rId18"/>
    <p:sldId id="315" r:id="rId19"/>
    <p:sldId id="303" r:id="rId20"/>
    <p:sldId id="306" r:id="rId21"/>
    <p:sldId id="331" r:id="rId22"/>
    <p:sldId id="332" r:id="rId23"/>
    <p:sldId id="333" r:id="rId24"/>
    <p:sldId id="334" r:id="rId25"/>
    <p:sldId id="307" r:id="rId26"/>
    <p:sldId id="327" r:id="rId27"/>
    <p:sldId id="304" r:id="rId28"/>
    <p:sldId id="308" r:id="rId29"/>
    <p:sldId id="280" r:id="rId30"/>
    <p:sldId id="281"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B7F45330-DDA9-4F80-82E3-8CDEF5F6FFEC}">
          <p14:sldIdLst>
            <p14:sldId id="262"/>
            <p14:sldId id="260"/>
          </p14:sldIdLst>
        </p14:section>
        <p14:section name="01" id="{DFB6207D-5944-4CA8-980F-85B68FF3BE7F}">
          <p14:sldIdLst>
            <p14:sldId id="258"/>
            <p14:sldId id="269"/>
            <p14:sldId id="288"/>
          </p14:sldIdLst>
        </p14:section>
        <p14:section name="02" id="{E32794A2-3AEB-4CAF-A57E-14425BB01C0C}">
          <p14:sldIdLst>
            <p14:sldId id="266"/>
            <p14:sldId id="287"/>
            <p14:sldId id="272"/>
          </p14:sldIdLst>
        </p14:section>
        <p14:section name="03" id="{00CCF6CA-5ABD-4A6E-8BD4-9DE38004C79E}">
          <p14:sldIdLst>
            <p14:sldId id="305"/>
            <p14:sldId id="267"/>
            <p14:sldId id="291"/>
            <p14:sldId id="328"/>
            <p14:sldId id="289"/>
          </p14:sldIdLst>
        </p14:section>
        <p14:section name="04" id="{59047E24-E517-4278-80B3-E43A18894E1A}">
          <p14:sldIdLst>
            <p14:sldId id="268"/>
            <p14:sldId id="329"/>
            <p14:sldId id="330"/>
            <p14:sldId id="279"/>
            <p14:sldId id="315"/>
            <p14:sldId id="303"/>
            <p14:sldId id="306"/>
            <p14:sldId id="331"/>
            <p14:sldId id="332"/>
            <p14:sldId id="333"/>
            <p14:sldId id="334"/>
            <p14:sldId id="307"/>
            <p14:sldId id="327"/>
            <p14:sldId id="304"/>
            <p14:sldId id="308"/>
          </p14:sldIdLst>
        </p14:section>
        <p14:section name="Section sans titre" id="{7F57193F-3E6F-4718-9DA4-244CB311BE55}">
          <p14:sldIdLst>
            <p14:sldId id="280"/>
            <p14:sldId id="28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hamed Amine Cherni" initials="MAC" lastIdx="2" clrIdx="0">
    <p:extLst>
      <p:ext uri="{19B8F6BF-5375-455C-9EA6-DF929625EA0E}">
        <p15:presenceInfo xmlns:p15="http://schemas.microsoft.com/office/powerpoint/2012/main" userId="S::m.cherni0306@myu.universitecentrale.tn::052aa0a7-7021-4043-8089-5309e10ed0c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4F50"/>
    <a:srgbClr val="FF0066"/>
    <a:srgbClr val="FE8C5D"/>
    <a:srgbClr val="4D5A6E"/>
    <a:srgbClr val="44546A"/>
    <a:srgbClr val="FFFFFF"/>
    <a:srgbClr val="4C5769"/>
    <a:srgbClr val="4D5A6D"/>
    <a:srgbClr val="4C5A6D"/>
    <a:srgbClr val="74CD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3" autoAdjust="0"/>
    <p:restoredTop sz="83565" autoAdjust="0"/>
  </p:normalViewPr>
  <p:slideViewPr>
    <p:cSldViewPr snapToGrid="0">
      <p:cViewPr varScale="1">
        <p:scale>
          <a:sx n="71" d="100"/>
          <a:sy n="71" d="100"/>
        </p:scale>
        <p:origin x="1138" y="4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AEA54-4FC0-4FBB-A5B7-D98A5EE601DD}" type="datetimeFigureOut">
              <a:rPr lang="fr-FR" smtClean="0"/>
              <a:t>14/01/2025</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2DBD6C-EAA0-456A-8856-333E7317999A}" type="slidenum">
              <a:rPr lang="fr-FR" smtClean="0"/>
              <a:t>‹N°›</a:t>
            </a:fld>
            <a:endParaRPr lang="fr-FR" dirty="0"/>
          </a:p>
        </p:txBody>
      </p:sp>
    </p:spTree>
    <p:extLst>
      <p:ext uri="{BB962C8B-B14F-4D97-AF65-F5344CB8AC3E}">
        <p14:creationId xmlns:p14="http://schemas.microsoft.com/office/powerpoint/2010/main" val="1301157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strike="noStrike" cap="none" dirty="0">
                <a:solidFill>
                  <a:srgbClr val="FF0000"/>
                </a:solidFill>
                <a:effectLst/>
                <a:latin typeface="+mn-lt"/>
                <a:ea typeface="Malgun Gothic"/>
                <a:cs typeface="Malgun Gothic"/>
                <a:sym typeface="Malgun Gothic"/>
              </a:rPr>
              <a:t>Monsieur </a:t>
            </a:r>
            <a:r>
              <a:rPr lang="fr-FR" sz="1200" b="0" i="0" u="none" strike="noStrike" cap="none" dirty="0">
                <a:solidFill>
                  <a:schemeClr val="dk1"/>
                </a:solidFill>
                <a:effectLst/>
                <a:latin typeface="+mn-lt"/>
                <a:ea typeface="Malgun Gothic"/>
                <a:cs typeface="Malgun Gothic"/>
                <a:sym typeface="Malgun Gothic"/>
              </a:rPr>
              <a:t>le président ,messieurs les membres du jury, Je tiens à vous exprimer ma gratitude pour votre attention lors de ma présentation. J'ai l'honneur de vous présenter mon projet professionnel intitulé «</a:t>
            </a:r>
            <a:r>
              <a:rPr lang="fr-FR" b="1" dirty="0"/>
              <a:t>Développement d’une Application Web pour la Gestion des Méthodes de Commerce Extérieur</a:t>
            </a:r>
            <a:r>
              <a:rPr lang="fr-FR" sz="1200" b="0" i="0" u="none" strike="noStrike" cap="none" dirty="0">
                <a:solidFill>
                  <a:schemeClr val="dk1"/>
                </a:solidFill>
                <a:effectLst/>
                <a:latin typeface="+mn-lt"/>
                <a:ea typeface="Malgun Gothic"/>
                <a:cs typeface="Malgun Gothic"/>
                <a:sym typeface="Malgun Gothic"/>
              </a:rPr>
              <a:t>», que j'ai élaboré. </a:t>
            </a:r>
            <a:endParaRPr lang="fr-FR" dirty="0"/>
          </a:p>
        </p:txBody>
      </p:sp>
      <p:sp>
        <p:nvSpPr>
          <p:cNvPr id="4" name="Espace réservé du numéro de diapositive 3"/>
          <p:cNvSpPr>
            <a:spLocks noGrp="1"/>
          </p:cNvSpPr>
          <p:nvPr>
            <p:ph type="sldNum" sz="quarter" idx="5"/>
          </p:nvPr>
        </p:nvSpPr>
        <p:spPr/>
        <p:txBody>
          <a:bodyPr/>
          <a:lstStyle/>
          <a:p>
            <a:fld id="{992DBD6C-EAA0-456A-8856-333E7317999A}" type="slidenum">
              <a:rPr lang="fr-FR" smtClean="0"/>
              <a:t>1</a:t>
            </a:fld>
            <a:endParaRPr lang="fr-FR" dirty="0"/>
          </a:p>
        </p:txBody>
      </p:sp>
    </p:spTree>
    <p:extLst>
      <p:ext uri="{BB962C8B-B14F-4D97-AF65-F5344CB8AC3E}">
        <p14:creationId xmlns:p14="http://schemas.microsoft.com/office/powerpoint/2010/main" val="955099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lvl="0" indent="0" algn="l" rtl="0">
              <a:spcBef>
                <a:spcPts val="0"/>
              </a:spcBef>
              <a:spcAft>
                <a:spcPts val="0"/>
              </a:spcAft>
              <a:buNone/>
            </a:pPr>
            <a:r>
              <a:rPr lang="fr-FR" dirty="0"/>
              <a:t>Pour une première présentation, on a adapter un plan a suivre :</a:t>
            </a:r>
          </a:p>
          <a:p>
            <a:pPr marL="171450" lvl="0" indent="-171450" algn="l" rtl="0">
              <a:spcBef>
                <a:spcPts val="0"/>
              </a:spcBef>
              <a:spcAft>
                <a:spcPts val="0"/>
              </a:spcAft>
              <a:buClr>
                <a:schemeClr val="dk1"/>
              </a:buClr>
              <a:buSzPts val="1200"/>
              <a:buFont typeface="Malgun Gothic"/>
              <a:buChar char="-"/>
            </a:pPr>
            <a:r>
              <a:rPr lang="fr-FR" dirty="0"/>
              <a:t>On commence par le contexte général et la présentation de l’organisme pour les mettre en situation.</a:t>
            </a:r>
          </a:p>
          <a:p>
            <a:pPr marL="171450" lvl="0" indent="-171450" algn="l" rtl="0">
              <a:spcBef>
                <a:spcPts val="0"/>
              </a:spcBef>
              <a:spcAft>
                <a:spcPts val="0"/>
              </a:spcAft>
              <a:buClr>
                <a:schemeClr val="dk1"/>
              </a:buClr>
              <a:buSzPts val="1200"/>
              <a:buFont typeface="Malgun Gothic"/>
              <a:buChar char="-"/>
            </a:pPr>
            <a:r>
              <a:rPr lang="fr-FR" dirty="0"/>
              <a:t>On passent ensuite, à la problématique, les solutions proposées et les Objectifs.</a:t>
            </a:r>
          </a:p>
          <a:p>
            <a:pPr marL="171450" lvl="0" indent="-171450" algn="l" rtl="0">
              <a:spcBef>
                <a:spcPts val="0"/>
              </a:spcBef>
              <a:spcAft>
                <a:spcPts val="0"/>
              </a:spcAft>
              <a:buClr>
                <a:schemeClr val="dk1"/>
              </a:buClr>
              <a:buSzPts val="1200"/>
              <a:buFont typeface="Malgun Gothic"/>
              <a:buChar char="-"/>
            </a:pPr>
            <a:r>
              <a:rPr lang="fr-FR" dirty="0"/>
              <a:t>Suivi d’une analyse des besoins.</a:t>
            </a:r>
          </a:p>
          <a:p>
            <a:pPr marL="171450" lvl="0" indent="-171450" algn="l" rtl="0">
              <a:spcBef>
                <a:spcPts val="0"/>
              </a:spcBef>
              <a:spcAft>
                <a:spcPts val="0"/>
              </a:spcAft>
              <a:buClr>
                <a:schemeClr val="dk1"/>
              </a:buClr>
              <a:buSzPts val="1200"/>
              <a:buFont typeface="Malgun Gothic"/>
              <a:buChar char="-"/>
            </a:pPr>
            <a:r>
              <a:rPr lang="fr-FR" dirty="0"/>
              <a:t>Ensuite, on vous présente l’étude conceptuelle de notre modèle. </a:t>
            </a:r>
          </a:p>
          <a:p>
            <a:pPr marL="171450" lvl="0" indent="-171450" algn="l" rtl="0">
              <a:spcBef>
                <a:spcPts val="0"/>
              </a:spcBef>
              <a:spcAft>
                <a:spcPts val="0"/>
              </a:spcAft>
              <a:buClr>
                <a:schemeClr val="dk1"/>
              </a:buClr>
              <a:buSzPts val="1200"/>
              <a:buFont typeface="Malgun Gothic"/>
              <a:buChar char="-"/>
            </a:pPr>
            <a:r>
              <a:rPr lang="fr-FR" dirty="0"/>
              <a:t>Suivi, de la réalisation du tableau de bord et sa prévision.</a:t>
            </a:r>
          </a:p>
          <a:p>
            <a:pPr marL="0" lvl="0" indent="0" algn="l" rtl="0">
              <a:spcBef>
                <a:spcPts val="0"/>
              </a:spcBef>
              <a:spcAft>
                <a:spcPts val="0"/>
              </a:spcAft>
              <a:buClr>
                <a:schemeClr val="dk1"/>
              </a:buClr>
              <a:buSzPts val="1200"/>
              <a:buFont typeface="Malgun Gothic"/>
              <a:buNone/>
            </a:pPr>
            <a:r>
              <a:rPr lang="fr-FR" dirty="0"/>
              <a:t>-   Et on terminent par une conclusion et des perspectives.</a:t>
            </a:r>
          </a:p>
          <a:p>
            <a:endParaRPr lang="fr-FR" dirty="0"/>
          </a:p>
        </p:txBody>
      </p:sp>
      <p:sp>
        <p:nvSpPr>
          <p:cNvPr id="4" name="Espace réservé du numéro de diapositive 3"/>
          <p:cNvSpPr>
            <a:spLocks noGrp="1"/>
          </p:cNvSpPr>
          <p:nvPr>
            <p:ph type="sldNum" sz="quarter" idx="5"/>
          </p:nvPr>
        </p:nvSpPr>
        <p:spPr/>
        <p:txBody>
          <a:bodyPr/>
          <a:lstStyle/>
          <a:p>
            <a:fld id="{992DBD6C-EAA0-456A-8856-333E7317999A}" type="slidenum">
              <a:rPr lang="fr-FR" smtClean="0"/>
              <a:t>2</a:t>
            </a:fld>
            <a:endParaRPr lang="fr-FR" dirty="0"/>
          </a:p>
        </p:txBody>
      </p:sp>
    </p:spTree>
    <p:extLst>
      <p:ext uri="{BB962C8B-B14F-4D97-AF65-F5344CB8AC3E}">
        <p14:creationId xmlns:p14="http://schemas.microsoft.com/office/powerpoint/2010/main" val="325714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dk1"/>
                </a:solidFill>
                <a:latin typeface="Malgun Gothic"/>
                <a:ea typeface="Malgun Gothic"/>
                <a:cs typeface="Malgun Gothic"/>
                <a:sym typeface="Malgun Gothic"/>
              </a:rPr>
              <a:t>On commence maintenant par le contexte général où nous allons donner lieu au contexte de notre travail :</a:t>
            </a:r>
          </a:p>
          <a:p>
            <a:endParaRPr lang="fr-FR" dirty="0"/>
          </a:p>
        </p:txBody>
      </p:sp>
      <p:sp>
        <p:nvSpPr>
          <p:cNvPr id="4" name="Espace réservé du numéro de diapositive 3"/>
          <p:cNvSpPr>
            <a:spLocks noGrp="1"/>
          </p:cNvSpPr>
          <p:nvPr>
            <p:ph type="sldNum" sz="quarter" idx="5"/>
          </p:nvPr>
        </p:nvSpPr>
        <p:spPr/>
        <p:txBody>
          <a:bodyPr/>
          <a:lstStyle/>
          <a:p>
            <a:fld id="{992DBD6C-EAA0-456A-8856-333E7317999A}" type="slidenum">
              <a:rPr lang="fr-FR" smtClean="0"/>
              <a:t>3</a:t>
            </a:fld>
            <a:endParaRPr lang="fr-FR" dirty="0"/>
          </a:p>
        </p:txBody>
      </p:sp>
    </p:spTree>
    <p:extLst>
      <p:ext uri="{BB962C8B-B14F-4D97-AF65-F5344CB8AC3E}">
        <p14:creationId xmlns:p14="http://schemas.microsoft.com/office/powerpoint/2010/main" val="2781953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b="0" i="0" dirty="0">
                <a:solidFill>
                  <a:srgbClr val="0D0D0D"/>
                </a:solidFill>
                <a:effectLst/>
                <a:latin typeface="Söhne"/>
              </a:rPr>
              <a:t>Ce travail s'inscrit dans le cadre d'un projet de stage réalisé au sein de la société "SMI" et vise à </a:t>
            </a:r>
            <a:r>
              <a:rPr lang="fr-FR" dirty="0"/>
              <a:t>Modernisation d'une application existante développée avec Oracle Forms.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dirty="0">
              <a:solidFill>
                <a:srgbClr val="FF0000"/>
              </a:solidFill>
            </a:endParaRPr>
          </a:p>
        </p:txBody>
      </p:sp>
      <p:sp>
        <p:nvSpPr>
          <p:cNvPr id="4" name="Espace réservé du numéro de diapositive 3"/>
          <p:cNvSpPr>
            <a:spLocks noGrp="1"/>
          </p:cNvSpPr>
          <p:nvPr>
            <p:ph type="sldNum" sz="quarter" idx="5"/>
          </p:nvPr>
        </p:nvSpPr>
        <p:spPr/>
        <p:txBody>
          <a:bodyPr/>
          <a:lstStyle/>
          <a:p>
            <a:fld id="{992DBD6C-EAA0-456A-8856-333E7317999A}" type="slidenum">
              <a:rPr lang="fr-FR" smtClean="0"/>
              <a:t>4</a:t>
            </a:fld>
            <a:endParaRPr lang="fr-FR" dirty="0"/>
          </a:p>
        </p:txBody>
      </p:sp>
    </p:spTree>
    <p:extLst>
      <p:ext uri="{BB962C8B-B14F-4D97-AF65-F5344CB8AC3E}">
        <p14:creationId xmlns:p14="http://schemas.microsoft.com/office/powerpoint/2010/main" val="7940668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4000" b="0" i="0" dirty="0">
                <a:solidFill>
                  <a:srgbClr val="0D0D0D"/>
                </a:solidFill>
                <a:effectLst/>
                <a:latin typeface="Söhne"/>
              </a:rPr>
              <a:t>Mon stage de Projet professionnel s’inscrit au sein de la société SMI (Société Le Monde Informatique), une entreprise bénéficiant d'une expérience de plus de 30 ans dans le domaine de l'informatique. elle se démarque par son expertise et sa compétence dans les opérations bancaires internationales, avec un accent particulier sur le secteur bancaire étranger.</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Société Le Monde Informatique (SMI), spécialisée en solutions bancaires.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5"/>
          </p:nvPr>
        </p:nvSpPr>
        <p:spPr/>
        <p:txBody>
          <a:bodyPr/>
          <a:lstStyle/>
          <a:p>
            <a:fld id="{992DBD6C-EAA0-456A-8856-333E7317999A}" type="slidenum">
              <a:rPr lang="fr-FR" smtClean="0"/>
              <a:t>5</a:t>
            </a:fld>
            <a:endParaRPr lang="fr-FR" dirty="0"/>
          </a:p>
        </p:txBody>
      </p:sp>
    </p:spTree>
    <p:extLst>
      <p:ext uri="{BB962C8B-B14F-4D97-AF65-F5344CB8AC3E}">
        <p14:creationId xmlns:p14="http://schemas.microsoft.com/office/powerpoint/2010/main" val="32441705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On passe maintenant à problématique et les solutions</a:t>
            </a:r>
            <a:r>
              <a:rPr lang="fr-FR" baseline="0" dirty="0"/>
              <a:t> proposées et les objectifs </a:t>
            </a:r>
            <a:endParaRPr lang="fr-FR" dirty="0"/>
          </a:p>
          <a:p>
            <a:endParaRPr lang="fr-FR" dirty="0"/>
          </a:p>
        </p:txBody>
      </p:sp>
      <p:sp>
        <p:nvSpPr>
          <p:cNvPr id="4" name="Espace réservé du numéro de diapositive 3"/>
          <p:cNvSpPr>
            <a:spLocks noGrp="1"/>
          </p:cNvSpPr>
          <p:nvPr>
            <p:ph type="sldNum" sz="quarter" idx="5"/>
          </p:nvPr>
        </p:nvSpPr>
        <p:spPr/>
        <p:txBody>
          <a:bodyPr/>
          <a:lstStyle/>
          <a:p>
            <a:fld id="{992DBD6C-EAA0-456A-8856-333E7317999A}" type="slidenum">
              <a:rPr lang="fr-FR" smtClean="0"/>
              <a:t>6</a:t>
            </a:fld>
            <a:endParaRPr lang="fr-FR" dirty="0"/>
          </a:p>
        </p:txBody>
      </p:sp>
    </p:spTree>
    <p:extLst>
      <p:ext uri="{BB962C8B-B14F-4D97-AF65-F5344CB8AC3E}">
        <p14:creationId xmlns:p14="http://schemas.microsoft.com/office/powerpoint/2010/main" val="4106825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0D0D0D"/>
                </a:solidFill>
                <a:effectLst/>
                <a:latin typeface="Söhne"/>
              </a:rPr>
              <a:t>La gestion d'événements au sein des propriétés immobilières nécessite une organisation minutieuse et un suivi constant, mais les méthodes traditionnelles présentent des limitations en termes d'efficacité et de gestion du temps.</a:t>
            </a:r>
            <a:endParaRPr lang="fr-FR" dirty="0"/>
          </a:p>
        </p:txBody>
      </p:sp>
      <p:sp>
        <p:nvSpPr>
          <p:cNvPr id="4" name="Espace réservé du numéro de diapositive 3"/>
          <p:cNvSpPr>
            <a:spLocks noGrp="1"/>
          </p:cNvSpPr>
          <p:nvPr>
            <p:ph type="sldNum" sz="quarter" idx="5"/>
          </p:nvPr>
        </p:nvSpPr>
        <p:spPr/>
        <p:txBody>
          <a:bodyPr/>
          <a:lstStyle/>
          <a:p>
            <a:fld id="{992DBD6C-EAA0-456A-8856-333E7317999A}" type="slidenum">
              <a:rPr lang="fr-FR" smtClean="0"/>
              <a:t>7</a:t>
            </a:fld>
            <a:endParaRPr lang="fr-FR" dirty="0"/>
          </a:p>
        </p:txBody>
      </p:sp>
    </p:spTree>
    <p:extLst>
      <p:ext uri="{BB962C8B-B14F-4D97-AF65-F5344CB8AC3E}">
        <p14:creationId xmlns:p14="http://schemas.microsoft.com/office/powerpoint/2010/main" val="23163668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0" i="0" u="none" strike="noStrike" cap="none" dirty="0">
                <a:solidFill>
                  <a:schemeClr val="dk1"/>
                </a:solidFill>
                <a:effectLst/>
                <a:latin typeface="Malgun Gothic"/>
                <a:ea typeface="Malgun Gothic"/>
                <a:cs typeface="Malgun Gothic"/>
                <a:sym typeface="Malgun Gothic"/>
              </a:rPr>
              <a:t>Alors suite à une étude technique, nous avons pris </a:t>
            </a:r>
            <a:r>
              <a:rPr lang="fr-FR" sz="1200" b="0" i="0" u="none" strike="noStrike" kern="1200" cap="none" baseline="0" dirty="0">
                <a:solidFill>
                  <a:schemeClr val="tx1"/>
                </a:solidFill>
                <a:latin typeface="Malgun Gothic"/>
                <a:ea typeface="Malgun Gothic"/>
                <a:cs typeface="Malgun Gothic"/>
                <a:sym typeface="Malgun Gothic"/>
              </a:rPr>
              <a:t>de développer </a:t>
            </a:r>
            <a:r>
              <a:rPr lang="fr-FR" sz="1200" dirty="0">
                <a:effectLst/>
                <a:latin typeface="Times New Roman" panose="02020603050405020304" pitchFamily="18" charset="0"/>
                <a:ea typeface="Calibri" panose="020F0502020204030204" pitchFamily="34" charset="0"/>
              </a:rPr>
              <a:t>une application web qui regroupe l’ensemble des fonctionnalités nécessaires </a:t>
            </a:r>
            <a:r>
              <a:rPr lang="fr-FR" sz="1200" b="0" i="0" u="none" strike="noStrike" cap="none" dirty="0">
                <a:solidFill>
                  <a:schemeClr val="dk1"/>
                </a:solidFill>
                <a:effectLst/>
                <a:latin typeface="Malgun Gothic"/>
                <a:ea typeface="Malgun Gothic"/>
                <a:cs typeface="Malgun Gothic"/>
                <a:sym typeface="Malgun Gothic"/>
              </a:rPr>
              <a:t>qui répond aux besoins exprimés. A pour objectifs </a:t>
            </a:r>
          </a:p>
          <a:p>
            <a:pPr marL="0" lvl="0" indent="0" algn="l" rtl="0">
              <a:spcBef>
                <a:spcPts val="0"/>
              </a:spcBef>
              <a:spcAft>
                <a:spcPts val="0"/>
              </a:spcAft>
              <a:buNone/>
            </a:pPr>
            <a:endParaRPr lang="fr-FR" dirty="0"/>
          </a:p>
        </p:txBody>
      </p:sp>
      <p:sp>
        <p:nvSpPr>
          <p:cNvPr id="4" name="Espace réservé du numéro de diapositive 3"/>
          <p:cNvSpPr>
            <a:spLocks noGrp="1"/>
          </p:cNvSpPr>
          <p:nvPr>
            <p:ph type="sldNum" sz="quarter" idx="5"/>
          </p:nvPr>
        </p:nvSpPr>
        <p:spPr/>
        <p:txBody>
          <a:bodyPr/>
          <a:lstStyle/>
          <a:p>
            <a:fld id="{992DBD6C-EAA0-456A-8856-333E7317999A}" type="slidenum">
              <a:rPr lang="fr-FR" smtClean="0"/>
              <a:t>8</a:t>
            </a:fld>
            <a:endParaRPr lang="fr-FR" dirty="0"/>
          </a:p>
        </p:txBody>
      </p:sp>
    </p:spTree>
    <p:extLst>
      <p:ext uri="{BB962C8B-B14F-4D97-AF65-F5344CB8AC3E}">
        <p14:creationId xmlns:p14="http://schemas.microsoft.com/office/powerpoint/2010/main" val="37269019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374151"/>
                </a:solidFill>
                <a:effectLst/>
                <a:latin typeface="Söhne"/>
              </a:rPr>
              <a:t>En conclusion, les objectifs d'un projet  de </a:t>
            </a:r>
            <a:r>
              <a:rPr lang="fr-FR" sz="1200" b="1" i="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développement d’une application web pour la gestion des événements </a:t>
            </a:r>
            <a:r>
              <a:rPr lang="fr-FR" sz="1200" b="0" i="0"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sont</a:t>
            </a:r>
            <a:r>
              <a:rPr lang="fr-FR" sz="1200" b="1" i="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 </a:t>
            </a:r>
            <a:endParaRPr lang="fr-FR" dirty="0"/>
          </a:p>
        </p:txBody>
      </p:sp>
      <p:sp>
        <p:nvSpPr>
          <p:cNvPr id="4" name="Espace réservé du numéro de diapositive 3"/>
          <p:cNvSpPr>
            <a:spLocks noGrp="1"/>
          </p:cNvSpPr>
          <p:nvPr>
            <p:ph type="sldNum" sz="quarter" idx="5"/>
          </p:nvPr>
        </p:nvSpPr>
        <p:spPr/>
        <p:txBody>
          <a:bodyPr/>
          <a:lstStyle/>
          <a:p>
            <a:fld id="{992DBD6C-EAA0-456A-8856-333E7317999A}" type="slidenum">
              <a:rPr lang="fr-FR" smtClean="0"/>
              <a:t>9</a:t>
            </a:fld>
            <a:endParaRPr lang="fr-FR" dirty="0"/>
          </a:p>
        </p:txBody>
      </p:sp>
    </p:spTree>
    <p:extLst>
      <p:ext uri="{BB962C8B-B14F-4D97-AF65-F5344CB8AC3E}">
        <p14:creationId xmlns:p14="http://schemas.microsoft.com/office/powerpoint/2010/main" val="7535206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On passe maintenant à l’analyse des besoin</a:t>
            </a:r>
          </a:p>
          <a:p>
            <a:endParaRPr lang="fr-FR" dirty="0"/>
          </a:p>
        </p:txBody>
      </p:sp>
      <p:sp>
        <p:nvSpPr>
          <p:cNvPr id="4" name="Espace réservé du numéro de diapositive 3"/>
          <p:cNvSpPr>
            <a:spLocks noGrp="1"/>
          </p:cNvSpPr>
          <p:nvPr>
            <p:ph type="sldNum" sz="quarter" idx="5"/>
          </p:nvPr>
        </p:nvSpPr>
        <p:spPr/>
        <p:txBody>
          <a:bodyPr/>
          <a:lstStyle/>
          <a:p>
            <a:fld id="{992DBD6C-EAA0-456A-8856-333E7317999A}" type="slidenum">
              <a:rPr lang="fr-FR" smtClean="0"/>
              <a:t>10</a:t>
            </a:fld>
            <a:endParaRPr lang="fr-FR" dirty="0"/>
          </a:p>
        </p:txBody>
      </p:sp>
    </p:spTree>
    <p:extLst>
      <p:ext uri="{BB962C8B-B14F-4D97-AF65-F5344CB8AC3E}">
        <p14:creationId xmlns:p14="http://schemas.microsoft.com/office/powerpoint/2010/main" val="557350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fr-FR" dirty="0"/>
              <a:t>En commence par Les besoins fonctionnels qui sont exprimés sous forme d'exigences fonctionnelles. Ces exigences définissent ce que le système offre aux utilisateurs</a:t>
            </a:r>
          </a:p>
        </p:txBody>
      </p:sp>
      <p:sp>
        <p:nvSpPr>
          <p:cNvPr id="4" name="Slide Number Placeholder 3"/>
          <p:cNvSpPr>
            <a:spLocks noGrp="1"/>
          </p:cNvSpPr>
          <p:nvPr>
            <p:ph type="sldNum" sz="quarter" idx="5"/>
          </p:nvPr>
        </p:nvSpPr>
        <p:spPr/>
        <p:txBody>
          <a:bodyPr/>
          <a:lstStyle/>
          <a:p>
            <a:fld id="{992DBD6C-EAA0-456A-8856-333E7317999A}" type="slidenum">
              <a:rPr lang="fr-FR" smtClean="0"/>
              <a:t>11</a:t>
            </a:fld>
            <a:endParaRPr lang="fr-FR" dirty="0"/>
          </a:p>
        </p:txBody>
      </p:sp>
    </p:spTree>
    <p:extLst>
      <p:ext uri="{BB962C8B-B14F-4D97-AF65-F5344CB8AC3E}">
        <p14:creationId xmlns:p14="http://schemas.microsoft.com/office/powerpoint/2010/main" val="3760165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D84F4-66DB-2CB9-2BD6-BE5CB560D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D04288-11D2-4024-EDAE-0F54F7073A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1E630E-8809-4DD5-8C8F-A5DBC57A51AC}"/>
              </a:ext>
            </a:extLst>
          </p:cNvPr>
          <p:cNvSpPr>
            <a:spLocks noGrp="1"/>
          </p:cNvSpPr>
          <p:nvPr>
            <p:ph type="body" idx="1"/>
          </p:nvPr>
        </p:nvSpPr>
        <p:spPr/>
        <p:txBody>
          <a:bodyPr/>
          <a:lstStyle/>
          <a:p>
            <a:pPr marL="0" lvl="0" indent="0" algn="l" rtl="0">
              <a:spcBef>
                <a:spcPts val="0"/>
              </a:spcBef>
              <a:spcAft>
                <a:spcPts val="0"/>
              </a:spcAft>
              <a:buNone/>
            </a:pPr>
            <a:r>
              <a:rPr lang="fr-FR" dirty="0"/>
              <a:t>En commence par Les besoins fonctionnels qui sont exprimés sous forme d'exigences fonctionnelles. Ces exigences définissent ce que le système offre aux utilisateurs</a:t>
            </a:r>
          </a:p>
        </p:txBody>
      </p:sp>
      <p:sp>
        <p:nvSpPr>
          <p:cNvPr id="4" name="Slide Number Placeholder 3">
            <a:extLst>
              <a:ext uri="{FF2B5EF4-FFF2-40B4-BE49-F238E27FC236}">
                <a16:creationId xmlns:a16="http://schemas.microsoft.com/office/drawing/2014/main" id="{F97D19C2-41FB-4A92-F938-6386FA351221}"/>
              </a:ext>
            </a:extLst>
          </p:cNvPr>
          <p:cNvSpPr>
            <a:spLocks noGrp="1"/>
          </p:cNvSpPr>
          <p:nvPr>
            <p:ph type="sldNum" sz="quarter" idx="5"/>
          </p:nvPr>
        </p:nvSpPr>
        <p:spPr/>
        <p:txBody>
          <a:bodyPr/>
          <a:lstStyle/>
          <a:p>
            <a:fld id="{992DBD6C-EAA0-456A-8856-333E7317999A}" type="slidenum">
              <a:rPr lang="fr-FR" smtClean="0"/>
              <a:t>12</a:t>
            </a:fld>
            <a:endParaRPr lang="fr-FR" dirty="0"/>
          </a:p>
        </p:txBody>
      </p:sp>
    </p:spTree>
    <p:extLst>
      <p:ext uri="{BB962C8B-B14F-4D97-AF65-F5344CB8AC3E}">
        <p14:creationId xmlns:p14="http://schemas.microsoft.com/office/powerpoint/2010/main" val="8412272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fr-FR" dirty="0"/>
              <a:t>Ensuite, Les besoins non fonctionnelles sont celles qui décrivent les caractéristiques du système qui ne sont pas directement visibles pour l'utilisateur. En effet, ils garantissent une bonne utilisation pour l'utilisateur. Au cours de mon projet, les besoins non fonctionnels sont : </a:t>
            </a:r>
          </a:p>
        </p:txBody>
      </p:sp>
      <p:sp>
        <p:nvSpPr>
          <p:cNvPr id="4" name="Slide Number Placeholder 3"/>
          <p:cNvSpPr>
            <a:spLocks noGrp="1"/>
          </p:cNvSpPr>
          <p:nvPr>
            <p:ph type="sldNum" sz="quarter" idx="5"/>
          </p:nvPr>
        </p:nvSpPr>
        <p:spPr/>
        <p:txBody>
          <a:bodyPr/>
          <a:lstStyle/>
          <a:p>
            <a:fld id="{992DBD6C-EAA0-456A-8856-333E7317999A}" type="slidenum">
              <a:rPr lang="fr-FR" smtClean="0"/>
              <a:t>13</a:t>
            </a:fld>
            <a:endParaRPr lang="fr-FR" dirty="0"/>
          </a:p>
        </p:txBody>
      </p:sp>
    </p:spTree>
    <p:extLst>
      <p:ext uri="{BB962C8B-B14F-4D97-AF65-F5344CB8AC3E}">
        <p14:creationId xmlns:p14="http://schemas.microsoft.com/office/powerpoint/2010/main" val="3111240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err="1">
                <a:solidFill>
                  <a:srgbClr val="CD400B"/>
                </a:solidFill>
                <a:effectLst/>
                <a:latin typeface="+mn-lt"/>
              </a:rPr>
              <a:t>Passsant</a:t>
            </a:r>
            <a:r>
              <a:rPr lang="fr-FR" b="0" i="0" dirty="0">
                <a:solidFill>
                  <a:srgbClr val="CD400B"/>
                </a:solidFill>
                <a:effectLst/>
                <a:latin typeface="+mn-lt"/>
              </a:rPr>
              <a:t> </a:t>
            </a:r>
            <a:r>
              <a:rPr lang="en-GB" dirty="0"/>
              <a:t>a </a:t>
            </a:r>
            <a:r>
              <a:rPr lang="en-GB" dirty="0" err="1"/>
              <a:t>l’etude</a:t>
            </a:r>
            <a:r>
              <a:rPr lang="en-GB" dirty="0"/>
              <a:t> </a:t>
            </a:r>
            <a:r>
              <a:rPr lang="en-GB" dirty="0" err="1"/>
              <a:t>conceptuelle</a:t>
            </a:r>
            <a:endParaRPr lang="en-GB" dirty="0"/>
          </a:p>
        </p:txBody>
      </p:sp>
      <p:sp>
        <p:nvSpPr>
          <p:cNvPr id="4" name="Slide Number Placeholder 3"/>
          <p:cNvSpPr>
            <a:spLocks noGrp="1"/>
          </p:cNvSpPr>
          <p:nvPr>
            <p:ph type="sldNum" sz="quarter" idx="5"/>
          </p:nvPr>
        </p:nvSpPr>
        <p:spPr/>
        <p:txBody>
          <a:bodyPr/>
          <a:lstStyle/>
          <a:p>
            <a:fld id="{992DBD6C-EAA0-456A-8856-333E7317999A}" type="slidenum">
              <a:rPr lang="fr-FR" smtClean="0"/>
              <a:t>14</a:t>
            </a:fld>
            <a:endParaRPr lang="fr-FR"/>
          </a:p>
        </p:txBody>
      </p:sp>
    </p:spTree>
    <p:extLst>
      <p:ext uri="{BB962C8B-B14F-4D97-AF65-F5344CB8AC3E}">
        <p14:creationId xmlns:p14="http://schemas.microsoft.com/office/powerpoint/2010/main" val="12314893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BEED2-7A25-0820-9E35-88610C6064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0170EE-2492-40EA-64CF-95F0D15AE2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0E1F40-9329-E65D-3C56-98350D16851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0" i="0" u="none" strike="noStrike" kern="1200" cap="none" dirty="0">
                <a:solidFill>
                  <a:schemeClr val="tx1"/>
                </a:solidFill>
                <a:effectLst/>
                <a:latin typeface="Malgun Gothic"/>
                <a:ea typeface="Malgun Gothic"/>
                <a:cs typeface="Malgun Gothic"/>
                <a:sym typeface="Malgun Gothic"/>
              </a:rPr>
              <a:t>On passe a l’identification des acteurs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0" i="0" u="none" strike="noStrike" kern="1200" cap="none" dirty="0">
                <a:solidFill>
                  <a:schemeClr val="tx1"/>
                </a:solidFill>
                <a:effectLst/>
                <a:latin typeface="Malgun Gothic"/>
                <a:ea typeface="Malgun Gothic"/>
                <a:cs typeface="Malgun Gothic"/>
                <a:sym typeface="Malgun Gothic"/>
              </a:rPr>
              <a:t>Notre plateforme est manipulée par 1 seul acteur</a:t>
            </a:r>
            <a:r>
              <a:rPr lang="fr-FR" sz="1200" b="0" i="0" u="none" strike="noStrike" kern="1200" cap="none" baseline="0" dirty="0">
                <a:solidFill>
                  <a:schemeClr val="tx1"/>
                </a:solidFill>
                <a:effectLst/>
                <a:latin typeface="Malgun Gothic"/>
                <a:ea typeface="Malgun Gothic"/>
                <a:cs typeface="Malgun Gothic"/>
                <a:sym typeface="Malgun Gothic"/>
              </a:rPr>
              <a:t> le </a:t>
            </a:r>
            <a:r>
              <a:rPr lang="fr-FR" sz="1200" b="0" i="0" u="none" strike="noStrike" kern="1200" cap="none" baseline="0" dirty="0" err="1">
                <a:solidFill>
                  <a:schemeClr val="tx1"/>
                </a:solidFill>
                <a:effectLst/>
                <a:latin typeface="Malgun Gothic"/>
                <a:ea typeface="Malgun Gothic"/>
                <a:cs typeface="Malgun Gothic"/>
                <a:sym typeface="Malgun Gothic"/>
              </a:rPr>
              <a:t>propriaitaire</a:t>
            </a:r>
            <a:endParaRPr lang="fr-FR" b="0" dirty="0">
              <a:effectLst/>
            </a:endParaRPr>
          </a:p>
          <a:p>
            <a:pPr marL="0" lvl="0" indent="0" algn="l" rtl="0">
              <a:spcBef>
                <a:spcPts val="0"/>
              </a:spcBef>
              <a:spcAft>
                <a:spcPts val="0"/>
              </a:spcAft>
              <a:buNone/>
            </a:pPr>
            <a:endParaRPr lang="fr-FR" dirty="0"/>
          </a:p>
        </p:txBody>
      </p:sp>
      <p:sp>
        <p:nvSpPr>
          <p:cNvPr id="4" name="Slide Number Placeholder 3">
            <a:extLst>
              <a:ext uri="{FF2B5EF4-FFF2-40B4-BE49-F238E27FC236}">
                <a16:creationId xmlns:a16="http://schemas.microsoft.com/office/drawing/2014/main" id="{CC1DF7A3-E14A-22A5-330B-3EA8E1EEDCB5}"/>
              </a:ext>
            </a:extLst>
          </p:cNvPr>
          <p:cNvSpPr>
            <a:spLocks noGrp="1"/>
          </p:cNvSpPr>
          <p:nvPr>
            <p:ph type="sldNum" sz="quarter" idx="5"/>
          </p:nvPr>
        </p:nvSpPr>
        <p:spPr/>
        <p:txBody>
          <a:bodyPr/>
          <a:lstStyle/>
          <a:p>
            <a:fld id="{992DBD6C-EAA0-456A-8856-333E7317999A}" type="slidenum">
              <a:rPr lang="fr-FR" smtClean="0"/>
              <a:t>15</a:t>
            </a:fld>
            <a:endParaRPr lang="fr-FR"/>
          </a:p>
        </p:txBody>
      </p:sp>
    </p:spTree>
    <p:extLst>
      <p:ext uri="{BB962C8B-B14F-4D97-AF65-F5344CB8AC3E}">
        <p14:creationId xmlns:p14="http://schemas.microsoft.com/office/powerpoint/2010/main" val="40675719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4D434-C808-E569-863C-6DFA410F7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BAE07-64DF-3908-5847-3D36C95455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BDAD60-6DDA-1D05-7B7A-AE79C45BF84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0" i="0" u="none" strike="noStrike" kern="1200" cap="none" dirty="0">
                <a:solidFill>
                  <a:schemeClr val="tx1"/>
                </a:solidFill>
                <a:effectLst/>
                <a:latin typeface="Malgun Gothic"/>
                <a:ea typeface="Malgun Gothic"/>
                <a:cs typeface="Malgun Gothic"/>
                <a:sym typeface="Malgun Gothic"/>
              </a:rPr>
              <a:t>On passe a l’identification des acteurs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0" i="0" u="none" strike="noStrike" kern="1200" cap="none" dirty="0">
                <a:solidFill>
                  <a:schemeClr val="tx1"/>
                </a:solidFill>
                <a:effectLst/>
                <a:latin typeface="Malgun Gothic"/>
                <a:ea typeface="Malgun Gothic"/>
                <a:cs typeface="Malgun Gothic"/>
                <a:sym typeface="Malgun Gothic"/>
              </a:rPr>
              <a:t>Notre plateforme est manipulée par 1 seul acteur</a:t>
            </a:r>
            <a:r>
              <a:rPr lang="fr-FR" sz="1200" b="0" i="0" u="none" strike="noStrike" kern="1200" cap="none" baseline="0" dirty="0">
                <a:solidFill>
                  <a:schemeClr val="tx1"/>
                </a:solidFill>
                <a:effectLst/>
                <a:latin typeface="Malgun Gothic"/>
                <a:ea typeface="Malgun Gothic"/>
                <a:cs typeface="Malgun Gothic"/>
                <a:sym typeface="Malgun Gothic"/>
              </a:rPr>
              <a:t> le </a:t>
            </a:r>
            <a:r>
              <a:rPr lang="fr-FR" sz="1200" b="0" i="0" u="none" strike="noStrike" kern="1200" cap="none" baseline="0" dirty="0" err="1">
                <a:solidFill>
                  <a:schemeClr val="tx1"/>
                </a:solidFill>
                <a:effectLst/>
                <a:latin typeface="Malgun Gothic"/>
                <a:ea typeface="Malgun Gothic"/>
                <a:cs typeface="Malgun Gothic"/>
                <a:sym typeface="Malgun Gothic"/>
              </a:rPr>
              <a:t>propriaitaire</a:t>
            </a:r>
            <a:endParaRPr lang="fr-FR" b="0" dirty="0">
              <a:effectLst/>
            </a:endParaRPr>
          </a:p>
          <a:p>
            <a:pPr marL="0" lvl="0" indent="0" algn="l" rtl="0">
              <a:spcBef>
                <a:spcPts val="0"/>
              </a:spcBef>
              <a:spcAft>
                <a:spcPts val="0"/>
              </a:spcAft>
              <a:buNone/>
            </a:pPr>
            <a:endParaRPr lang="fr-FR" dirty="0"/>
          </a:p>
        </p:txBody>
      </p:sp>
      <p:sp>
        <p:nvSpPr>
          <p:cNvPr id="4" name="Slide Number Placeholder 3">
            <a:extLst>
              <a:ext uri="{FF2B5EF4-FFF2-40B4-BE49-F238E27FC236}">
                <a16:creationId xmlns:a16="http://schemas.microsoft.com/office/drawing/2014/main" id="{0B4C3779-5221-9025-A086-8BAA6E009D45}"/>
              </a:ext>
            </a:extLst>
          </p:cNvPr>
          <p:cNvSpPr>
            <a:spLocks noGrp="1"/>
          </p:cNvSpPr>
          <p:nvPr>
            <p:ph type="sldNum" sz="quarter" idx="5"/>
          </p:nvPr>
        </p:nvSpPr>
        <p:spPr/>
        <p:txBody>
          <a:bodyPr/>
          <a:lstStyle/>
          <a:p>
            <a:fld id="{992DBD6C-EAA0-456A-8856-333E7317999A}" type="slidenum">
              <a:rPr lang="fr-FR" smtClean="0"/>
              <a:t>16</a:t>
            </a:fld>
            <a:endParaRPr lang="fr-FR"/>
          </a:p>
        </p:txBody>
      </p:sp>
    </p:spTree>
    <p:extLst>
      <p:ext uri="{BB962C8B-B14F-4D97-AF65-F5344CB8AC3E}">
        <p14:creationId xmlns:p14="http://schemas.microsoft.com/office/powerpoint/2010/main" val="4060408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fr-FR" b="1" dirty="0"/>
              <a:t>Objectif :</a:t>
            </a:r>
            <a:r>
              <a:rPr lang="fr-FR" dirty="0"/>
              <a:t> Décrire les interactions entre les acteurs (utilisateur, administrateur) et les fonctionnalités du </a:t>
            </a:r>
            <a:r>
              <a:rPr lang="fr-FR" dirty="0" err="1"/>
              <a:t>système.</a:t>
            </a:r>
            <a:r>
              <a:rPr lang="fr-FR" b="1" dirty="0" err="1"/>
              <a:t>Exemples</a:t>
            </a:r>
            <a:r>
              <a:rPr lang="fr-FR" b="1" dirty="0"/>
              <a:t> :Utilisateur :</a:t>
            </a:r>
            <a:endParaRPr lang="fr-FR" dirty="0"/>
          </a:p>
          <a:p>
            <a:pPr marL="742950" lvl="1" indent="-285750">
              <a:buFont typeface="Arial" panose="020B0604020202020204" pitchFamily="34" charset="0"/>
              <a:buChar char="•"/>
            </a:pPr>
            <a:r>
              <a:rPr lang="fr-FR" dirty="0"/>
              <a:t>Créer une demande de domiciliation.</a:t>
            </a:r>
          </a:p>
          <a:p>
            <a:pPr marL="742950" lvl="1" indent="-285750">
              <a:buFont typeface="Arial" panose="020B0604020202020204" pitchFamily="34" charset="0"/>
              <a:buChar char="•"/>
            </a:pPr>
            <a:r>
              <a:rPr lang="fr-FR" dirty="0"/>
              <a:t>Consulter l’état des demandes existantes.</a:t>
            </a:r>
          </a:p>
          <a:p>
            <a:pPr>
              <a:buFont typeface="Arial" panose="020B0604020202020204" pitchFamily="34" charset="0"/>
              <a:buChar char="•"/>
            </a:pPr>
            <a:r>
              <a:rPr lang="fr-FR" b="1" dirty="0"/>
              <a:t>Administrateur :</a:t>
            </a:r>
            <a:endParaRPr lang="fr-FR" dirty="0"/>
          </a:p>
          <a:p>
            <a:pPr marL="742950" lvl="1" indent="-285750">
              <a:buFont typeface="Arial" panose="020B0604020202020204" pitchFamily="34" charset="0"/>
              <a:buChar char="•"/>
            </a:pPr>
            <a:r>
              <a:rPr lang="fr-FR" dirty="0"/>
              <a:t>Gérer les utilisateurs et leurs permissions.</a:t>
            </a:r>
          </a:p>
          <a:p>
            <a:pPr marL="742950" lvl="1" indent="-285750">
              <a:buFont typeface="Arial" panose="020B0604020202020204" pitchFamily="34" charset="0"/>
              <a:buChar char="•"/>
            </a:pPr>
            <a:r>
              <a:rPr lang="fr-FR" dirty="0"/>
              <a:t>Configurer les paramètres du système.</a:t>
            </a:r>
          </a:p>
          <a:p>
            <a:pPr marL="742950" lvl="1" indent="-285750">
              <a:buFont typeface="Arial" panose="020B0604020202020204" pitchFamily="34" charset="0"/>
              <a:buChar char="•"/>
            </a:pPr>
            <a:r>
              <a:rPr lang="fr-FR" dirty="0"/>
              <a:t>Consulter les journaux pour analyser les opérations.</a:t>
            </a:r>
          </a:p>
        </p:txBody>
      </p:sp>
      <p:sp>
        <p:nvSpPr>
          <p:cNvPr id="4" name="Slide Number Placeholder 3"/>
          <p:cNvSpPr>
            <a:spLocks noGrp="1"/>
          </p:cNvSpPr>
          <p:nvPr>
            <p:ph type="sldNum" sz="quarter" idx="5"/>
          </p:nvPr>
        </p:nvSpPr>
        <p:spPr/>
        <p:txBody>
          <a:bodyPr/>
          <a:lstStyle/>
          <a:p>
            <a:fld id="{992DBD6C-EAA0-456A-8856-333E7317999A}" type="slidenum">
              <a:rPr lang="fr-FR" smtClean="0"/>
              <a:t>17</a:t>
            </a:fld>
            <a:endParaRPr lang="fr-FR"/>
          </a:p>
        </p:txBody>
      </p:sp>
    </p:spTree>
    <p:extLst>
      <p:ext uri="{BB962C8B-B14F-4D97-AF65-F5344CB8AC3E}">
        <p14:creationId xmlns:p14="http://schemas.microsoft.com/office/powerpoint/2010/main" val="10054014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r>
              <a:rPr lang="fr-FR" b="1" dirty="0"/>
              <a:t>Composants principaux :Gateway API :</a:t>
            </a:r>
            <a:r>
              <a:rPr lang="fr-FR" dirty="0"/>
              <a:t> Point d'entrée unique pour toutes les requêtes utilisateur, assurant la sécurité et la redirection vers les services adéquats.</a:t>
            </a:r>
          </a:p>
          <a:p>
            <a:pPr>
              <a:buFont typeface="Arial" panose="020B0604020202020204" pitchFamily="34" charset="0"/>
              <a:buChar char="•"/>
            </a:pPr>
            <a:r>
              <a:rPr lang="fr-FR" b="1" dirty="0"/>
              <a:t>Service d'authentification :</a:t>
            </a:r>
            <a:r>
              <a:rPr lang="fr-FR" dirty="0"/>
              <a:t> Validation des utilisateurs via </a:t>
            </a:r>
            <a:r>
              <a:rPr lang="fr-FR" dirty="0" err="1"/>
              <a:t>Keycloak</a:t>
            </a:r>
            <a:r>
              <a:rPr lang="fr-FR" dirty="0"/>
              <a:t>.</a:t>
            </a:r>
          </a:p>
          <a:p>
            <a:pPr>
              <a:buFont typeface="Arial" panose="020B0604020202020204" pitchFamily="34" charset="0"/>
              <a:buChar char="•"/>
            </a:pPr>
            <a:r>
              <a:rPr lang="fr-FR" b="1" dirty="0"/>
              <a:t>Service de découverte (Eureka) :</a:t>
            </a:r>
            <a:r>
              <a:rPr lang="fr-FR" dirty="0"/>
              <a:t> Assure la localisation dynamique des services.</a:t>
            </a:r>
          </a:p>
          <a:p>
            <a:pPr>
              <a:buFont typeface="Arial" panose="020B0604020202020204" pitchFamily="34" charset="0"/>
              <a:buChar char="•"/>
            </a:pPr>
            <a:r>
              <a:rPr lang="fr-FR" b="1" dirty="0"/>
              <a:t>Services métiers :</a:t>
            </a:r>
            <a:r>
              <a:rPr lang="fr-FR" dirty="0"/>
              <a:t> (Gestion des demandes, services de référence)</a:t>
            </a:r>
          </a:p>
          <a:p>
            <a:pPr marL="0" lvl="0" indent="0" algn="l" rtl="0">
              <a:spcBef>
                <a:spcPts val="0"/>
              </a:spcBef>
              <a:spcAft>
                <a:spcPts val="0"/>
              </a:spcAft>
              <a:buNone/>
            </a:pPr>
            <a:endParaRPr lang="fr-FR" dirty="0"/>
          </a:p>
        </p:txBody>
      </p:sp>
      <p:sp>
        <p:nvSpPr>
          <p:cNvPr id="4" name="Slide Number Placeholder 3"/>
          <p:cNvSpPr>
            <a:spLocks noGrp="1"/>
          </p:cNvSpPr>
          <p:nvPr>
            <p:ph type="sldNum" sz="quarter" idx="5"/>
          </p:nvPr>
        </p:nvSpPr>
        <p:spPr/>
        <p:txBody>
          <a:bodyPr/>
          <a:lstStyle/>
          <a:p>
            <a:fld id="{992DBD6C-EAA0-456A-8856-333E7317999A}" type="slidenum">
              <a:rPr lang="fr-FR" smtClean="0"/>
              <a:t>18</a:t>
            </a:fld>
            <a:endParaRPr lang="fr-FR"/>
          </a:p>
        </p:txBody>
      </p:sp>
    </p:spTree>
    <p:extLst>
      <p:ext uri="{BB962C8B-B14F-4D97-AF65-F5344CB8AC3E}">
        <p14:creationId xmlns:p14="http://schemas.microsoft.com/office/powerpoint/2010/main" val="28505780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92DBD6C-EAA0-456A-8856-333E7317999A}" type="slidenum">
              <a:rPr lang="fr-FR" smtClean="0"/>
              <a:t>19</a:t>
            </a:fld>
            <a:endParaRPr lang="fr-FR"/>
          </a:p>
        </p:txBody>
      </p:sp>
    </p:spTree>
    <p:extLst>
      <p:ext uri="{BB962C8B-B14F-4D97-AF65-F5344CB8AC3E}">
        <p14:creationId xmlns:p14="http://schemas.microsoft.com/office/powerpoint/2010/main" val="37417732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0" i="0" u="none" strike="noStrike" kern="1200" cap="none" dirty="0">
                <a:solidFill>
                  <a:schemeClr val="tx1"/>
                </a:solidFill>
                <a:effectLst/>
                <a:latin typeface="Malgun Gothic"/>
                <a:ea typeface="Malgun Gothic"/>
                <a:cs typeface="Malgun Gothic"/>
                <a:sym typeface="Malgun Gothic"/>
              </a:rPr>
              <a:t>l'architecture MVC  l’abréviation de («modèle vue contrôleur ») qui est une architecture de développement visant à séparer le code source en modules.</a:t>
            </a:r>
            <a:endParaRPr lang="fr-FR" b="0" dirty="0">
              <a:effectLst/>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1" i="0" dirty="0">
              <a:solidFill>
                <a:srgbClr val="3F3F3F"/>
              </a:solidFill>
              <a:latin typeface="Ultra"/>
              <a:ea typeface="Ultra"/>
              <a:cs typeface="Ultra"/>
              <a:sym typeface="Ultra"/>
            </a:endParaRPr>
          </a:p>
        </p:txBody>
      </p:sp>
      <p:sp>
        <p:nvSpPr>
          <p:cNvPr id="4" name="Slide Number Placeholder 3"/>
          <p:cNvSpPr>
            <a:spLocks noGrp="1"/>
          </p:cNvSpPr>
          <p:nvPr>
            <p:ph type="sldNum" sz="quarter" idx="5"/>
          </p:nvPr>
        </p:nvSpPr>
        <p:spPr/>
        <p:txBody>
          <a:bodyPr/>
          <a:lstStyle/>
          <a:p>
            <a:fld id="{992DBD6C-EAA0-456A-8856-333E7317999A}" type="slidenum">
              <a:rPr lang="fr-FR" smtClean="0"/>
              <a:t>20</a:t>
            </a:fld>
            <a:endParaRPr lang="fr-FR"/>
          </a:p>
        </p:txBody>
      </p:sp>
    </p:spTree>
    <p:extLst>
      <p:ext uri="{BB962C8B-B14F-4D97-AF65-F5344CB8AC3E}">
        <p14:creationId xmlns:p14="http://schemas.microsoft.com/office/powerpoint/2010/main" val="35838564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E4F79-0552-3DAA-18BD-082E0F65A7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61289-5358-16B1-9BB3-BB8885F7A2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7AC145-205F-E503-8675-2F27FA47BC3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1" i="0" dirty="0">
              <a:solidFill>
                <a:srgbClr val="3F3F3F"/>
              </a:solidFill>
              <a:latin typeface="Ultra"/>
              <a:ea typeface="Ultra"/>
              <a:cs typeface="Ultra"/>
              <a:sym typeface="Ultra"/>
            </a:endParaRPr>
          </a:p>
        </p:txBody>
      </p:sp>
      <p:sp>
        <p:nvSpPr>
          <p:cNvPr id="4" name="Slide Number Placeholder 3">
            <a:extLst>
              <a:ext uri="{FF2B5EF4-FFF2-40B4-BE49-F238E27FC236}">
                <a16:creationId xmlns:a16="http://schemas.microsoft.com/office/drawing/2014/main" id="{C9BDB604-D9CB-7726-FEFB-E8FF2DDD94B9}"/>
              </a:ext>
            </a:extLst>
          </p:cNvPr>
          <p:cNvSpPr>
            <a:spLocks noGrp="1"/>
          </p:cNvSpPr>
          <p:nvPr>
            <p:ph type="sldNum" sz="quarter" idx="5"/>
          </p:nvPr>
        </p:nvSpPr>
        <p:spPr/>
        <p:txBody>
          <a:bodyPr/>
          <a:lstStyle/>
          <a:p>
            <a:fld id="{992DBD6C-EAA0-456A-8856-333E7317999A}" type="slidenum">
              <a:rPr lang="fr-FR" smtClean="0"/>
              <a:t>21</a:t>
            </a:fld>
            <a:endParaRPr lang="fr-FR"/>
          </a:p>
        </p:txBody>
      </p:sp>
    </p:spTree>
    <p:extLst>
      <p:ext uri="{BB962C8B-B14F-4D97-AF65-F5344CB8AC3E}">
        <p14:creationId xmlns:p14="http://schemas.microsoft.com/office/powerpoint/2010/main" val="41601378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A8BC8-8144-225D-3B23-1008D9D7CA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B56185-60D4-B122-4C1D-B3662039C1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09C3C5-559A-B99D-6172-A5B9B175043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1" i="0" dirty="0">
              <a:solidFill>
                <a:srgbClr val="3F3F3F"/>
              </a:solidFill>
              <a:latin typeface="Ultra"/>
              <a:ea typeface="Ultra"/>
              <a:cs typeface="Ultra"/>
              <a:sym typeface="Ultra"/>
            </a:endParaRPr>
          </a:p>
        </p:txBody>
      </p:sp>
      <p:sp>
        <p:nvSpPr>
          <p:cNvPr id="4" name="Slide Number Placeholder 3">
            <a:extLst>
              <a:ext uri="{FF2B5EF4-FFF2-40B4-BE49-F238E27FC236}">
                <a16:creationId xmlns:a16="http://schemas.microsoft.com/office/drawing/2014/main" id="{B9144348-BFED-C47C-5512-9309D7CE4091}"/>
              </a:ext>
            </a:extLst>
          </p:cNvPr>
          <p:cNvSpPr>
            <a:spLocks noGrp="1"/>
          </p:cNvSpPr>
          <p:nvPr>
            <p:ph type="sldNum" sz="quarter" idx="5"/>
          </p:nvPr>
        </p:nvSpPr>
        <p:spPr/>
        <p:txBody>
          <a:bodyPr/>
          <a:lstStyle/>
          <a:p>
            <a:fld id="{992DBD6C-EAA0-456A-8856-333E7317999A}" type="slidenum">
              <a:rPr lang="fr-FR" smtClean="0"/>
              <a:t>22</a:t>
            </a:fld>
            <a:endParaRPr lang="fr-FR"/>
          </a:p>
        </p:txBody>
      </p:sp>
    </p:spTree>
    <p:extLst>
      <p:ext uri="{BB962C8B-B14F-4D97-AF65-F5344CB8AC3E}">
        <p14:creationId xmlns:p14="http://schemas.microsoft.com/office/powerpoint/2010/main" val="30848114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F5EF4-9F4B-27FF-B962-92877EAD21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110BAD-EA6A-1677-EA14-075AE24012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6F4CE4-5D51-D01F-3596-F6492E65720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1" i="0" dirty="0">
              <a:solidFill>
                <a:srgbClr val="3F3F3F"/>
              </a:solidFill>
              <a:latin typeface="Ultra"/>
              <a:ea typeface="Ultra"/>
              <a:cs typeface="Ultra"/>
              <a:sym typeface="Ultra"/>
            </a:endParaRPr>
          </a:p>
        </p:txBody>
      </p:sp>
      <p:sp>
        <p:nvSpPr>
          <p:cNvPr id="4" name="Slide Number Placeholder 3">
            <a:extLst>
              <a:ext uri="{FF2B5EF4-FFF2-40B4-BE49-F238E27FC236}">
                <a16:creationId xmlns:a16="http://schemas.microsoft.com/office/drawing/2014/main" id="{81A407DC-CA24-CD7C-FA22-AFBE06CD7052}"/>
              </a:ext>
            </a:extLst>
          </p:cNvPr>
          <p:cNvSpPr>
            <a:spLocks noGrp="1"/>
          </p:cNvSpPr>
          <p:nvPr>
            <p:ph type="sldNum" sz="quarter" idx="5"/>
          </p:nvPr>
        </p:nvSpPr>
        <p:spPr/>
        <p:txBody>
          <a:bodyPr/>
          <a:lstStyle/>
          <a:p>
            <a:fld id="{992DBD6C-EAA0-456A-8856-333E7317999A}" type="slidenum">
              <a:rPr lang="fr-FR" smtClean="0"/>
              <a:t>23</a:t>
            </a:fld>
            <a:endParaRPr lang="fr-FR" dirty="0"/>
          </a:p>
        </p:txBody>
      </p:sp>
    </p:spTree>
    <p:extLst>
      <p:ext uri="{BB962C8B-B14F-4D97-AF65-F5344CB8AC3E}">
        <p14:creationId xmlns:p14="http://schemas.microsoft.com/office/powerpoint/2010/main" val="6337653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E5472-5BEF-5F2A-AFD9-4E9E4806B9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4DECE4-8F20-6E6E-56A6-F501B8427B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ECFC7E-EB9D-7348-F004-2FA9B2F9927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1" i="0" dirty="0">
              <a:solidFill>
                <a:srgbClr val="3F3F3F"/>
              </a:solidFill>
              <a:latin typeface="Ultra"/>
              <a:ea typeface="Ultra"/>
              <a:cs typeface="Ultra"/>
              <a:sym typeface="Ultra"/>
            </a:endParaRPr>
          </a:p>
        </p:txBody>
      </p:sp>
      <p:sp>
        <p:nvSpPr>
          <p:cNvPr id="4" name="Slide Number Placeholder 3">
            <a:extLst>
              <a:ext uri="{FF2B5EF4-FFF2-40B4-BE49-F238E27FC236}">
                <a16:creationId xmlns:a16="http://schemas.microsoft.com/office/drawing/2014/main" id="{3556266C-6D8B-3A25-8A9C-556DF3A86994}"/>
              </a:ext>
            </a:extLst>
          </p:cNvPr>
          <p:cNvSpPr>
            <a:spLocks noGrp="1"/>
          </p:cNvSpPr>
          <p:nvPr>
            <p:ph type="sldNum" sz="quarter" idx="5"/>
          </p:nvPr>
        </p:nvSpPr>
        <p:spPr/>
        <p:txBody>
          <a:bodyPr/>
          <a:lstStyle/>
          <a:p>
            <a:fld id="{992DBD6C-EAA0-456A-8856-333E7317999A}" type="slidenum">
              <a:rPr lang="fr-FR" smtClean="0"/>
              <a:t>24</a:t>
            </a:fld>
            <a:endParaRPr lang="fr-FR" dirty="0"/>
          </a:p>
        </p:txBody>
      </p:sp>
    </p:spTree>
    <p:extLst>
      <p:ext uri="{BB962C8B-B14F-4D97-AF65-F5344CB8AC3E}">
        <p14:creationId xmlns:p14="http://schemas.microsoft.com/office/powerpoint/2010/main" val="32948212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fr-FR" b="0" i="0" dirty="0">
                <a:solidFill>
                  <a:srgbClr val="D1D5DB"/>
                </a:solidFill>
                <a:effectLst/>
                <a:latin typeface="Söhne"/>
              </a:rPr>
            </a:br>
            <a:r>
              <a:rPr lang="fr-FR" b="0" i="0" dirty="0">
                <a:solidFill>
                  <a:srgbClr val="D1D5DB"/>
                </a:solidFill>
                <a:effectLst/>
                <a:latin typeface="Codec Pro" panose="020B0604020202020204" charset="0"/>
              </a:rPr>
              <a:t>Dans</a:t>
            </a:r>
            <a:r>
              <a:rPr lang="fr-FR" b="0" i="0" baseline="0" dirty="0">
                <a:solidFill>
                  <a:srgbClr val="D1D5DB"/>
                </a:solidFill>
                <a:effectLst/>
                <a:latin typeface="Codec Pro" panose="020B0604020202020204" charset="0"/>
              </a:rPr>
              <a:t> le réalisation de </a:t>
            </a:r>
            <a:r>
              <a:rPr lang="fr-FR" b="0" i="0" dirty="0">
                <a:solidFill>
                  <a:srgbClr val="D1D5DB"/>
                </a:solidFill>
                <a:effectLst/>
                <a:latin typeface="Codec Pro" panose="020B0604020202020204" charset="0"/>
              </a:rPr>
              <a:t>notre projet, nous avons utilisé les langages</a:t>
            </a:r>
            <a:r>
              <a:rPr lang="fr-FR" b="0" i="0" baseline="0" dirty="0">
                <a:solidFill>
                  <a:srgbClr val="D1D5DB"/>
                </a:solidFill>
                <a:effectLst/>
                <a:latin typeface="Codec Pro" panose="020B0604020202020204" charset="0"/>
              </a:rPr>
              <a:t> suivants</a:t>
            </a:r>
            <a:r>
              <a:rPr lang="fr-FR" b="0" i="0" dirty="0">
                <a:solidFill>
                  <a:srgbClr val="D1D5DB"/>
                </a:solidFill>
                <a:effectLst/>
                <a:latin typeface="Codec Pro" panose="020B0604020202020204" charset="0"/>
              </a:rPr>
              <a:t>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dirty="0"/>
          </a:p>
        </p:txBody>
      </p:sp>
      <p:sp>
        <p:nvSpPr>
          <p:cNvPr id="4" name="Slide Number Placeholder 3"/>
          <p:cNvSpPr>
            <a:spLocks noGrp="1"/>
          </p:cNvSpPr>
          <p:nvPr>
            <p:ph type="sldNum" sz="quarter" idx="5"/>
          </p:nvPr>
        </p:nvSpPr>
        <p:spPr/>
        <p:txBody>
          <a:bodyPr/>
          <a:lstStyle/>
          <a:p>
            <a:fld id="{992DBD6C-EAA0-456A-8856-333E7317999A}" type="slidenum">
              <a:rPr lang="fr-FR" smtClean="0"/>
              <a:t>25</a:t>
            </a:fld>
            <a:endParaRPr lang="fr-FR" dirty="0"/>
          </a:p>
        </p:txBody>
      </p:sp>
    </p:spTree>
    <p:extLst>
      <p:ext uri="{BB962C8B-B14F-4D97-AF65-F5344CB8AC3E}">
        <p14:creationId xmlns:p14="http://schemas.microsoft.com/office/powerpoint/2010/main" val="24818394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fr-FR" b="0" i="0" dirty="0">
                <a:solidFill>
                  <a:srgbClr val="D1D5DB"/>
                </a:solidFill>
                <a:effectLst/>
                <a:latin typeface="Söhne"/>
              </a:rPr>
            </a:br>
            <a:r>
              <a:rPr lang="fr-FR" b="0" i="0" dirty="0">
                <a:solidFill>
                  <a:srgbClr val="D1D5DB"/>
                </a:solidFill>
                <a:effectLst/>
                <a:latin typeface="Codec Pro" panose="020B0604020202020204" charset="0"/>
              </a:rPr>
              <a:t>Dans notre projet, nous avons utilisé les outils suivants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dirty="0"/>
          </a:p>
        </p:txBody>
      </p:sp>
      <p:sp>
        <p:nvSpPr>
          <p:cNvPr id="4" name="Slide Number Placeholder 3"/>
          <p:cNvSpPr>
            <a:spLocks noGrp="1"/>
          </p:cNvSpPr>
          <p:nvPr>
            <p:ph type="sldNum" sz="quarter" idx="5"/>
          </p:nvPr>
        </p:nvSpPr>
        <p:spPr/>
        <p:txBody>
          <a:bodyPr/>
          <a:lstStyle/>
          <a:p>
            <a:fld id="{992DBD6C-EAA0-456A-8856-333E7317999A}" type="slidenum">
              <a:rPr lang="fr-FR" smtClean="0"/>
              <a:t>26</a:t>
            </a:fld>
            <a:endParaRPr lang="fr-FR" dirty="0"/>
          </a:p>
        </p:txBody>
      </p:sp>
    </p:spTree>
    <p:extLst>
      <p:ext uri="{BB962C8B-B14F-4D97-AF65-F5344CB8AC3E}">
        <p14:creationId xmlns:p14="http://schemas.microsoft.com/office/powerpoint/2010/main" val="13358438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0" i="0" u="none" strike="noStrike" cap="none" dirty="0">
                <a:solidFill>
                  <a:schemeClr val="dk1"/>
                </a:solidFill>
                <a:effectLst/>
                <a:latin typeface="Malgun Gothic"/>
                <a:ea typeface="Malgun Gothic"/>
                <a:cs typeface="Malgun Gothic"/>
                <a:sym typeface="Malgun Gothic"/>
              </a:rPr>
              <a:t>Ensuite ,En guise de perspectives, ce travail est prêt pour des améliorations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0" i="0" u="none" strike="noStrike" cap="none" dirty="0">
                <a:solidFill>
                  <a:schemeClr val="dk1"/>
                </a:solidFill>
                <a:effectLst/>
                <a:latin typeface="Malgun Gothic"/>
                <a:ea typeface="Malgun Gothic"/>
                <a:cs typeface="Malgun Gothic"/>
                <a:sym typeface="Malgun Gothic"/>
              </a:rPr>
              <a:t>des fonctionnalités seront ajoutées. Par exemple, nous peuvent</a:t>
            </a:r>
            <a:endParaRPr lang="fr-FR" sz="1200" b="0" i="0" u="none" strike="noStrike" cap="none" baseline="0" dirty="0">
              <a:solidFill>
                <a:schemeClr val="dk1"/>
              </a:solidFill>
              <a:effectLst/>
              <a:latin typeface="Malgun Gothic"/>
              <a:ea typeface="Malgun Gothic"/>
              <a:cs typeface="Malgun Gothic"/>
              <a:sym typeface="Malgun Gothic"/>
            </a:endParaRPr>
          </a:p>
        </p:txBody>
      </p:sp>
      <p:sp>
        <p:nvSpPr>
          <p:cNvPr id="4" name="Slide Number Placeholder 3"/>
          <p:cNvSpPr>
            <a:spLocks noGrp="1"/>
          </p:cNvSpPr>
          <p:nvPr>
            <p:ph type="sldNum" sz="quarter" idx="5"/>
          </p:nvPr>
        </p:nvSpPr>
        <p:spPr/>
        <p:txBody>
          <a:bodyPr/>
          <a:lstStyle/>
          <a:p>
            <a:fld id="{992DBD6C-EAA0-456A-8856-333E7317999A}" type="slidenum">
              <a:rPr lang="fr-FR" smtClean="0"/>
              <a:t>28</a:t>
            </a:fld>
            <a:endParaRPr lang="fr-FR" dirty="0"/>
          </a:p>
        </p:txBody>
      </p:sp>
    </p:spTree>
    <p:extLst>
      <p:ext uri="{BB962C8B-B14F-4D97-AF65-F5344CB8AC3E}">
        <p14:creationId xmlns:p14="http://schemas.microsoft.com/office/powerpoint/2010/main" val="1536670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92DBD6C-EAA0-456A-8856-333E7317999A}" type="slidenum">
              <a:rPr lang="fr-FR" smtClean="0"/>
              <a:t>29</a:t>
            </a:fld>
            <a:endParaRPr lang="fr-FR" dirty="0"/>
          </a:p>
        </p:txBody>
      </p:sp>
    </p:spTree>
    <p:extLst>
      <p:ext uri="{BB962C8B-B14F-4D97-AF65-F5344CB8AC3E}">
        <p14:creationId xmlns:p14="http://schemas.microsoft.com/office/powerpoint/2010/main" val="5528613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92DBD6C-EAA0-456A-8856-333E7317999A}" type="slidenum">
              <a:rPr lang="fr-FR" smtClean="0"/>
              <a:t>30</a:t>
            </a:fld>
            <a:endParaRPr lang="fr-FR" dirty="0"/>
          </a:p>
        </p:txBody>
      </p:sp>
    </p:spTree>
    <p:extLst>
      <p:ext uri="{BB962C8B-B14F-4D97-AF65-F5344CB8AC3E}">
        <p14:creationId xmlns:p14="http://schemas.microsoft.com/office/powerpoint/2010/main" val="3713627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CF8C6-D872-4D87-B486-44CFE62FD8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3C356DF-FF2B-41C1-85C2-141274A71B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D92042-3969-4434-B312-DA621D773754}"/>
              </a:ext>
            </a:extLst>
          </p:cNvPr>
          <p:cNvSpPr>
            <a:spLocks noGrp="1"/>
          </p:cNvSpPr>
          <p:nvPr>
            <p:ph type="dt" sz="half" idx="10"/>
          </p:nvPr>
        </p:nvSpPr>
        <p:spPr/>
        <p:txBody>
          <a:bodyPr/>
          <a:lstStyle/>
          <a:p>
            <a:fld id="{1A74A7BD-50A9-48D3-996E-8F44509F6A7A}" type="datetimeFigureOut">
              <a:rPr lang="en-US" smtClean="0"/>
              <a:t>1/14/2025</a:t>
            </a:fld>
            <a:endParaRPr lang="en-US" dirty="0"/>
          </a:p>
        </p:txBody>
      </p:sp>
      <p:sp>
        <p:nvSpPr>
          <p:cNvPr id="5" name="Footer Placeholder 4">
            <a:extLst>
              <a:ext uri="{FF2B5EF4-FFF2-40B4-BE49-F238E27FC236}">
                <a16:creationId xmlns:a16="http://schemas.microsoft.com/office/drawing/2014/main" id="{C07F5988-5294-4D0E-962D-C1B076EF7F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D7700A8-9C1D-412D-AE96-45EE5C21C07A}"/>
              </a:ext>
            </a:extLst>
          </p:cNvPr>
          <p:cNvSpPr>
            <a:spLocks noGrp="1"/>
          </p:cNvSpPr>
          <p:nvPr>
            <p:ph type="sldNum" sz="quarter" idx="12"/>
          </p:nvPr>
        </p:nvSpPr>
        <p:spPr/>
        <p:txBody>
          <a:bodyPr/>
          <a:lstStyle/>
          <a:p>
            <a:fld id="{74B9D5F9-D808-4747-8D95-9716DA424280}" type="slidenum">
              <a:rPr lang="en-US" smtClean="0"/>
              <a:t>‹N°›</a:t>
            </a:fld>
            <a:endParaRPr lang="en-US" dirty="0"/>
          </a:p>
        </p:txBody>
      </p:sp>
    </p:spTree>
    <p:extLst>
      <p:ext uri="{BB962C8B-B14F-4D97-AF65-F5344CB8AC3E}">
        <p14:creationId xmlns:p14="http://schemas.microsoft.com/office/powerpoint/2010/main" val="150480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64FFE-F450-4CB7-A025-DA80EC72D4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7B1B67-200A-4602-A625-E275824DE8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3C145D-C44D-4D33-9ADB-40D2ABA12D81}"/>
              </a:ext>
            </a:extLst>
          </p:cNvPr>
          <p:cNvSpPr>
            <a:spLocks noGrp="1"/>
          </p:cNvSpPr>
          <p:nvPr>
            <p:ph type="dt" sz="half" idx="10"/>
          </p:nvPr>
        </p:nvSpPr>
        <p:spPr/>
        <p:txBody>
          <a:bodyPr/>
          <a:lstStyle/>
          <a:p>
            <a:fld id="{1A74A7BD-50A9-48D3-996E-8F44509F6A7A}" type="datetimeFigureOut">
              <a:rPr lang="en-US" smtClean="0"/>
              <a:t>1/14/2025</a:t>
            </a:fld>
            <a:endParaRPr lang="en-US" dirty="0"/>
          </a:p>
        </p:txBody>
      </p:sp>
      <p:sp>
        <p:nvSpPr>
          <p:cNvPr id="5" name="Footer Placeholder 4">
            <a:extLst>
              <a:ext uri="{FF2B5EF4-FFF2-40B4-BE49-F238E27FC236}">
                <a16:creationId xmlns:a16="http://schemas.microsoft.com/office/drawing/2014/main" id="{D50CECFB-B271-43AE-809B-58BE7F6760D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2046C71-906E-4D9D-81C3-BD83E9E61FE9}"/>
              </a:ext>
            </a:extLst>
          </p:cNvPr>
          <p:cNvSpPr>
            <a:spLocks noGrp="1"/>
          </p:cNvSpPr>
          <p:nvPr>
            <p:ph type="sldNum" sz="quarter" idx="12"/>
          </p:nvPr>
        </p:nvSpPr>
        <p:spPr/>
        <p:txBody>
          <a:bodyPr/>
          <a:lstStyle/>
          <a:p>
            <a:fld id="{74B9D5F9-D808-4747-8D95-9716DA424280}" type="slidenum">
              <a:rPr lang="en-US" smtClean="0"/>
              <a:t>‹N°›</a:t>
            </a:fld>
            <a:endParaRPr lang="en-US" dirty="0"/>
          </a:p>
        </p:txBody>
      </p:sp>
    </p:spTree>
    <p:extLst>
      <p:ext uri="{BB962C8B-B14F-4D97-AF65-F5344CB8AC3E}">
        <p14:creationId xmlns:p14="http://schemas.microsoft.com/office/powerpoint/2010/main" val="3371715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2FD55-29C5-4144-8486-ECD132D7C9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5660426-20B1-4714-B7F1-7F072CAA9E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1D811D-FCD2-4419-99A3-1CB4740231EA}"/>
              </a:ext>
            </a:extLst>
          </p:cNvPr>
          <p:cNvSpPr>
            <a:spLocks noGrp="1"/>
          </p:cNvSpPr>
          <p:nvPr>
            <p:ph type="dt" sz="half" idx="10"/>
          </p:nvPr>
        </p:nvSpPr>
        <p:spPr/>
        <p:txBody>
          <a:bodyPr/>
          <a:lstStyle/>
          <a:p>
            <a:fld id="{1A74A7BD-50A9-48D3-996E-8F44509F6A7A}" type="datetimeFigureOut">
              <a:rPr lang="en-US" smtClean="0"/>
              <a:t>1/14/2025</a:t>
            </a:fld>
            <a:endParaRPr lang="en-US" dirty="0"/>
          </a:p>
        </p:txBody>
      </p:sp>
      <p:sp>
        <p:nvSpPr>
          <p:cNvPr id="5" name="Footer Placeholder 4">
            <a:extLst>
              <a:ext uri="{FF2B5EF4-FFF2-40B4-BE49-F238E27FC236}">
                <a16:creationId xmlns:a16="http://schemas.microsoft.com/office/drawing/2014/main" id="{D6674FAB-4468-47D5-950A-EE42122C198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12335E4-9EF6-4BE4-AEF1-FC612EB45B96}"/>
              </a:ext>
            </a:extLst>
          </p:cNvPr>
          <p:cNvSpPr>
            <a:spLocks noGrp="1"/>
          </p:cNvSpPr>
          <p:nvPr>
            <p:ph type="sldNum" sz="quarter" idx="12"/>
          </p:nvPr>
        </p:nvSpPr>
        <p:spPr/>
        <p:txBody>
          <a:bodyPr/>
          <a:lstStyle/>
          <a:p>
            <a:fld id="{74B9D5F9-D808-4747-8D95-9716DA424280}" type="slidenum">
              <a:rPr lang="en-US" smtClean="0"/>
              <a:t>‹N°›</a:t>
            </a:fld>
            <a:endParaRPr lang="en-US" dirty="0"/>
          </a:p>
        </p:txBody>
      </p:sp>
    </p:spTree>
    <p:extLst>
      <p:ext uri="{BB962C8B-B14F-4D97-AF65-F5344CB8AC3E}">
        <p14:creationId xmlns:p14="http://schemas.microsoft.com/office/powerpoint/2010/main" val="1366020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DFCF0-750B-44D0-8314-182005E581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A3C3BF-CD17-4E1B-810B-989C9428F5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DAEA7C-1CBD-46CE-86E7-542823A020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4C4433-DB21-4088-A59B-95A9D0B45A49}"/>
              </a:ext>
            </a:extLst>
          </p:cNvPr>
          <p:cNvSpPr>
            <a:spLocks noGrp="1"/>
          </p:cNvSpPr>
          <p:nvPr>
            <p:ph type="dt" sz="half" idx="10"/>
          </p:nvPr>
        </p:nvSpPr>
        <p:spPr/>
        <p:txBody>
          <a:bodyPr/>
          <a:lstStyle/>
          <a:p>
            <a:fld id="{1A74A7BD-50A9-48D3-996E-8F44509F6A7A}" type="datetimeFigureOut">
              <a:rPr lang="en-US" smtClean="0"/>
              <a:t>1/14/2025</a:t>
            </a:fld>
            <a:endParaRPr lang="en-US" dirty="0"/>
          </a:p>
        </p:txBody>
      </p:sp>
      <p:sp>
        <p:nvSpPr>
          <p:cNvPr id="6" name="Footer Placeholder 5">
            <a:extLst>
              <a:ext uri="{FF2B5EF4-FFF2-40B4-BE49-F238E27FC236}">
                <a16:creationId xmlns:a16="http://schemas.microsoft.com/office/drawing/2014/main" id="{8F4C49E1-CCD2-4851-8268-564062ECE18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EB45ADF-FDC9-4C29-B587-E374A6A08A43}"/>
              </a:ext>
            </a:extLst>
          </p:cNvPr>
          <p:cNvSpPr>
            <a:spLocks noGrp="1"/>
          </p:cNvSpPr>
          <p:nvPr>
            <p:ph type="sldNum" sz="quarter" idx="12"/>
          </p:nvPr>
        </p:nvSpPr>
        <p:spPr/>
        <p:txBody>
          <a:bodyPr/>
          <a:lstStyle/>
          <a:p>
            <a:fld id="{74B9D5F9-D808-4747-8D95-9716DA424280}" type="slidenum">
              <a:rPr lang="en-US" smtClean="0"/>
              <a:t>‹N°›</a:t>
            </a:fld>
            <a:endParaRPr lang="en-US" dirty="0"/>
          </a:p>
        </p:txBody>
      </p:sp>
    </p:spTree>
    <p:extLst>
      <p:ext uri="{BB962C8B-B14F-4D97-AF65-F5344CB8AC3E}">
        <p14:creationId xmlns:p14="http://schemas.microsoft.com/office/powerpoint/2010/main" val="3472515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350A1-D715-407F-88F0-40C120641F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E6C8FA8-6CE5-4BA8-93FA-729734C8E2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28B220-DDEB-4120-95EC-3267DDDFE9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3B8BA28-4AB2-4BF5-85E3-7CD53BE904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8EC3CA-7221-4F1C-BD62-9412763818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444212-02FF-44A6-A3DA-B933EB455C07}"/>
              </a:ext>
            </a:extLst>
          </p:cNvPr>
          <p:cNvSpPr>
            <a:spLocks noGrp="1"/>
          </p:cNvSpPr>
          <p:nvPr>
            <p:ph type="dt" sz="half" idx="10"/>
          </p:nvPr>
        </p:nvSpPr>
        <p:spPr/>
        <p:txBody>
          <a:bodyPr/>
          <a:lstStyle/>
          <a:p>
            <a:fld id="{1A74A7BD-50A9-48D3-996E-8F44509F6A7A}" type="datetimeFigureOut">
              <a:rPr lang="en-US" smtClean="0"/>
              <a:t>1/14/2025</a:t>
            </a:fld>
            <a:endParaRPr lang="en-US" dirty="0"/>
          </a:p>
        </p:txBody>
      </p:sp>
      <p:sp>
        <p:nvSpPr>
          <p:cNvPr id="8" name="Footer Placeholder 7">
            <a:extLst>
              <a:ext uri="{FF2B5EF4-FFF2-40B4-BE49-F238E27FC236}">
                <a16:creationId xmlns:a16="http://schemas.microsoft.com/office/drawing/2014/main" id="{E63A8CED-E6E4-4B7A-9E57-B85EC4025F5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41FAC74-B617-44D5-9FF3-78A481CAE936}"/>
              </a:ext>
            </a:extLst>
          </p:cNvPr>
          <p:cNvSpPr>
            <a:spLocks noGrp="1"/>
          </p:cNvSpPr>
          <p:nvPr>
            <p:ph type="sldNum" sz="quarter" idx="12"/>
          </p:nvPr>
        </p:nvSpPr>
        <p:spPr/>
        <p:txBody>
          <a:bodyPr/>
          <a:lstStyle/>
          <a:p>
            <a:fld id="{74B9D5F9-D808-4747-8D95-9716DA424280}" type="slidenum">
              <a:rPr lang="en-US" smtClean="0"/>
              <a:t>‹N°›</a:t>
            </a:fld>
            <a:endParaRPr lang="en-US" dirty="0"/>
          </a:p>
        </p:txBody>
      </p:sp>
    </p:spTree>
    <p:extLst>
      <p:ext uri="{BB962C8B-B14F-4D97-AF65-F5344CB8AC3E}">
        <p14:creationId xmlns:p14="http://schemas.microsoft.com/office/powerpoint/2010/main" val="2028605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EDF9C-1097-450C-9570-4FC48E6E11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9107E8A-BE9A-4D46-B5FA-56B1737B193E}"/>
              </a:ext>
            </a:extLst>
          </p:cNvPr>
          <p:cNvSpPr>
            <a:spLocks noGrp="1"/>
          </p:cNvSpPr>
          <p:nvPr>
            <p:ph type="dt" sz="half" idx="10"/>
          </p:nvPr>
        </p:nvSpPr>
        <p:spPr/>
        <p:txBody>
          <a:bodyPr/>
          <a:lstStyle/>
          <a:p>
            <a:fld id="{1A74A7BD-50A9-48D3-996E-8F44509F6A7A}" type="datetimeFigureOut">
              <a:rPr lang="en-US" smtClean="0"/>
              <a:t>1/14/2025</a:t>
            </a:fld>
            <a:endParaRPr lang="en-US" dirty="0"/>
          </a:p>
        </p:txBody>
      </p:sp>
      <p:sp>
        <p:nvSpPr>
          <p:cNvPr id="4" name="Footer Placeholder 3">
            <a:extLst>
              <a:ext uri="{FF2B5EF4-FFF2-40B4-BE49-F238E27FC236}">
                <a16:creationId xmlns:a16="http://schemas.microsoft.com/office/drawing/2014/main" id="{5A58685E-F6BB-4C85-8FD2-1B4BEEE2420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8FA5B59-4B82-4A79-AEA8-32E75DB4F378}"/>
              </a:ext>
            </a:extLst>
          </p:cNvPr>
          <p:cNvSpPr>
            <a:spLocks noGrp="1"/>
          </p:cNvSpPr>
          <p:nvPr>
            <p:ph type="sldNum" sz="quarter" idx="12"/>
          </p:nvPr>
        </p:nvSpPr>
        <p:spPr/>
        <p:txBody>
          <a:bodyPr/>
          <a:lstStyle/>
          <a:p>
            <a:fld id="{74B9D5F9-D808-4747-8D95-9716DA424280}" type="slidenum">
              <a:rPr lang="en-US" smtClean="0"/>
              <a:t>‹N°›</a:t>
            </a:fld>
            <a:endParaRPr lang="en-US" dirty="0"/>
          </a:p>
        </p:txBody>
      </p:sp>
    </p:spTree>
    <p:extLst>
      <p:ext uri="{BB962C8B-B14F-4D97-AF65-F5344CB8AC3E}">
        <p14:creationId xmlns:p14="http://schemas.microsoft.com/office/powerpoint/2010/main" val="308436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C40BD3-1008-420B-B67A-CCDBB633DFF3}"/>
              </a:ext>
            </a:extLst>
          </p:cNvPr>
          <p:cNvSpPr>
            <a:spLocks noGrp="1"/>
          </p:cNvSpPr>
          <p:nvPr>
            <p:ph type="dt" sz="half" idx="10"/>
          </p:nvPr>
        </p:nvSpPr>
        <p:spPr/>
        <p:txBody>
          <a:bodyPr/>
          <a:lstStyle/>
          <a:p>
            <a:fld id="{1A74A7BD-50A9-48D3-996E-8F44509F6A7A}" type="datetimeFigureOut">
              <a:rPr lang="en-US" smtClean="0"/>
              <a:t>1/14/2025</a:t>
            </a:fld>
            <a:endParaRPr lang="en-US" dirty="0"/>
          </a:p>
        </p:txBody>
      </p:sp>
      <p:sp>
        <p:nvSpPr>
          <p:cNvPr id="3" name="Footer Placeholder 2">
            <a:extLst>
              <a:ext uri="{FF2B5EF4-FFF2-40B4-BE49-F238E27FC236}">
                <a16:creationId xmlns:a16="http://schemas.microsoft.com/office/drawing/2014/main" id="{BA025DD6-21FC-4662-AA0A-45533DCB336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D01D7AD-DDD9-443A-9BCC-14956F614A73}"/>
              </a:ext>
            </a:extLst>
          </p:cNvPr>
          <p:cNvSpPr>
            <a:spLocks noGrp="1"/>
          </p:cNvSpPr>
          <p:nvPr>
            <p:ph type="sldNum" sz="quarter" idx="12"/>
          </p:nvPr>
        </p:nvSpPr>
        <p:spPr/>
        <p:txBody>
          <a:bodyPr/>
          <a:lstStyle/>
          <a:p>
            <a:fld id="{74B9D5F9-D808-4747-8D95-9716DA424280}" type="slidenum">
              <a:rPr lang="en-US" smtClean="0"/>
              <a:t>‹N°›</a:t>
            </a:fld>
            <a:endParaRPr lang="en-US" dirty="0"/>
          </a:p>
        </p:txBody>
      </p:sp>
    </p:spTree>
    <p:extLst>
      <p:ext uri="{BB962C8B-B14F-4D97-AF65-F5344CB8AC3E}">
        <p14:creationId xmlns:p14="http://schemas.microsoft.com/office/powerpoint/2010/main" val="1245745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0126B-996A-41CE-9E04-8EB56074FD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DB24EC8-3103-449C-8E71-C0D17B1557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4C782BC-CA73-46BB-B96C-4E6CC6D7BC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E80B28-8D26-4D9B-8A55-6D3475A347DF}"/>
              </a:ext>
            </a:extLst>
          </p:cNvPr>
          <p:cNvSpPr>
            <a:spLocks noGrp="1"/>
          </p:cNvSpPr>
          <p:nvPr>
            <p:ph type="dt" sz="half" idx="10"/>
          </p:nvPr>
        </p:nvSpPr>
        <p:spPr/>
        <p:txBody>
          <a:bodyPr/>
          <a:lstStyle/>
          <a:p>
            <a:fld id="{1A74A7BD-50A9-48D3-996E-8F44509F6A7A}" type="datetimeFigureOut">
              <a:rPr lang="en-US" smtClean="0"/>
              <a:t>1/14/2025</a:t>
            </a:fld>
            <a:endParaRPr lang="en-US" dirty="0"/>
          </a:p>
        </p:txBody>
      </p:sp>
      <p:sp>
        <p:nvSpPr>
          <p:cNvPr id="6" name="Footer Placeholder 5">
            <a:extLst>
              <a:ext uri="{FF2B5EF4-FFF2-40B4-BE49-F238E27FC236}">
                <a16:creationId xmlns:a16="http://schemas.microsoft.com/office/drawing/2014/main" id="{B012E58A-E65D-4766-8C2A-018D800BE4B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0B4B4C0-4606-4986-A7CF-ED3E2D47D821}"/>
              </a:ext>
            </a:extLst>
          </p:cNvPr>
          <p:cNvSpPr>
            <a:spLocks noGrp="1"/>
          </p:cNvSpPr>
          <p:nvPr>
            <p:ph type="sldNum" sz="quarter" idx="12"/>
          </p:nvPr>
        </p:nvSpPr>
        <p:spPr/>
        <p:txBody>
          <a:bodyPr/>
          <a:lstStyle/>
          <a:p>
            <a:fld id="{74B9D5F9-D808-4747-8D95-9716DA424280}" type="slidenum">
              <a:rPr lang="en-US" smtClean="0"/>
              <a:t>‹N°›</a:t>
            </a:fld>
            <a:endParaRPr lang="en-US" dirty="0"/>
          </a:p>
        </p:txBody>
      </p:sp>
    </p:spTree>
    <p:extLst>
      <p:ext uri="{BB962C8B-B14F-4D97-AF65-F5344CB8AC3E}">
        <p14:creationId xmlns:p14="http://schemas.microsoft.com/office/powerpoint/2010/main" val="2467310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C92D3-BA25-46B6-8BD3-3DC1EE7402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B010DDC-BF4D-4A91-8F5A-B059B91D66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AB649C5-CDC3-4E11-992D-F564920D95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A02C24-5CB9-48AE-AFF5-8533C9085191}"/>
              </a:ext>
            </a:extLst>
          </p:cNvPr>
          <p:cNvSpPr>
            <a:spLocks noGrp="1"/>
          </p:cNvSpPr>
          <p:nvPr>
            <p:ph type="dt" sz="half" idx="10"/>
          </p:nvPr>
        </p:nvSpPr>
        <p:spPr/>
        <p:txBody>
          <a:bodyPr/>
          <a:lstStyle/>
          <a:p>
            <a:fld id="{1A74A7BD-50A9-48D3-996E-8F44509F6A7A}" type="datetimeFigureOut">
              <a:rPr lang="en-US" smtClean="0"/>
              <a:t>1/14/2025</a:t>
            </a:fld>
            <a:endParaRPr lang="en-US" dirty="0"/>
          </a:p>
        </p:txBody>
      </p:sp>
      <p:sp>
        <p:nvSpPr>
          <p:cNvPr id="6" name="Footer Placeholder 5">
            <a:extLst>
              <a:ext uri="{FF2B5EF4-FFF2-40B4-BE49-F238E27FC236}">
                <a16:creationId xmlns:a16="http://schemas.microsoft.com/office/drawing/2014/main" id="{B223929F-3DFD-479D-8A19-E3BE239BBF7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D7E6421-FED2-4CAD-9A0F-81C64ABB213E}"/>
              </a:ext>
            </a:extLst>
          </p:cNvPr>
          <p:cNvSpPr>
            <a:spLocks noGrp="1"/>
          </p:cNvSpPr>
          <p:nvPr>
            <p:ph type="sldNum" sz="quarter" idx="12"/>
          </p:nvPr>
        </p:nvSpPr>
        <p:spPr/>
        <p:txBody>
          <a:bodyPr/>
          <a:lstStyle/>
          <a:p>
            <a:fld id="{74B9D5F9-D808-4747-8D95-9716DA424280}" type="slidenum">
              <a:rPr lang="en-US" smtClean="0"/>
              <a:t>‹N°›</a:t>
            </a:fld>
            <a:endParaRPr lang="en-US" dirty="0"/>
          </a:p>
        </p:txBody>
      </p:sp>
    </p:spTree>
    <p:extLst>
      <p:ext uri="{BB962C8B-B14F-4D97-AF65-F5344CB8AC3E}">
        <p14:creationId xmlns:p14="http://schemas.microsoft.com/office/powerpoint/2010/main" val="2777154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8942D-EF8C-4F1A-968F-A62A88A5746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ACA21E-2596-432E-9168-443EAE7D7C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4DE441-6D73-4B1E-BACA-8A6773DAE469}"/>
              </a:ext>
            </a:extLst>
          </p:cNvPr>
          <p:cNvSpPr>
            <a:spLocks noGrp="1"/>
          </p:cNvSpPr>
          <p:nvPr>
            <p:ph type="dt" sz="half" idx="10"/>
          </p:nvPr>
        </p:nvSpPr>
        <p:spPr/>
        <p:txBody>
          <a:bodyPr/>
          <a:lstStyle/>
          <a:p>
            <a:fld id="{1A74A7BD-50A9-48D3-996E-8F44509F6A7A}" type="datetimeFigureOut">
              <a:rPr lang="en-US" smtClean="0"/>
              <a:t>1/14/2025</a:t>
            </a:fld>
            <a:endParaRPr lang="en-US" dirty="0"/>
          </a:p>
        </p:txBody>
      </p:sp>
      <p:sp>
        <p:nvSpPr>
          <p:cNvPr id="5" name="Footer Placeholder 4">
            <a:extLst>
              <a:ext uri="{FF2B5EF4-FFF2-40B4-BE49-F238E27FC236}">
                <a16:creationId xmlns:a16="http://schemas.microsoft.com/office/drawing/2014/main" id="{60E87AD3-3C7B-420E-848E-F66BC166E3C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249644C-7617-4024-8937-C32DD9814D0C}"/>
              </a:ext>
            </a:extLst>
          </p:cNvPr>
          <p:cNvSpPr>
            <a:spLocks noGrp="1"/>
          </p:cNvSpPr>
          <p:nvPr>
            <p:ph type="sldNum" sz="quarter" idx="12"/>
          </p:nvPr>
        </p:nvSpPr>
        <p:spPr/>
        <p:txBody>
          <a:bodyPr/>
          <a:lstStyle/>
          <a:p>
            <a:fld id="{74B9D5F9-D808-4747-8D95-9716DA424280}" type="slidenum">
              <a:rPr lang="en-US" smtClean="0"/>
              <a:t>‹N°›</a:t>
            </a:fld>
            <a:endParaRPr lang="en-US" dirty="0"/>
          </a:p>
        </p:txBody>
      </p:sp>
    </p:spTree>
    <p:extLst>
      <p:ext uri="{BB962C8B-B14F-4D97-AF65-F5344CB8AC3E}">
        <p14:creationId xmlns:p14="http://schemas.microsoft.com/office/powerpoint/2010/main" val="2519707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F2F513-0307-4262-B365-07583B703B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D4A529-02DF-475A-862B-0EBA0310CD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546F6D-F829-4D99-978C-CDCE777F3673}"/>
              </a:ext>
            </a:extLst>
          </p:cNvPr>
          <p:cNvSpPr>
            <a:spLocks noGrp="1"/>
          </p:cNvSpPr>
          <p:nvPr>
            <p:ph type="dt" sz="half" idx="10"/>
          </p:nvPr>
        </p:nvSpPr>
        <p:spPr/>
        <p:txBody>
          <a:bodyPr/>
          <a:lstStyle/>
          <a:p>
            <a:fld id="{1A74A7BD-50A9-48D3-996E-8F44509F6A7A}" type="datetimeFigureOut">
              <a:rPr lang="en-US" smtClean="0"/>
              <a:t>1/14/2025</a:t>
            </a:fld>
            <a:endParaRPr lang="en-US" dirty="0"/>
          </a:p>
        </p:txBody>
      </p:sp>
      <p:sp>
        <p:nvSpPr>
          <p:cNvPr id="5" name="Footer Placeholder 4">
            <a:extLst>
              <a:ext uri="{FF2B5EF4-FFF2-40B4-BE49-F238E27FC236}">
                <a16:creationId xmlns:a16="http://schemas.microsoft.com/office/drawing/2014/main" id="{69944696-969C-42F3-8CD0-20A7577B9DD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70B297A-20C3-487A-B999-751312907FFF}"/>
              </a:ext>
            </a:extLst>
          </p:cNvPr>
          <p:cNvSpPr>
            <a:spLocks noGrp="1"/>
          </p:cNvSpPr>
          <p:nvPr>
            <p:ph type="sldNum" sz="quarter" idx="12"/>
          </p:nvPr>
        </p:nvSpPr>
        <p:spPr/>
        <p:txBody>
          <a:bodyPr/>
          <a:lstStyle/>
          <a:p>
            <a:fld id="{74B9D5F9-D808-4747-8D95-9716DA424280}" type="slidenum">
              <a:rPr lang="en-US" smtClean="0"/>
              <a:t>‹N°›</a:t>
            </a:fld>
            <a:endParaRPr lang="en-US" dirty="0"/>
          </a:p>
        </p:txBody>
      </p:sp>
    </p:spTree>
    <p:extLst>
      <p:ext uri="{BB962C8B-B14F-4D97-AF65-F5344CB8AC3E}">
        <p14:creationId xmlns:p14="http://schemas.microsoft.com/office/powerpoint/2010/main" val="1922886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81C39A-79F2-403E-BCCD-765ABE432AAB}"/>
              </a:ext>
            </a:extLst>
          </p:cNvPr>
          <p:cNvSpPr/>
          <p:nvPr userDrawn="1"/>
        </p:nvSpPr>
        <p:spPr>
          <a:xfrm>
            <a:off x="0" y="0"/>
            <a:ext cx="12192000" cy="6858000"/>
          </a:xfrm>
          <a:prstGeom prst="rect">
            <a:avLst/>
          </a:prstGeom>
          <a:solidFill>
            <a:srgbClr val="1E25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04596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0BD742-D98F-44FF-A490-1290FF8920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1119E6-40AB-42CC-8015-1175143FAF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103AEE-72CF-4872-ABCC-113B205F2C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74A7BD-50A9-48D3-996E-8F44509F6A7A}" type="datetimeFigureOut">
              <a:rPr lang="en-US" smtClean="0"/>
              <a:t>1/14/2025</a:t>
            </a:fld>
            <a:endParaRPr lang="en-US" dirty="0"/>
          </a:p>
        </p:txBody>
      </p:sp>
      <p:sp>
        <p:nvSpPr>
          <p:cNvPr id="5" name="Footer Placeholder 4">
            <a:extLst>
              <a:ext uri="{FF2B5EF4-FFF2-40B4-BE49-F238E27FC236}">
                <a16:creationId xmlns:a16="http://schemas.microsoft.com/office/drawing/2014/main" id="{E2CE00E1-BF7A-4AB4-807E-BB07879135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92E65DA5-DCFD-46C1-A565-DF72923A02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B9D5F9-D808-4747-8D95-9716DA424280}" type="slidenum">
              <a:rPr lang="en-US" smtClean="0"/>
              <a:t>‹N°›</a:t>
            </a:fld>
            <a:endParaRPr lang="en-US" dirty="0"/>
          </a:p>
        </p:txBody>
      </p:sp>
    </p:spTree>
    <p:extLst>
      <p:ext uri="{BB962C8B-B14F-4D97-AF65-F5344CB8AC3E}">
        <p14:creationId xmlns:p14="http://schemas.microsoft.com/office/powerpoint/2010/main" val="31371526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5.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6.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slideLayout" Target="../slideLayouts/slideLayout7.xml"/><Relationship Id="rId7" Type="http://schemas.openxmlformats.org/officeDocument/2006/relationships/image" Target="../media/image7.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slideLayout" Target="../slideLayouts/slideLayout7.xml"/><Relationship Id="rId7" Type="http://schemas.openxmlformats.org/officeDocument/2006/relationships/image" Target="../media/image9.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slideLayout" Target="../slideLayouts/slideLayout7.xml"/><Relationship Id="rId7" Type="http://schemas.openxmlformats.org/officeDocument/2006/relationships/image" Target="../media/image7.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8" Type="http://schemas.openxmlformats.org/officeDocument/2006/relationships/hyperlink" Target="http://www.weithenn.org/2017/03/scrum-journey-1-introduction.html" TargetMode="External"/><Relationship Id="rId3" Type="http://schemas.openxmlformats.org/officeDocument/2006/relationships/slideLayout" Target="../slideLayouts/slideLayout7.xml"/><Relationship Id="rId7" Type="http://schemas.openxmlformats.org/officeDocument/2006/relationships/image" Target="../media/image12.pn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3.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slideLayout" Target="../slideLayouts/slideLayout7.xml"/><Relationship Id="rId7" Type="http://schemas.openxmlformats.org/officeDocument/2006/relationships/image" Target="../media/image14.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4.emf"/><Relationship Id="rId5" Type="http://schemas.openxmlformats.org/officeDocument/2006/relationships/oleObject" Target="../embeddings/oleObject1.bin"/><Relationship Id="rId10" Type="http://schemas.openxmlformats.org/officeDocument/2006/relationships/image" Target="../media/image17.png"/><Relationship Id="rId4" Type="http://schemas.openxmlformats.org/officeDocument/2006/relationships/notesSlide" Target="../notesSlides/notesSlide13.xml"/><Relationship Id="rId9"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8.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9.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0.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1.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2.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3.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4.pn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5.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slideLayout" Target="../slideLayouts/slideLayout7.xml"/><Relationship Id="rId7" Type="http://schemas.openxmlformats.org/officeDocument/2006/relationships/image" Target="../media/image26.png"/><Relationship Id="rId12" Type="http://schemas.openxmlformats.org/officeDocument/2006/relationships/hyperlink" Target="https://www.logicaalternativa.com/mis-primeros-pasos-de-newbie-en-angularjs/" TargetMode="Externa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4.emf"/><Relationship Id="rId11" Type="http://schemas.openxmlformats.org/officeDocument/2006/relationships/image" Target="../media/image29.png"/><Relationship Id="rId5" Type="http://schemas.openxmlformats.org/officeDocument/2006/relationships/oleObject" Target="../embeddings/oleObject1.bin"/><Relationship Id="rId10" Type="http://schemas.openxmlformats.org/officeDocument/2006/relationships/hyperlink" Target="http://melonicedlatte.com/2021/07/11/174700.html" TargetMode="External"/><Relationship Id="rId4" Type="http://schemas.openxmlformats.org/officeDocument/2006/relationships/notesSlide" Target="../notesSlides/notesSlide25.xml"/><Relationship Id="rId9" Type="http://schemas.openxmlformats.org/officeDocument/2006/relationships/image" Target="../media/image28.png"/></Relationships>
</file>

<file path=ppt/slides/_rels/slide26.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5.png"/><Relationship Id="rId3" Type="http://schemas.openxmlformats.org/officeDocument/2006/relationships/slideLayout" Target="../slideLayouts/slideLayout7.xml"/><Relationship Id="rId7" Type="http://schemas.openxmlformats.org/officeDocument/2006/relationships/image" Target="../media/image30.png"/><Relationship Id="rId12" Type="http://schemas.openxmlformats.org/officeDocument/2006/relationships/image" Target="../media/image34.png"/><Relationship Id="rId2" Type="http://schemas.openxmlformats.org/officeDocument/2006/relationships/tags" Target="../tags/tag48.xml"/><Relationship Id="rId16" Type="http://schemas.openxmlformats.org/officeDocument/2006/relationships/hyperlink" Target="https://fekir.info/post/chroot-as-docker-alternative-for-building/" TargetMode="External"/><Relationship Id="rId1" Type="http://schemas.openxmlformats.org/officeDocument/2006/relationships/tags" Target="../tags/tag47.xml"/><Relationship Id="rId6" Type="http://schemas.openxmlformats.org/officeDocument/2006/relationships/image" Target="../media/image4.emf"/><Relationship Id="rId11" Type="http://schemas.openxmlformats.org/officeDocument/2006/relationships/image" Target="../media/image33.jpg"/><Relationship Id="rId5" Type="http://schemas.openxmlformats.org/officeDocument/2006/relationships/oleObject" Target="../embeddings/oleObject1.bin"/><Relationship Id="rId15" Type="http://schemas.openxmlformats.org/officeDocument/2006/relationships/image" Target="../media/image36.png"/><Relationship Id="rId10" Type="http://schemas.openxmlformats.org/officeDocument/2006/relationships/image" Target="../media/image32.png"/><Relationship Id="rId4" Type="http://schemas.openxmlformats.org/officeDocument/2006/relationships/notesSlide" Target="../notesSlides/notesSlide26.xml"/><Relationship Id="rId9" Type="http://schemas.openxmlformats.org/officeDocument/2006/relationships/hyperlink" Target="https://www.marcus-povey.co.uk/2020/10/12/using-the-keycloak-accounts-management-api/" TargetMode="External"/><Relationship Id="rId14" Type="http://schemas.openxmlformats.org/officeDocument/2006/relationships/hyperlink" Target="https://freepngimg.com/png/71422-database-corporation-server-sql-oracle-microsoft-developer" TargetMode="Externa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Group 46">
            <a:extLst>
              <a:ext uri="{FF2B5EF4-FFF2-40B4-BE49-F238E27FC236}">
                <a16:creationId xmlns:a16="http://schemas.microsoft.com/office/drawing/2014/main" id="{BC943978-89A1-49D6-B1A6-879A96038FF4}"/>
              </a:ext>
            </a:extLst>
          </p:cNvPr>
          <p:cNvGrpSpPr/>
          <p:nvPr/>
        </p:nvGrpSpPr>
        <p:grpSpPr>
          <a:xfrm>
            <a:off x="4722210" y="1147289"/>
            <a:ext cx="7125120" cy="1407376"/>
            <a:chOff x="4820575" y="1224716"/>
            <a:chExt cx="7125120" cy="3480222"/>
          </a:xfrm>
        </p:grpSpPr>
        <p:sp>
          <p:nvSpPr>
            <p:cNvPr id="48" name="TextBox 47">
              <a:extLst>
                <a:ext uri="{FF2B5EF4-FFF2-40B4-BE49-F238E27FC236}">
                  <a16:creationId xmlns:a16="http://schemas.microsoft.com/office/drawing/2014/main" id="{08CE70DB-441E-4C1D-9BAD-282C3153C91A}"/>
                </a:ext>
              </a:extLst>
            </p:cNvPr>
            <p:cNvSpPr txBox="1"/>
            <p:nvPr/>
          </p:nvSpPr>
          <p:spPr>
            <a:xfrm>
              <a:off x="8560811" y="2009546"/>
              <a:ext cx="3384884" cy="307777"/>
            </a:xfrm>
            <a:prstGeom prst="rect">
              <a:avLst/>
            </a:prstGeom>
            <a:noFill/>
          </p:spPr>
          <p:txBody>
            <a:bodyPr wrap="square" rtlCol="0">
              <a:spAutoFit/>
            </a:bodyPr>
            <a:lstStyle/>
            <a:p>
              <a:pPr algn="r"/>
              <a:endParaRPr lang="en-IN" sz="1400" spc="600" dirty="0">
                <a:solidFill>
                  <a:schemeClr val="bg1"/>
                </a:solidFill>
                <a:latin typeface="Roboto Light" panose="02000000000000000000" pitchFamily="2" charset="0"/>
                <a:ea typeface="Roboto Light" panose="02000000000000000000" pitchFamily="2" charset="0"/>
                <a:cs typeface="Roboto Light" panose="02000000000000000000" pitchFamily="2" charset="0"/>
              </a:endParaRPr>
            </a:p>
          </p:txBody>
        </p:sp>
        <p:sp>
          <p:nvSpPr>
            <p:cNvPr id="49" name="TextBox 48">
              <a:extLst>
                <a:ext uri="{FF2B5EF4-FFF2-40B4-BE49-F238E27FC236}">
                  <a16:creationId xmlns:a16="http://schemas.microsoft.com/office/drawing/2014/main" id="{A84A25F1-3B4C-4263-8AA0-CD688B4B1DA6}"/>
                </a:ext>
              </a:extLst>
            </p:cNvPr>
            <p:cNvSpPr txBox="1"/>
            <p:nvPr/>
          </p:nvSpPr>
          <p:spPr>
            <a:xfrm>
              <a:off x="4820575" y="1224716"/>
              <a:ext cx="7125120" cy="1446058"/>
            </a:xfrm>
            <a:prstGeom prst="rect">
              <a:avLst/>
            </a:prstGeom>
            <a:noFill/>
          </p:spPr>
          <p:txBody>
            <a:bodyPr wrap="square" rtlCol="0">
              <a:spAutoFit/>
            </a:bodyPr>
            <a:lstStyle/>
            <a:p>
              <a:pPr algn="r"/>
              <a:endParaRPr lang="en-IN" sz="3200" b="1" i="1" spc="300" dirty="0">
                <a:solidFill>
                  <a:schemeClr val="bg1"/>
                </a:solidFill>
                <a:ea typeface="Calibri" panose="020F0502020204030204" pitchFamily="34" charset="0"/>
                <a:cs typeface="Calibri" panose="020F0502020204030204" pitchFamily="34" charset="0"/>
              </a:endParaRPr>
            </a:p>
          </p:txBody>
        </p:sp>
        <p:sp>
          <p:nvSpPr>
            <p:cNvPr id="51" name="TextBox 50">
              <a:extLst>
                <a:ext uri="{FF2B5EF4-FFF2-40B4-BE49-F238E27FC236}">
                  <a16:creationId xmlns:a16="http://schemas.microsoft.com/office/drawing/2014/main" id="{A33A4BE6-82B7-48C6-A883-6826C28AD544}"/>
                </a:ext>
              </a:extLst>
            </p:cNvPr>
            <p:cNvSpPr txBox="1"/>
            <p:nvPr/>
          </p:nvSpPr>
          <p:spPr>
            <a:xfrm>
              <a:off x="8560811" y="3952252"/>
              <a:ext cx="3384884" cy="276999"/>
            </a:xfrm>
            <a:prstGeom prst="rect">
              <a:avLst/>
            </a:prstGeom>
            <a:noFill/>
          </p:spPr>
          <p:txBody>
            <a:bodyPr wrap="square" rtlCol="0">
              <a:spAutoFit/>
            </a:bodyPr>
            <a:lstStyle/>
            <a:p>
              <a:pPr algn="r"/>
              <a:endParaRPr lang="en-IN" sz="1200" spc="300" dirty="0">
                <a:solidFill>
                  <a:schemeClr val="bg1"/>
                </a:solidFill>
                <a:latin typeface="Roboto Light" panose="02000000000000000000" pitchFamily="2" charset="0"/>
                <a:ea typeface="Roboto Light" panose="02000000000000000000" pitchFamily="2" charset="0"/>
                <a:cs typeface="Roboto Light" panose="02000000000000000000" pitchFamily="2" charset="0"/>
              </a:endParaRPr>
            </a:p>
          </p:txBody>
        </p:sp>
        <p:sp>
          <p:nvSpPr>
            <p:cNvPr id="52" name="TextBox 51">
              <a:extLst>
                <a:ext uri="{FF2B5EF4-FFF2-40B4-BE49-F238E27FC236}">
                  <a16:creationId xmlns:a16="http://schemas.microsoft.com/office/drawing/2014/main" id="{8E7205A1-0BDA-4913-B6C4-7ECFB02A593F}"/>
                </a:ext>
              </a:extLst>
            </p:cNvPr>
            <p:cNvSpPr txBox="1"/>
            <p:nvPr/>
          </p:nvSpPr>
          <p:spPr>
            <a:xfrm>
              <a:off x="7662454" y="4458717"/>
              <a:ext cx="4283241" cy="246221"/>
            </a:xfrm>
            <a:prstGeom prst="rect">
              <a:avLst/>
            </a:prstGeom>
            <a:noFill/>
          </p:spPr>
          <p:txBody>
            <a:bodyPr wrap="square" rtlCol="0">
              <a:spAutoFit/>
            </a:bodyPr>
            <a:lstStyle/>
            <a:p>
              <a:pPr algn="r"/>
              <a:endParaRPr lang="en-IN" sz="1000" dirty="0">
                <a:solidFill>
                  <a:schemeClr val="tx1">
                    <a:lumMod val="95000"/>
                    <a:lumOff val="5000"/>
                  </a:schemeClr>
                </a:solidFill>
                <a:latin typeface="Roboto Light" panose="02000000000000000000" pitchFamily="2" charset="0"/>
                <a:ea typeface="Roboto Light" panose="02000000000000000000" pitchFamily="2" charset="0"/>
                <a:cs typeface="Roboto Light" panose="02000000000000000000" pitchFamily="2" charset="0"/>
              </a:endParaRPr>
            </a:p>
          </p:txBody>
        </p:sp>
      </p:grpSp>
      <p:pic>
        <p:nvPicPr>
          <p:cNvPr id="8" name="Image 7">
            <a:extLst>
              <a:ext uri="{FF2B5EF4-FFF2-40B4-BE49-F238E27FC236}">
                <a16:creationId xmlns:a16="http://schemas.microsoft.com/office/drawing/2014/main" id="{D8ADE06A-42A0-6F5E-DDE6-19D8F2AF1C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286"/>
            <a:ext cx="12192000" cy="6860286"/>
          </a:xfrm>
          <a:prstGeom prst="rect">
            <a:avLst/>
          </a:prstGeom>
        </p:spPr>
      </p:pic>
      <p:pic>
        <p:nvPicPr>
          <p:cNvPr id="7" name="Image 6" descr="Une image contenant texte&#10;&#10;Description générée automatiquement">
            <a:extLst>
              <a:ext uri="{FF2B5EF4-FFF2-40B4-BE49-F238E27FC236}">
                <a16:creationId xmlns:a16="http://schemas.microsoft.com/office/drawing/2014/main" id="{A7253BB4-F5A9-4879-8083-D2B5492EF7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4888" y="6173050"/>
            <a:ext cx="1903994" cy="552531"/>
          </a:xfrm>
          <a:prstGeom prst="rect">
            <a:avLst/>
          </a:prstGeom>
        </p:spPr>
      </p:pic>
      <p:sp>
        <p:nvSpPr>
          <p:cNvPr id="10" name="ZoneTexte 9">
            <a:extLst>
              <a:ext uri="{FF2B5EF4-FFF2-40B4-BE49-F238E27FC236}">
                <a16:creationId xmlns:a16="http://schemas.microsoft.com/office/drawing/2014/main" id="{9956279D-B86A-80B1-D331-F4253D877EA1}"/>
              </a:ext>
            </a:extLst>
          </p:cNvPr>
          <p:cNvSpPr txBox="1"/>
          <p:nvPr/>
        </p:nvSpPr>
        <p:spPr>
          <a:xfrm>
            <a:off x="4270787" y="403163"/>
            <a:ext cx="7677993" cy="1754326"/>
          </a:xfrm>
          <a:prstGeom prst="rect">
            <a:avLst/>
          </a:prstGeom>
          <a:noFill/>
        </p:spPr>
        <p:txBody>
          <a:bodyPr wrap="square" rtlCol="0">
            <a:spAutoFit/>
          </a:bodyPr>
          <a:lstStyle/>
          <a:p>
            <a:pPr algn="ctr"/>
            <a:r>
              <a:rPr lang="fr-FR" sz="3600" b="1" i="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Développement d’une Application Web</a:t>
            </a:r>
          </a:p>
          <a:p>
            <a:pPr algn="ctr"/>
            <a:r>
              <a:rPr lang="fr-FR" sz="3600" b="1" i="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pour la Gestion des Méthodes de Commerce Extérieur</a:t>
            </a:r>
            <a:endParaRPr lang="fr-FR" sz="3600" b="1" i="1" dirty="0">
              <a:solidFill>
                <a:schemeClr val="tx1">
                  <a:lumMod val="65000"/>
                  <a:lumOff val="35000"/>
                </a:schemeClr>
              </a:solidFill>
              <a:effectLst>
                <a:outerShdw blurRad="38100" dist="38100" dir="2700000" algn="tl">
                  <a:srgbClr val="000000">
                    <a:alpha val="43137"/>
                  </a:srgbClr>
                </a:outerShdw>
              </a:effectLst>
            </a:endParaRPr>
          </a:p>
        </p:txBody>
      </p:sp>
      <p:sp>
        <p:nvSpPr>
          <p:cNvPr id="12" name="ZoneTexte 11">
            <a:extLst>
              <a:ext uri="{FF2B5EF4-FFF2-40B4-BE49-F238E27FC236}">
                <a16:creationId xmlns:a16="http://schemas.microsoft.com/office/drawing/2014/main" id="{7B58B273-2F06-231B-9B5C-1B5AB771E447}"/>
              </a:ext>
            </a:extLst>
          </p:cNvPr>
          <p:cNvSpPr txBox="1"/>
          <p:nvPr/>
        </p:nvSpPr>
        <p:spPr>
          <a:xfrm>
            <a:off x="1051068" y="3267470"/>
            <a:ext cx="11847330" cy="830997"/>
          </a:xfrm>
          <a:prstGeom prst="rect">
            <a:avLst/>
          </a:prstGeom>
          <a:noFill/>
        </p:spPr>
        <p:txBody>
          <a:bodyPr wrap="square" rtlCol="0">
            <a:spAutoFit/>
          </a:bodyPr>
          <a:lstStyle/>
          <a:p>
            <a:r>
              <a:rPr lang="fr-FR" sz="2400" b="1" i="1"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Encadrant Professionnel :                                        Encadrant Académique :</a:t>
            </a:r>
          </a:p>
          <a:p>
            <a:r>
              <a:rPr lang="fr-FR" sz="2400" b="1" i="1"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Mr Anis Zemni                                                           Mr Imed Ben Boukhatem</a:t>
            </a:r>
          </a:p>
        </p:txBody>
      </p:sp>
      <p:sp>
        <p:nvSpPr>
          <p:cNvPr id="13" name="ZoneTexte 12">
            <a:extLst>
              <a:ext uri="{FF2B5EF4-FFF2-40B4-BE49-F238E27FC236}">
                <a16:creationId xmlns:a16="http://schemas.microsoft.com/office/drawing/2014/main" id="{6DEAEC68-4296-3F11-FC3F-F52AAB3E9C81}"/>
              </a:ext>
            </a:extLst>
          </p:cNvPr>
          <p:cNvSpPr txBox="1"/>
          <p:nvPr/>
        </p:nvSpPr>
        <p:spPr>
          <a:xfrm>
            <a:off x="-386005" y="5658844"/>
            <a:ext cx="7360738" cy="830997"/>
          </a:xfrm>
          <a:prstGeom prst="rect">
            <a:avLst/>
          </a:prstGeom>
          <a:noFill/>
        </p:spPr>
        <p:txBody>
          <a:bodyPr wrap="square" rtlCol="0">
            <a:spAutoFit/>
          </a:bodyPr>
          <a:lstStyle/>
          <a:p>
            <a:pPr algn="ctr"/>
            <a:r>
              <a:rPr lang="fr-FR"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Réalisé par :</a:t>
            </a:r>
          </a:p>
          <a:p>
            <a:pPr algn="ctr"/>
            <a:r>
              <a:rPr lang="fr-FR"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Mohammed Amine Cherni</a:t>
            </a:r>
          </a:p>
        </p:txBody>
      </p:sp>
      <p:sp>
        <p:nvSpPr>
          <p:cNvPr id="2" name="ZoneTexte 1">
            <a:extLst>
              <a:ext uri="{FF2B5EF4-FFF2-40B4-BE49-F238E27FC236}">
                <a16:creationId xmlns:a16="http://schemas.microsoft.com/office/drawing/2014/main" id="{863B9530-7AFB-246E-61C0-4B49FBF6B88D}"/>
              </a:ext>
            </a:extLst>
          </p:cNvPr>
          <p:cNvSpPr txBox="1"/>
          <p:nvPr/>
        </p:nvSpPr>
        <p:spPr>
          <a:xfrm>
            <a:off x="7723991" y="6173050"/>
            <a:ext cx="738455" cy="369332"/>
          </a:xfrm>
          <a:prstGeom prst="rect">
            <a:avLst/>
          </a:prstGeom>
          <a:noFill/>
        </p:spPr>
        <p:txBody>
          <a:bodyPr wrap="square" rtlCol="0">
            <a:spAutoFit/>
          </a:bodyPr>
          <a:lstStyle/>
          <a:p>
            <a:endParaRPr lang="fr-FR" dirty="0"/>
          </a:p>
        </p:txBody>
      </p:sp>
    </p:spTree>
    <p:extLst>
      <p:ext uri="{BB962C8B-B14F-4D97-AF65-F5344CB8AC3E}">
        <p14:creationId xmlns:p14="http://schemas.microsoft.com/office/powerpoint/2010/main" val="28708643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randombar(horizontal)">
                                      <p:cBhvr>
                                        <p:cTn id="7" dur="7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56" name="Rectangle 55">
            <a:extLst>
              <a:ext uri="{FF2B5EF4-FFF2-40B4-BE49-F238E27FC236}">
                <a16:creationId xmlns:a16="http://schemas.microsoft.com/office/drawing/2014/main" id="{189C2FCB-2F80-4946-98CA-32125FB6F1E0}"/>
              </a:ext>
            </a:extLst>
          </p:cNvPr>
          <p:cNvSpPr/>
          <p:nvPr/>
        </p:nvSpPr>
        <p:spPr>
          <a:xfrm>
            <a:off x="-90735" y="-16349"/>
            <a:ext cx="1722474" cy="817643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 name="Image 39">
            <a:extLst>
              <a:ext uri="{FF2B5EF4-FFF2-40B4-BE49-F238E27FC236}">
                <a16:creationId xmlns:a16="http://schemas.microsoft.com/office/drawing/2014/main" id="{635A91DC-2B7B-4178-9D0B-F97A7F757ECB}"/>
              </a:ext>
            </a:extLst>
          </p:cNvPr>
          <p:cNvPicPr>
            <a:picLocks noChangeAspect="1"/>
          </p:cNvPicPr>
          <p:nvPr/>
        </p:nvPicPr>
        <p:blipFill>
          <a:blip r:embed="rId3">
            <a:alphaModFix amt="9000"/>
            <a:extLst>
              <a:ext uri="{28A0092B-C50C-407E-A947-70E740481C1C}">
                <a14:useLocalDpi xmlns:a14="http://schemas.microsoft.com/office/drawing/2010/main" val="0"/>
              </a:ext>
            </a:extLst>
          </a:blip>
          <a:stretch>
            <a:fillRect/>
          </a:stretch>
        </p:blipFill>
        <p:spPr>
          <a:xfrm>
            <a:off x="1791878" y="0"/>
            <a:ext cx="10400122" cy="6858000"/>
          </a:xfrm>
          <a:prstGeom prst="rect">
            <a:avLst/>
          </a:prstGeom>
          <a:effectLst>
            <a:outerShdw dist="50800" dir="5400000" algn="ctr" rotWithShape="0">
              <a:srgbClr val="000000">
                <a:alpha val="43137"/>
              </a:srgbClr>
            </a:outerShdw>
          </a:effectLst>
        </p:spPr>
      </p:pic>
      <p:grpSp>
        <p:nvGrpSpPr>
          <p:cNvPr id="44" name="Group 43">
            <a:extLst>
              <a:ext uri="{FF2B5EF4-FFF2-40B4-BE49-F238E27FC236}">
                <a16:creationId xmlns:a16="http://schemas.microsoft.com/office/drawing/2014/main" id="{550D411C-ED67-4A68-9DF1-CFB31456ABDC}"/>
              </a:ext>
            </a:extLst>
          </p:cNvPr>
          <p:cNvGrpSpPr/>
          <p:nvPr/>
        </p:nvGrpSpPr>
        <p:grpSpPr>
          <a:xfrm>
            <a:off x="6627454" y="1120898"/>
            <a:ext cx="2349361" cy="544955"/>
            <a:chOff x="1158258" y="1110577"/>
            <a:chExt cx="2349361" cy="544955"/>
          </a:xfrm>
        </p:grpSpPr>
        <p:sp>
          <p:nvSpPr>
            <p:cNvPr id="45" name="Rectangle 44">
              <a:extLst>
                <a:ext uri="{FF2B5EF4-FFF2-40B4-BE49-F238E27FC236}">
                  <a16:creationId xmlns:a16="http://schemas.microsoft.com/office/drawing/2014/main" id="{933F016E-D331-4361-8301-751099F7DBD4}"/>
                </a:ext>
              </a:extLst>
            </p:cNvPr>
            <p:cNvSpPr/>
            <p:nvPr/>
          </p:nvSpPr>
          <p:spPr>
            <a:xfrm>
              <a:off x="1158259" y="1110577"/>
              <a:ext cx="184731" cy="369332"/>
            </a:xfrm>
            <a:prstGeom prst="rect">
              <a:avLst/>
            </a:prstGeom>
          </p:spPr>
          <p:txBody>
            <a:bodyPr wrap="none">
              <a:spAutoFit/>
            </a:bodyPr>
            <a:lstStyle/>
            <a:p>
              <a:endParaRPr lang="en-US" dirty="0">
                <a:solidFill>
                  <a:srgbClr val="8F5CD3"/>
                </a:solidFill>
                <a:latin typeface="Roboto" pitchFamily="2" charset="0"/>
                <a:ea typeface="Roboto" pitchFamily="2" charset="0"/>
              </a:endParaRPr>
            </a:p>
          </p:txBody>
        </p:sp>
        <p:sp>
          <p:nvSpPr>
            <p:cNvPr id="46" name="Rectangle 45">
              <a:extLst>
                <a:ext uri="{FF2B5EF4-FFF2-40B4-BE49-F238E27FC236}">
                  <a16:creationId xmlns:a16="http://schemas.microsoft.com/office/drawing/2014/main" id="{01B2BCBC-F207-44CB-824F-60E44BFF6282}"/>
                </a:ext>
              </a:extLst>
            </p:cNvPr>
            <p:cNvSpPr/>
            <p:nvPr/>
          </p:nvSpPr>
          <p:spPr>
            <a:xfrm>
              <a:off x="1158258" y="1401616"/>
              <a:ext cx="2349361" cy="253916"/>
            </a:xfrm>
            <a:prstGeom prst="rect">
              <a:avLst/>
            </a:prstGeom>
          </p:spPr>
          <p:txBody>
            <a:bodyPr wrap="square">
              <a:spAutoFit/>
            </a:bodyPr>
            <a:lstStyle/>
            <a:p>
              <a:endParaRPr lang="en-US" sz="1050" dirty="0">
                <a:solidFill>
                  <a:schemeClr val="bg1"/>
                </a:solidFill>
                <a:latin typeface="Roboto Light" panose="02000000000000000000" pitchFamily="2" charset="0"/>
                <a:ea typeface="Roboto Light" panose="02000000000000000000" pitchFamily="2" charset="0"/>
              </a:endParaRPr>
            </a:p>
          </p:txBody>
        </p:sp>
      </p:grpSp>
      <p:sp>
        <p:nvSpPr>
          <p:cNvPr id="55" name="Triangle isocèle 54">
            <a:extLst>
              <a:ext uri="{FF2B5EF4-FFF2-40B4-BE49-F238E27FC236}">
                <a16:creationId xmlns:a16="http://schemas.microsoft.com/office/drawing/2014/main" id="{7264988C-A7A7-4C5F-BB4B-31BE6985AFA6}"/>
              </a:ext>
            </a:extLst>
          </p:cNvPr>
          <p:cNvSpPr/>
          <p:nvPr/>
        </p:nvSpPr>
        <p:spPr>
          <a:xfrm rot="16200000">
            <a:off x="1527445" y="3267340"/>
            <a:ext cx="666750" cy="323322"/>
          </a:xfrm>
          <a:custGeom>
            <a:avLst/>
            <a:gdLst>
              <a:gd name="connsiteX0" fmla="*/ 0 w 666750"/>
              <a:gd name="connsiteY0" fmla="*/ 520700 h 520700"/>
              <a:gd name="connsiteX1" fmla="*/ 333375 w 666750"/>
              <a:gd name="connsiteY1" fmla="*/ 0 h 520700"/>
              <a:gd name="connsiteX2" fmla="*/ 666750 w 666750"/>
              <a:gd name="connsiteY2" fmla="*/ 520700 h 520700"/>
              <a:gd name="connsiteX3" fmla="*/ 0 w 666750"/>
              <a:gd name="connsiteY3" fmla="*/ 520700 h 520700"/>
              <a:gd name="connsiteX0" fmla="*/ 0 w 666750"/>
              <a:gd name="connsiteY0" fmla="*/ 323319 h 323319"/>
              <a:gd name="connsiteX1" fmla="*/ 325318 w 666750"/>
              <a:gd name="connsiteY1" fmla="*/ 0 h 323319"/>
              <a:gd name="connsiteX2" fmla="*/ 666750 w 666750"/>
              <a:gd name="connsiteY2" fmla="*/ 323319 h 323319"/>
              <a:gd name="connsiteX3" fmla="*/ 0 w 666750"/>
              <a:gd name="connsiteY3" fmla="*/ 323319 h 323319"/>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Lst>
            <a:ahLst/>
            <a:cxnLst>
              <a:cxn ang="0">
                <a:pos x="connsiteX0" y="connsiteY0"/>
              </a:cxn>
              <a:cxn ang="0">
                <a:pos x="connsiteX1" y="connsiteY1"/>
              </a:cxn>
              <a:cxn ang="0">
                <a:pos x="connsiteX2" y="connsiteY2"/>
              </a:cxn>
              <a:cxn ang="0">
                <a:pos x="connsiteX3" y="connsiteY3"/>
              </a:cxn>
            </a:cxnLst>
            <a:rect l="l" t="t" r="r" b="b"/>
            <a:pathLst>
              <a:path w="666750" h="323322">
                <a:moveTo>
                  <a:pt x="0" y="323319"/>
                </a:moveTo>
                <a:cubicBezTo>
                  <a:pt x="193031" y="243744"/>
                  <a:pt x="180625" y="67491"/>
                  <a:pt x="325318" y="0"/>
                </a:cubicBezTo>
                <a:cubicBezTo>
                  <a:pt x="487467" y="111802"/>
                  <a:pt x="484460" y="251802"/>
                  <a:pt x="666750" y="323322"/>
                </a:cubicBezTo>
                <a:lnTo>
                  <a:pt x="0" y="323319"/>
                </a:lnTo>
                <a:close/>
              </a:path>
            </a:pathLst>
          </a:custGeom>
          <a:solidFill>
            <a:srgbClr val="4C57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Freeform 24">
            <a:extLst>
              <a:ext uri="{FF2B5EF4-FFF2-40B4-BE49-F238E27FC236}">
                <a16:creationId xmlns:a16="http://schemas.microsoft.com/office/drawing/2014/main" id="{D7B1AB61-3A2A-4894-9BD0-9C4A79911B6F}"/>
              </a:ext>
            </a:extLst>
          </p:cNvPr>
          <p:cNvSpPr/>
          <p:nvPr/>
        </p:nvSpPr>
        <p:spPr>
          <a:xfrm rot="10800000">
            <a:off x="1300685" y="-3312713"/>
            <a:ext cx="855940" cy="13660319"/>
          </a:xfrm>
          <a:custGeom>
            <a:avLst/>
            <a:gdLst>
              <a:gd name="connsiteX0" fmla="*/ 0 w 1359568"/>
              <a:gd name="connsiteY0" fmla="*/ 20627788 h 20627788"/>
              <a:gd name="connsiteX1" fmla="*/ 0 w 1359568"/>
              <a:gd name="connsiteY1" fmla="*/ 11151257 h 20627788"/>
              <a:gd name="connsiteX2" fmla="*/ 618834 w 1359568"/>
              <a:gd name="connsiteY2" fmla="*/ 10313894 h 20627788"/>
              <a:gd name="connsiteX3" fmla="*/ 0 w 1359568"/>
              <a:gd name="connsiteY3" fmla="*/ 9476531 h 20627788"/>
              <a:gd name="connsiteX4" fmla="*/ 0 w 1359568"/>
              <a:gd name="connsiteY4" fmla="*/ 0 h 20627788"/>
              <a:gd name="connsiteX5" fmla="*/ 1359568 w 1359568"/>
              <a:gd name="connsiteY5" fmla="*/ 0 h 20627788"/>
              <a:gd name="connsiteX6" fmla="*/ 1359568 w 1359568"/>
              <a:gd name="connsiteY6" fmla="*/ 20627788 h 20627788"/>
              <a:gd name="connsiteX0" fmla="*/ 0 w 1359568"/>
              <a:gd name="connsiteY0" fmla="*/ 20627788 h 20627788"/>
              <a:gd name="connsiteX1" fmla="*/ 0 w 1359568"/>
              <a:gd name="connsiteY1" fmla="*/ 11151257 h 20627788"/>
              <a:gd name="connsiteX2" fmla="*/ 618834 w 1359568"/>
              <a:gd name="connsiteY2" fmla="*/ 10313894 h 20627788"/>
              <a:gd name="connsiteX3" fmla="*/ 0 w 1359568"/>
              <a:gd name="connsiteY3" fmla="*/ 9476531 h 20627788"/>
              <a:gd name="connsiteX4" fmla="*/ 0 w 1359568"/>
              <a:gd name="connsiteY4" fmla="*/ 0 h 20627788"/>
              <a:gd name="connsiteX5" fmla="*/ 1359568 w 1359568"/>
              <a:gd name="connsiteY5" fmla="*/ 0 h 20627788"/>
              <a:gd name="connsiteX6" fmla="*/ 1359568 w 1359568"/>
              <a:gd name="connsiteY6" fmla="*/ 20627788 h 20627788"/>
              <a:gd name="connsiteX7" fmla="*/ 0 w 1359568"/>
              <a:gd name="connsiteY7" fmla="*/ 20627788 h 20627788"/>
              <a:gd name="connsiteX0" fmla="*/ 33 w 1359601"/>
              <a:gd name="connsiteY0" fmla="*/ 20627788 h 20627788"/>
              <a:gd name="connsiteX1" fmla="*/ 33 w 1359601"/>
              <a:gd name="connsiteY1" fmla="*/ 11151257 h 20627788"/>
              <a:gd name="connsiteX2" fmla="*/ 618867 w 1359601"/>
              <a:gd name="connsiteY2" fmla="*/ 10313894 h 20627788"/>
              <a:gd name="connsiteX3" fmla="*/ 33 w 1359601"/>
              <a:gd name="connsiteY3" fmla="*/ 9476531 h 20627788"/>
              <a:gd name="connsiteX4" fmla="*/ 33 w 1359601"/>
              <a:gd name="connsiteY4" fmla="*/ 0 h 20627788"/>
              <a:gd name="connsiteX5" fmla="*/ 1359601 w 1359601"/>
              <a:gd name="connsiteY5" fmla="*/ 0 h 20627788"/>
              <a:gd name="connsiteX6" fmla="*/ 1359601 w 1359601"/>
              <a:gd name="connsiteY6" fmla="*/ 20627788 h 20627788"/>
              <a:gd name="connsiteX7" fmla="*/ 33 w 1359601"/>
              <a:gd name="connsiteY7" fmla="*/ 20627788 h 20627788"/>
              <a:gd name="connsiteX0" fmla="*/ 33 w 1359601"/>
              <a:gd name="connsiteY0" fmla="*/ 20627788 h 20627788"/>
              <a:gd name="connsiteX1" fmla="*/ 33 w 1359601"/>
              <a:gd name="connsiteY1" fmla="*/ 11151257 h 20627788"/>
              <a:gd name="connsiteX2" fmla="*/ 618867 w 1359601"/>
              <a:gd name="connsiteY2" fmla="*/ 10313894 h 20627788"/>
              <a:gd name="connsiteX3" fmla="*/ 33 w 1359601"/>
              <a:gd name="connsiteY3" fmla="*/ 9476531 h 20627788"/>
              <a:gd name="connsiteX4" fmla="*/ 33 w 1359601"/>
              <a:gd name="connsiteY4" fmla="*/ 0 h 20627788"/>
              <a:gd name="connsiteX5" fmla="*/ 1359601 w 1359601"/>
              <a:gd name="connsiteY5" fmla="*/ 0 h 20627788"/>
              <a:gd name="connsiteX6" fmla="*/ 1359601 w 1359601"/>
              <a:gd name="connsiteY6" fmla="*/ 20627788 h 20627788"/>
              <a:gd name="connsiteX7" fmla="*/ 33 w 1359601"/>
              <a:gd name="connsiteY7" fmla="*/ 20627788 h 20627788"/>
              <a:gd name="connsiteX0" fmla="*/ 36 w 1359604"/>
              <a:gd name="connsiteY0" fmla="*/ 20627788 h 20627788"/>
              <a:gd name="connsiteX1" fmla="*/ 36 w 1359604"/>
              <a:gd name="connsiteY1" fmla="*/ 11151257 h 20627788"/>
              <a:gd name="connsiteX2" fmla="*/ 567694 w 1359604"/>
              <a:gd name="connsiteY2" fmla="*/ 10313894 h 20627788"/>
              <a:gd name="connsiteX3" fmla="*/ 36 w 1359604"/>
              <a:gd name="connsiteY3" fmla="*/ 9476531 h 20627788"/>
              <a:gd name="connsiteX4" fmla="*/ 36 w 1359604"/>
              <a:gd name="connsiteY4" fmla="*/ 0 h 20627788"/>
              <a:gd name="connsiteX5" fmla="*/ 1359604 w 1359604"/>
              <a:gd name="connsiteY5" fmla="*/ 0 h 20627788"/>
              <a:gd name="connsiteX6" fmla="*/ 1359604 w 1359604"/>
              <a:gd name="connsiteY6" fmla="*/ 20627788 h 20627788"/>
              <a:gd name="connsiteX7" fmla="*/ 36 w 1359604"/>
              <a:gd name="connsiteY7" fmla="*/ 20627788 h 20627788"/>
              <a:gd name="connsiteX0" fmla="*/ 36 w 1359604"/>
              <a:gd name="connsiteY0" fmla="*/ 20627788 h 20627788"/>
              <a:gd name="connsiteX1" fmla="*/ 36 w 1359604"/>
              <a:gd name="connsiteY1" fmla="*/ 11151257 h 20627788"/>
              <a:gd name="connsiteX2" fmla="*/ 567694 w 1359604"/>
              <a:gd name="connsiteY2" fmla="*/ 10313894 h 20627788"/>
              <a:gd name="connsiteX3" fmla="*/ 36 w 1359604"/>
              <a:gd name="connsiteY3" fmla="*/ 9476531 h 20627788"/>
              <a:gd name="connsiteX4" fmla="*/ 36 w 1359604"/>
              <a:gd name="connsiteY4" fmla="*/ 0 h 20627788"/>
              <a:gd name="connsiteX5" fmla="*/ 1359604 w 1359604"/>
              <a:gd name="connsiteY5" fmla="*/ 0 h 20627788"/>
              <a:gd name="connsiteX6" fmla="*/ 1359604 w 1359604"/>
              <a:gd name="connsiteY6" fmla="*/ 20627788 h 20627788"/>
              <a:gd name="connsiteX7" fmla="*/ 36 w 1359604"/>
              <a:gd name="connsiteY7" fmla="*/ 20627788 h 20627788"/>
              <a:gd name="connsiteX0" fmla="*/ 36 w 1359604"/>
              <a:gd name="connsiteY0" fmla="*/ 20627788 h 20627788"/>
              <a:gd name="connsiteX1" fmla="*/ 36 w 1359604"/>
              <a:gd name="connsiteY1" fmla="*/ 11151257 h 20627788"/>
              <a:gd name="connsiteX2" fmla="*/ 567694 w 1359604"/>
              <a:gd name="connsiteY2" fmla="*/ 10313894 h 20627788"/>
              <a:gd name="connsiteX3" fmla="*/ 36 w 1359604"/>
              <a:gd name="connsiteY3" fmla="*/ 9476531 h 20627788"/>
              <a:gd name="connsiteX4" fmla="*/ 36 w 1359604"/>
              <a:gd name="connsiteY4" fmla="*/ 0 h 20627788"/>
              <a:gd name="connsiteX5" fmla="*/ 1359604 w 1359604"/>
              <a:gd name="connsiteY5" fmla="*/ 0 h 20627788"/>
              <a:gd name="connsiteX6" fmla="*/ 1359604 w 1359604"/>
              <a:gd name="connsiteY6" fmla="*/ 20627788 h 20627788"/>
              <a:gd name="connsiteX7" fmla="*/ 36 w 1359604"/>
              <a:gd name="connsiteY7" fmla="*/ 20627788 h 20627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59604" h="20627788">
                <a:moveTo>
                  <a:pt x="36" y="20627788"/>
                </a:moveTo>
                <a:lnTo>
                  <a:pt x="36" y="11151257"/>
                </a:lnTo>
                <a:cubicBezTo>
                  <a:pt x="-1812" y="10732246"/>
                  <a:pt x="562432" y="10818204"/>
                  <a:pt x="567694" y="10313894"/>
                </a:cubicBezTo>
                <a:cubicBezTo>
                  <a:pt x="572956" y="9809584"/>
                  <a:pt x="-5226" y="9888718"/>
                  <a:pt x="36" y="9476531"/>
                </a:cubicBezTo>
                <a:lnTo>
                  <a:pt x="36" y="0"/>
                </a:lnTo>
                <a:lnTo>
                  <a:pt x="1359604" y="0"/>
                </a:lnTo>
                <a:lnTo>
                  <a:pt x="1359604" y="20627788"/>
                </a:lnTo>
                <a:lnTo>
                  <a:pt x="36" y="206277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LT" dirty="0"/>
          </a:p>
        </p:txBody>
      </p:sp>
      <p:sp>
        <p:nvSpPr>
          <p:cNvPr id="80" name="ZoneTexte 79">
            <a:extLst>
              <a:ext uri="{FF2B5EF4-FFF2-40B4-BE49-F238E27FC236}">
                <a16:creationId xmlns:a16="http://schemas.microsoft.com/office/drawing/2014/main" id="{F0F16939-5F8A-4B24-9EFD-317BDA383C62}"/>
              </a:ext>
            </a:extLst>
          </p:cNvPr>
          <p:cNvSpPr txBox="1"/>
          <p:nvPr/>
        </p:nvSpPr>
        <p:spPr>
          <a:xfrm>
            <a:off x="0" y="3095626"/>
            <a:ext cx="6172200" cy="1015663"/>
          </a:xfrm>
          <a:prstGeom prst="rect">
            <a:avLst/>
          </a:prstGeom>
          <a:noFill/>
        </p:spPr>
        <p:txBody>
          <a:bodyPr wrap="square">
            <a:spAutoFit/>
          </a:bodyPr>
          <a:lstStyle/>
          <a:p>
            <a:r>
              <a:rPr lang="en-US" sz="6000" dirty="0">
                <a:solidFill>
                  <a:srgbClr val="4D5A6E"/>
                </a:solidFill>
              </a:rPr>
              <a:t>PLAN</a:t>
            </a:r>
          </a:p>
        </p:txBody>
      </p:sp>
      <p:sp>
        <p:nvSpPr>
          <p:cNvPr id="57" name="Ellipse 56">
            <a:extLst>
              <a:ext uri="{FF2B5EF4-FFF2-40B4-BE49-F238E27FC236}">
                <a16:creationId xmlns:a16="http://schemas.microsoft.com/office/drawing/2014/main" id="{5B465F72-61D8-45B6-806B-0CE0586D85DC}"/>
              </a:ext>
            </a:extLst>
          </p:cNvPr>
          <p:cNvSpPr/>
          <p:nvPr/>
        </p:nvSpPr>
        <p:spPr>
          <a:xfrm>
            <a:off x="1887283" y="3209481"/>
            <a:ext cx="577552" cy="606056"/>
          </a:xfrm>
          <a:prstGeom prst="ellipse">
            <a:avLst/>
          </a:prstGeom>
          <a:solidFill>
            <a:schemeClr val="bg1"/>
          </a:solidFill>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Flèche : droite 59">
            <a:extLst>
              <a:ext uri="{FF2B5EF4-FFF2-40B4-BE49-F238E27FC236}">
                <a16:creationId xmlns:a16="http://schemas.microsoft.com/office/drawing/2014/main" id="{1D84FFF3-1968-43A3-B0E3-204BF0BA88D2}"/>
              </a:ext>
            </a:extLst>
          </p:cNvPr>
          <p:cNvSpPr/>
          <p:nvPr/>
        </p:nvSpPr>
        <p:spPr>
          <a:xfrm>
            <a:off x="2027931" y="3381153"/>
            <a:ext cx="293851" cy="249866"/>
          </a:xfrm>
          <a:prstGeom prst="rightArrow">
            <a:avLst/>
          </a:prstGeom>
          <a:solidFill>
            <a:srgbClr val="44546A"/>
          </a:solidFill>
          <a:effectLst>
            <a:outerShdw blurRad="63500" dist="50800" dir="5400000" sx="1000" sy="1000" algn="ctr" rotWithShape="0">
              <a:srgbClr val="44546A"/>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ZoneTexte 10">
            <a:extLst>
              <a:ext uri="{FF2B5EF4-FFF2-40B4-BE49-F238E27FC236}">
                <a16:creationId xmlns:a16="http://schemas.microsoft.com/office/drawing/2014/main" id="{08A1B41E-A90D-4258-B1A5-9B63746BBA1B}"/>
              </a:ext>
            </a:extLst>
          </p:cNvPr>
          <p:cNvSpPr txBox="1"/>
          <p:nvPr/>
        </p:nvSpPr>
        <p:spPr>
          <a:xfrm>
            <a:off x="3023158" y="517669"/>
            <a:ext cx="1316468" cy="1323439"/>
          </a:xfrm>
          <a:prstGeom prst="rect">
            <a:avLst/>
          </a:prstGeom>
          <a:noFill/>
        </p:spPr>
        <p:txBody>
          <a:bodyPr wrap="square">
            <a:spAutoFit/>
          </a:bodyPr>
          <a:lstStyle/>
          <a:p>
            <a:r>
              <a:rPr lang="en-US" sz="8000" dirty="0">
                <a:ln w="15875">
                  <a:solidFill>
                    <a:schemeClr val="bg1"/>
                  </a:solidFill>
                </a:ln>
                <a:noFill/>
                <a:latin typeface="Archivo Black" panose="020B0A03020202020B04" pitchFamily="34" charset="0"/>
              </a:rPr>
              <a:t>01</a:t>
            </a:r>
            <a:endParaRPr lang="en-US" sz="8000" dirty="0"/>
          </a:p>
        </p:txBody>
      </p:sp>
      <p:sp>
        <p:nvSpPr>
          <p:cNvPr id="21" name="ZoneTexte 10">
            <a:extLst>
              <a:ext uri="{FF2B5EF4-FFF2-40B4-BE49-F238E27FC236}">
                <a16:creationId xmlns:a16="http://schemas.microsoft.com/office/drawing/2014/main" id="{953D39C0-57FD-4F7F-A5F0-11342ABA2534}"/>
              </a:ext>
            </a:extLst>
          </p:cNvPr>
          <p:cNvSpPr txBox="1"/>
          <p:nvPr/>
        </p:nvSpPr>
        <p:spPr>
          <a:xfrm>
            <a:off x="7236266" y="517669"/>
            <a:ext cx="1316468" cy="1323439"/>
          </a:xfrm>
          <a:prstGeom prst="rect">
            <a:avLst/>
          </a:prstGeom>
          <a:noFill/>
        </p:spPr>
        <p:txBody>
          <a:bodyPr wrap="square">
            <a:spAutoFit/>
          </a:bodyPr>
          <a:lstStyle/>
          <a:p>
            <a:r>
              <a:rPr lang="en-US" sz="8000" dirty="0">
                <a:ln w="15875">
                  <a:solidFill>
                    <a:schemeClr val="bg1"/>
                  </a:solidFill>
                </a:ln>
                <a:noFill/>
                <a:latin typeface="Archivo Black" panose="020B0A03020202020B04" pitchFamily="34" charset="0"/>
              </a:rPr>
              <a:t>02</a:t>
            </a:r>
            <a:endParaRPr lang="en-US" sz="8000" dirty="0"/>
          </a:p>
        </p:txBody>
      </p:sp>
      <p:sp>
        <p:nvSpPr>
          <p:cNvPr id="23" name="ZoneTexte 10">
            <a:extLst>
              <a:ext uri="{FF2B5EF4-FFF2-40B4-BE49-F238E27FC236}">
                <a16:creationId xmlns:a16="http://schemas.microsoft.com/office/drawing/2014/main" id="{2FAA536B-B02B-484E-AAD1-3F964A7C239E}"/>
              </a:ext>
            </a:extLst>
          </p:cNvPr>
          <p:cNvSpPr txBox="1"/>
          <p:nvPr/>
        </p:nvSpPr>
        <p:spPr>
          <a:xfrm>
            <a:off x="3023158" y="2105561"/>
            <a:ext cx="1316468" cy="1323439"/>
          </a:xfrm>
          <a:prstGeom prst="rect">
            <a:avLst/>
          </a:prstGeom>
          <a:noFill/>
        </p:spPr>
        <p:txBody>
          <a:bodyPr wrap="square">
            <a:spAutoFit/>
          </a:bodyPr>
          <a:lstStyle/>
          <a:p>
            <a:r>
              <a:rPr lang="en-US" sz="8000" dirty="0">
                <a:ln w="15875">
                  <a:solidFill>
                    <a:schemeClr val="bg1"/>
                  </a:solidFill>
                </a:ln>
                <a:noFill/>
                <a:latin typeface="Archivo Black" panose="020B0A03020202020B04" pitchFamily="34" charset="0"/>
              </a:rPr>
              <a:t>03</a:t>
            </a:r>
            <a:endParaRPr lang="en-US" sz="8000" dirty="0"/>
          </a:p>
        </p:txBody>
      </p:sp>
      <p:sp>
        <p:nvSpPr>
          <p:cNvPr id="25" name="ZoneTexte 10">
            <a:extLst>
              <a:ext uri="{FF2B5EF4-FFF2-40B4-BE49-F238E27FC236}">
                <a16:creationId xmlns:a16="http://schemas.microsoft.com/office/drawing/2014/main" id="{C32BF6C0-B303-4F2E-ADE0-B847E6BE967F}"/>
              </a:ext>
            </a:extLst>
          </p:cNvPr>
          <p:cNvSpPr txBox="1"/>
          <p:nvPr/>
        </p:nvSpPr>
        <p:spPr>
          <a:xfrm>
            <a:off x="7236266" y="2057714"/>
            <a:ext cx="1316468" cy="1323439"/>
          </a:xfrm>
          <a:prstGeom prst="rect">
            <a:avLst/>
          </a:prstGeom>
          <a:noFill/>
        </p:spPr>
        <p:txBody>
          <a:bodyPr wrap="square">
            <a:spAutoFit/>
          </a:bodyPr>
          <a:lstStyle/>
          <a:p>
            <a:r>
              <a:rPr lang="en-US" sz="8000" dirty="0">
                <a:ln w="15875">
                  <a:solidFill>
                    <a:schemeClr val="bg1"/>
                  </a:solidFill>
                </a:ln>
                <a:noFill/>
                <a:latin typeface="Archivo Black" panose="020B0A03020202020B04" pitchFamily="34" charset="0"/>
              </a:rPr>
              <a:t>04</a:t>
            </a:r>
            <a:endParaRPr lang="en-US" sz="8000" dirty="0"/>
          </a:p>
        </p:txBody>
      </p:sp>
      <p:sp>
        <p:nvSpPr>
          <p:cNvPr id="26" name="ZoneTexte 10">
            <a:extLst>
              <a:ext uri="{FF2B5EF4-FFF2-40B4-BE49-F238E27FC236}">
                <a16:creationId xmlns:a16="http://schemas.microsoft.com/office/drawing/2014/main" id="{A066A908-F12E-4C27-92E2-37B2B8A7F064}"/>
              </a:ext>
            </a:extLst>
          </p:cNvPr>
          <p:cNvSpPr txBox="1"/>
          <p:nvPr/>
        </p:nvSpPr>
        <p:spPr>
          <a:xfrm>
            <a:off x="3023158" y="3693453"/>
            <a:ext cx="1316468" cy="1323439"/>
          </a:xfrm>
          <a:prstGeom prst="rect">
            <a:avLst/>
          </a:prstGeom>
          <a:noFill/>
        </p:spPr>
        <p:txBody>
          <a:bodyPr wrap="square">
            <a:spAutoFit/>
          </a:bodyPr>
          <a:lstStyle/>
          <a:p>
            <a:r>
              <a:rPr lang="en-US" sz="8000" dirty="0">
                <a:ln w="15875">
                  <a:solidFill>
                    <a:schemeClr val="bg1"/>
                  </a:solidFill>
                </a:ln>
                <a:noFill/>
                <a:latin typeface="Archivo Black" panose="020B0A03020202020B04" pitchFamily="34" charset="0"/>
              </a:rPr>
              <a:t>05</a:t>
            </a:r>
            <a:endParaRPr lang="en-US" sz="8000" dirty="0"/>
          </a:p>
        </p:txBody>
      </p:sp>
      <p:sp>
        <p:nvSpPr>
          <p:cNvPr id="28" name="ZoneTexte 10">
            <a:extLst>
              <a:ext uri="{FF2B5EF4-FFF2-40B4-BE49-F238E27FC236}">
                <a16:creationId xmlns:a16="http://schemas.microsoft.com/office/drawing/2014/main" id="{28F969C5-37B8-425D-8BBB-81CF44989E1B}"/>
              </a:ext>
            </a:extLst>
          </p:cNvPr>
          <p:cNvSpPr txBox="1"/>
          <p:nvPr/>
        </p:nvSpPr>
        <p:spPr>
          <a:xfrm>
            <a:off x="7236266" y="3597759"/>
            <a:ext cx="1316468" cy="1323439"/>
          </a:xfrm>
          <a:prstGeom prst="rect">
            <a:avLst/>
          </a:prstGeom>
          <a:noFill/>
        </p:spPr>
        <p:txBody>
          <a:bodyPr wrap="square">
            <a:spAutoFit/>
          </a:bodyPr>
          <a:lstStyle/>
          <a:p>
            <a:r>
              <a:rPr lang="en-US" sz="8000" dirty="0">
                <a:ln w="15875">
                  <a:solidFill>
                    <a:schemeClr val="bg1"/>
                  </a:solidFill>
                </a:ln>
                <a:noFill/>
                <a:latin typeface="Archivo Black" panose="020B0A03020202020B04" pitchFamily="34" charset="0"/>
              </a:rPr>
              <a:t>06</a:t>
            </a:r>
            <a:endParaRPr lang="en-US" sz="8000" dirty="0"/>
          </a:p>
        </p:txBody>
      </p:sp>
      <p:sp>
        <p:nvSpPr>
          <p:cNvPr id="29" name="Rectangle 28">
            <a:extLst>
              <a:ext uri="{FF2B5EF4-FFF2-40B4-BE49-F238E27FC236}">
                <a16:creationId xmlns:a16="http://schemas.microsoft.com/office/drawing/2014/main" id="{C5BFA72F-1335-4D0D-9FE7-9517C2B771F6}"/>
              </a:ext>
            </a:extLst>
          </p:cNvPr>
          <p:cNvSpPr/>
          <p:nvPr/>
        </p:nvSpPr>
        <p:spPr>
          <a:xfrm>
            <a:off x="4186793" y="593486"/>
            <a:ext cx="2847084" cy="14161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31" name="Rectangle 30">
            <a:extLst>
              <a:ext uri="{FF2B5EF4-FFF2-40B4-BE49-F238E27FC236}">
                <a16:creationId xmlns:a16="http://schemas.microsoft.com/office/drawing/2014/main" id="{931D25A1-E0CD-4323-B035-A5CBD23DA85F}"/>
              </a:ext>
            </a:extLst>
          </p:cNvPr>
          <p:cNvSpPr/>
          <p:nvPr/>
        </p:nvSpPr>
        <p:spPr>
          <a:xfrm>
            <a:off x="4186794" y="2198293"/>
            <a:ext cx="2843223" cy="137504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32" name="Rectangle 31">
            <a:extLst>
              <a:ext uri="{FF2B5EF4-FFF2-40B4-BE49-F238E27FC236}">
                <a16:creationId xmlns:a16="http://schemas.microsoft.com/office/drawing/2014/main" id="{B0A5D1D4-7D88-47E6-9533-FF91BD5AE512}"/>
              </a:ext>
            </a:extLst>
          </p:cNvPr>
          <p:cNvSpPr/>
          <p:nvPr/>
        </p:nvSpPr>
        <p:spPr>
          <a:xfrm>
            <a:off x="4186794" y="3761970"/>
            <a:ext cx="2843223" cy="137504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33" name="Rectangle 32">
            <a:extLst>
              <a:ext uri="{FF2B5EF4-FFF2-40B4-BE49-F238E27FC236}">
                <a16:creationId xmlns:a16="http://schemas.microsoft.com/office/drawing/2014/main" id="{3029293B-16C1-443C-B9B1-EC06514A95CC}"/>
              </a:ext>
            </a:extLst>
          </p:cNvPr>
          <p:cNvSpPr/>
          <p:nvPr/>
        </p:nvSpPr>
        <p:spPr>
          <a:xfrm>
            <a:off x="8438258" y="593486"/>
            <a:ext cx="2843223" cy="14161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34" name="Rectangle 33">
            <a:extLst>
              <a:ext uri="{FF2B5EF4-FFF2-40B4-BE49-F238E27FC236}">
                <a16:creationId xmlns:a16="http://schemas.microsoft.com/office/drawing/2014/main" id="{14DD5D8D-90A4-4A85-9A30-3D1D85695911}"/>
              </a:ext>
            </a:extLst>
          </p:cNvPr>
          <p:cNvSpPr/>
          <p:nvPr/>
        </p:nvSpPr>
        <p:spPr>
          <a:xfrm>
            <a:off x="8442119" y="2198293"/>
            <a:ext cx="2843223" cy="137504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36" name="Rectangle 35">
            <a:extLst>
              <a:ext uri="{FF2B5EF4-FFF2-40B4-BE49-F238E27FC236}">
                <a16:creationId xmlns:a16="http://schemas.microsoft.com/office/drawing/2014/main" id="{332CEB7C-B6B2-42D9-8AB3-223F2759ACE8}"/>
              </a:ext>
            </a:extLst>
          </p:cNvPr>
          <p:cNvSpPr/>
          <p:nvPr/>
        </p:nvSpPr>
        <p:spPr>
          <a:xfrm>
            <a:off x="8438259" y="3761970"/>
            <a:ext cx="2843223" cy="137504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37" name="Rectangle 36">
            <a:extLst>
              <a:ext uri="{FF2B5EF4-FFF2-40B4-BE49-F238E27FC236}">
                <a16:creationId xmlns:a16="http://schemas.microsoft.com/office/drawing/2014/main" id="{8CF6A42D-AEA3-43A5-8106-7856EF092E62}"/>
              </a:ext>
            </a:extLst>
          </p:cNvPr>
          <p:cNvSpPr/>
          <p:nvPr/>
        </p:nvSpPr>
        <p:spPr>
          <a:xfrm flipH="1">
            <a:off x="4313154" y="780134"/>
            <a:ext cx="52943" cy="839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39" name="Rectangle 38">
            <a:extLst>
              <a:ext uri="{FF2B5EF4-FFF2-40B4-BE49-F238E27FC236}">
                <a16:creationId xmlns:a16="http://schemas.microsoft.com/office/drawing/2014/main" id="{5DB9D14B-CCF2-4563-8C4F-D517089BF3AE}"/>
              </a:ext>
            </a:extLst>
          </p:cNvPr>
          <p:cNvSpPr/>
          <p:nvPr/>
        </p:nvSpPr>
        <p:spPr>
          <a:xfrm flipH="1">
            <a:off x="4313154" y="3914331"/>
            <a:ext cx="52943" cy="839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41" name="Rectangle 40">
            <a:extLst>
              <a:ext uri="{FF2B5EF4-FFF2-40B4-BE49-F238E27FC236}">
                <a16:creationId xmlns:a16="http://schemas.microsoft.com/office/drawing/2014/main" id="{33B36899-5CF6-4971-B145-D50FD87EEC4E}"/>
              </a:ext>
            </a:extLst>
          </p:cNvPr>
          <p:cNvSpPr/>
          <p:nvPr/>
        </p:nvSpPr>
        <p:spPr>
          <a:xfrm flipH="1">
            <a:off x="8552734" y="780134"/>
            <a:ext cx="52943" cy="839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42" name="Rectangle 41">
            <a:extLst>
              <a:ext uri="{FF2B5EF4-FFF2-40B4-BE49-F238E27FC236}">
                <a16:creationId xmlns:a16="http://schemas.microsoft.com/office/drawing/2014/main" id="{6207F8D9-4EE4-4B66-AA55-551452CEE1F7}"/>
              </a:ext>
            </a:extLst>
          </p:cNvPr>
          <p:cNvSpPr/>
          <p:nvPr/>
        </p:nvSpPr>
        <p:spPr>
          <a:xfrm flipH="1">
            <a:off x="8541963" y="2390769"/>
            <a:ext cx="52943" cy="839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43" name="Rectangle 42">
            <a:extLst>
              <a:ext uri="{FF2B5EF4-FFF2-40B4-BE49-F238E27FC236}">
                <a16:creationId xmlns:a16="http://schemas.microsoft.com/office/drawing/2014/main" id="{57FC6283-B97B-4304-BD99-2A745EF27AE7}"/>
              </a:ext>
            </a:extLst>
          </p:cNvPr>
          <p:cNvSpPr/>
          <p:nvPr/>
        </p:nvSpPr>
        <p:spPr>
          <a:xfrm flipH="1">
            <a:off x="8541963" y="3911418"/>
            <a:ext cx="52943" cy="839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47" name="TextBox 46">
            <a:extLst>
              <a:ext uri="{FF2B5EF4-FFF2-40B4-BE49-F238E27FC236}">
                <a16:creationId xmlns:a16="http://schemas.microsoft.com/office/drawing/2014/main" id="{0E01F83C-5C36-412B-BF90-20C6452FC216}"/>
              </a:ext>
            </a:extLst>
          </p:cNvPr>
          <p:cNvSpPr txBox="1"/>
          <p:nvPr/>
        </p:nvSpPr>
        <p:spPr>
          <a:xfrm>
            <a:off x="4413390" y="778605"/>
            <a:ext cx="3667440" cy="246221"/>
          </a:xfrm>
          <a:prstGeom prst="rect">
            <a:avLst/>
          </a:prstGeom>
          <a:noFill/>
        </p:spPr>
        <p:txBody>
          <a:bodyPr wrap="square" lIns="0" tIns="0" rIns="0" bIns="0" numCol="1" rtlCol="0">
            <a:spAutoFit/>
          </a:bodyPr>
          <a:lstStyle/>
          <a:p>
            <a:r>
              <a:rPr lang="fr-FR" sz="1600" b="1" i="1" dirty="0">
                <a:solidFill>
                  <a:srgbClr val="FE8C5D"/>
                </a:solidFill>
                <a:effectLst>
                  <a:outerShdw blurRad="38100" dist="38100" dir="2700000" algn="tl">
                    <a:srgbClr val="000000">
                      <a:alpha val="43137"/>
                    </a:srgbClr>
                  </a:outerShdw>
                </a:effectLst>
                <a:latin typeface="Roboto" pitchFamily="2" charset="0"/>
                <a:ea typeface="Roboto" pitchFamily="2" charset="0"/>
              </a:rPr>
              <a:t>Introduction</a:t>
            </a:r>
            <a:endParaRPr lang="de-DE" altLang="de-DE" sz="1600" i="1" dirty="0">
              <a:effectLst>
                <a:outerShdw blurRad="38100" dist="38100" dir="2700000" algn="tl">
                  <a:srgbClr val="000000">
                    <a:alpha val="43137"/>
                  </a:srgbClr>
                </a:outerShdw>
              </a:effectLst>
              <a:latin typeface="+mj-lt"/>
            </a:endParaRPr>
          </a:p>
        </p:txBody>
      </p:sp>
      <p:sp>
        <p:nvSpPr>
          <p:cNvPr id="48" name="TextBox 47">
            <a:extLst>
              <a:ext uri="{FF2B5EF4-FFF2-40B4-BE49-F238E27FC236}">
                <a16:creationId xmlns:a16="http://schemas.microsoft.com/office/drawing/2014/main" id="{A5FD357E-222E-4E71-8ADA-88B02AF8FE51}"/>
              </a:ext>
            </a:extLst>
          </p:cNvPr>
          <p:cNvSpPr txBox="1"/>
          <p:nvPr/>
        </p:nvSpPr>
        <p:spPr>
          <a:xfrm>
            <a:off x="4413390" y="2411623"/>
            <a:ext cx="2724067" cy="492443"/>
          </a:xfrm>
          <a:prstGeom prst="rect">
            <a:avLst/>
          </a:prstGeom>
          <a:noFill/>
        </p:spPr>
        <p:txBody>
          <a:bodyPr wrap="square" lIns="0" tIns="0" rIns="0" bIns="0" numCol="1" rtlCol="0">
            <a:spAutoFit/>
          </a:bodyPr>
          <a:lstStyle/>
          <a:p>
            <a:r>
              <a:rPr lang="en-US" sz="1600" b="1" i="1" dirty="0">
                <a:solidFill>
                  <a:srgbClr val="8F5CD3"/>
                </a:solidFill>
                <a:effectLst>
                  <a:outerShdw blurRad="38100" dist="38100" dir="2700000" algn="tl">
                    <a:srgbClr val="000000">
                      <a:alpha val="43137"/>
                    </a:srgbClr>
                  </a:outerShdw>
                </a:effectLst>
                <a:latin typeface="Roboto" pitchFamily="2" charset="0"/>
                <a:ea typeface="Roboto" pitchFamily="2" charset="0"/>
              </a:rPr>
              <a:t>Méthodologie et </a:t>
            </a:r>
          </a:p>
          <a:p>
            <a:r>
              <a:rPr lang="en-US" sz="1600" b="1" i="1" dirty="0">
                <a:solidFill>
                  <a:srgbClr val="8F5CD3"/>
                </a:solidFill>
                <a:effectLst>
                  <a:outerShdw blurRad="38100" dist="38100" dir="2700000" algn="tl">
                    <a:srgbClr val="000000">
                      <a:alpha val="43137"/>
                    </a:srgbClr>
                  </a:outerShdw>
                </a:effectLst>
                <a:latin typeface="Roboto" pitchFamily="2" charset="0"/>
                <a:ea typeface="Roboto" pitchFamily="2" charset="0"/>
              </a:rPr>
              <a:t>Analyse de Besoin</a:t>
            </a:r>
          </a:p>
        </p:txBody>
      </p:sp>
      <p:sp>
        <p:nvSpPr>
          <p:cNvPr id="49" name="TextBox 48">
            <a:extLst>
              <a:ext uri="{FF2B5EF4-FFF2-40B4-BE49-F238E27FC236}">
                <a16:creationId xmlns:a16="http://schemas.microsoft.com/office/drawing/2014/main" id="{29B54E8A-7CAE-4063-BCD5-D40C2587BBA0}"/>
              </a:ext>
            </a:extLst>
          </p:cNvPr>
          <p:cNvSpPr txBox="1"/>
          <p:nvPr/>
        </p:nvSpPr>
        <p:spPr>
          <a:xfrm>
            <a:off x="4413390" y="3911417"/>
            <a:ext cx="3667440" cy="246221"/>
          </a:xfrm>
          <a:prstGeom prst="rect">
            <a:avLst/>
          </a:prstGeom>
          <a:noFill/>
        </p:spPr>
        <p:txBody>
          <a:bodyPr wrap="square" lIns="0" tIns="0" rIns="0" bIns="0" numCol="1" rtlCol="0">
            <a:spAutoFit/>
          </a:bodyPr>
          <a:lstStyle/>
          <a:p>
            <a:r>
              <a:rPr lang="fr-FR" sz="1600" b="1" i="1" dirty="0">
                <a:solidFill>
                  <a:schemeClr val="accent4">
                    <a:lumMod val="60000"/>
                    <a:lumOff val="40000"/>
                  </a:schemeClr>
                </a:solidFill>
                <a:effectLst>
                  <a:outerShdw blurRad="38100" dist="38100" dir="2700000" algn="tl">
                    <a:srgbClr val="000000">
                      <a:alpha val="43137"/>
                    </a:srgbClr>
                  </a:outerShdw>
                </a:effectLst>
                <a:latin typeface="Roboto" pitchFamily="2" charset="0"/>
                <a:ea typeface="Roboto" pitchFamily="2" charset="0"/>
              </a:rPr>
              <a:t>Réalisation</a:t>
            </a:r>
          </a:p>
        </p:txBody>
      </p:sp>
      <p:sp>
        <p:nvSpPr>
          <p:cNvPr id="50" name="TextBox 49">
            <a:extLst>
              <a:ext uri="{FF2B5EF4-FFF2-40B4-BE49-F238E27FC236}">
                <a16:creationId xmlns:a16="http://schemas.microsoft.com/office/drawing/2014/main" id="{F4E735F6-C236-4FBB-B7D8-E826951DDBF7}"/>
              </a:ext>
            </a:extLst>
          </p:cNvPr>
          <p:cNvSpPr txBox="1"/>
          <p:nvPr/>
        </p:nvSpPr>
        <p:spPr>
          <a:xfrm>
            <a:off x="8651543" y="778605"/>
            <a:ext cx="3667440" cy="492443"/>
          </a:xfrm>
          <a:prstGeom prst="rect">
            <a:avLst/>
          </a:prstGeom>
          <a:noFill/>
        </p:spPr>
        <p:txBody>
          <a:bodyPr wrap="square" lIns="0" tIns="0" rIns="0" bIns="0" numCol="1" rtlCol="0">
            <a:spAutoFit/>
          </a:bodyPr>
          <a:lstStyle/>
          <a:p>
            <a:r>
              <a:rPr lang="en-US" sz="1600" b="1" i="1" dirty="0">
                <a:solidFill>
                  <a:srgbClr val="FF579A"/>
                </a:solidFill>
                <a:effectLst>
                  <a:outerShdw blurRad="38100" dist="38100" dir="2700000" algn="tl">
                    <a:srgbClr val="000000">
                      <a:alpha val="43137"/>
                    </a:srgbClr>
                  </a:outerShdw>
                </a:effectLst>
                <a:latin typeface="Roboto" pitchFamily="2" charset="0"/>
                <a:ea typeface="Roboto" pitchFamily="2" charset="0"/>
              </a:rPr>
              <a:t>Problématique, solutions </a:t>
            </a:r>
          </a:p>
          <a:p>
            <a:r>
              <a:rPr lang="en-US" sz="1600" b="1" i="1" dirty="0">
                <a:solidFill>
                  <a:srgbClr val="FF579A"/>
                </a:solidFill>
                <a:effectLst>
                  <a:outerShdw blurRad="38100" dist="38100" dir="2700000" algn="tl">
                    <a:srgbClr val="000000">
                      <a:alpha val="43137"/>
                    </a:srgbClr>
                  </a:outerShdw>
                </a:effectLst>
                <a:latin typeface="Roboto" pitchFamily="2" charset="0"/>
                <a:ea typeface="Roboto" pitchFamily="2" charset="0"/>
              </a:rPr>
              <a:t>proposées et Objectifs</a:t>
            </a:r>
          </a:p>
        </p:txBody>
      </p:sp>
      <p:sp>
        <p:nvSpPr>
          <p:cNvPr id="51" name="TextBox 50">
            <a:extLst>
              <a:ext uri="{FF2B5EF4-FFF2-40B4-BE49-F238E27FC236}">
                <a16:creationId xmlns:a16="http://schemas.microsoft.com/office/drawing/2014/main" id="{A87DBF48-B63B-42D9-B871-069E99B81EA0}"/>
              </a:ext>
            </a:extLst>
          </p:cNvPr>
          <p:cNvSpPr txBox="1"/>
          <p:nvPr/>
        </p:nvSpPr>
        <p:spPr>
          <a:xfrm>
            <a:off x="8651543" y="2388763"/>
            <a:ext cx="3667440" cy="246221"/>
          </a:xfrm>
          <a:prstGeom prst="rect">
            <a:avLst/>
          </a:prstGeom>
          <a:noFill/>
        </p:spPr>
        <p:txBody>
          <a:bodyPr wrap="square" lIns="0" tIns="0" rIns="0" bIns="0" numCol="1" rtlCol="0">
            <a:spAutoFit/>
          </a:bodyPr>
          <a:lstStyle/>
          <a:p>
            <a:r>
              <a:rPr lang="fr-FR" sz="1600" b="1" i="1" dirty="0">
                <a:solidFill>
                  <a:srgbClr val="77CE61"/>
                </a:solidFill>
                <a:effectLst>
                  <a:outerShdw blurRad="38100" dist="38100" dir="2700000" algn="tl">
                    <a:srgbClr val="000000">
                      <a:alpha val="43137"/>
                    </a:srgbClr>
                  </a:outerShdw>
                </a:effectLst>
                <a:latin typeface="Roboto" pitchFamily="2" charset="0"/>
                <a:ea typeface="Roboto" pitchFamily="2" charset="0"/>
              </a:rPr>
              <a:t>Etude conceptuelle</a:t>
            </a:r>
          </a:p>
        </p:txBody>
      </p:sp>
      <p:sp>
        <p:nvSpPr>
          <p:cNvPr id="52" name="TextBox 51">
            <a:extLst>
              <a:ext uri="{FF2B5EF4-FFF2-40B4-BE49-F238E27FC236}">
                <a16:creationId xmlns:a16="http://schemas.microsoft.com/office/drawing/2014/main" id="{8488D68E-3CD2-4F1F-9653-5A9DCF05942A}"/>
              </a:ext>
            </a:extLst>
          </p:cNvPr>
          <p:cNvSpPr txBox="1"/>
          <p:nvPr/>
        </p:nvSpPr>
        <p:spPr>
          <a:xfrm>
            <a:off x="8651543" y="3911417"/>
            <a:ext cx="3667440" cy="492443"/>
          </a:xfrm>
          <a:prstGeom prst="rect">
            <a:avLst/>
          </a:prstGeom>
          <a:noFill/>
        </p:spPr>
        <p:txBody>
          <a:bodyPr wrap="square" lIns="0" tIns="0" rIns="0" bIns="0" numCol="1" rtlCol="0">
            <a:spAutoFit/>
          </a:bodyPr>
          <a:lstStyle/>
          <a:p>
            <a:r>
              <a:rPr lang="fr-FR" sz="1600" b="1" i="1" dirty="0">
                <a:solidFill>
                  <a:srgbClr val="0070C0"/>
                </a:solidFill>
                <a:effectLst>
                  <a:outerShdw blurRad="38100" dist="38100" dir="2700000" algn="tl">
                    <a:srgbClr val="000000">
                      <a:alpha val="43137"/>
                    </a:srgbClr>
                  </a:outerShdw>
                </a:effectLst>
                <a:latin typeface="Roboto" pitchFamily="2" charset="0"/>
                <a:ea typeface="Roboto" pitchFamily="2" charset="0"/>
              </a:rPr>
              <a:t>Conclusion et </a:t>
            </a:r>
          </a:p>
          <a:p>
            <a:r>
              <a:rPr lang="fr-FR" sz="1600" b="1" i="1" dirty="0">
                <a:solidFill>
                  <a:srgbClr val="0070C0"/>
                </a:solidFill>
                <a:effectLst>
                  <a:outerShdw blurRad="38100" dist="38100" dir="2700000" algn="tl">
                    <a:srgbClr val="000000">
                      <a:alpha val="43137"/>
                    </a:srgbClr>
                  </a:outerShdw>
                </a:effectLst>
                <a:latin typeface="Roboto" pitchFamily="2" charset="0"/>
                <a:ea typeface="Roboto" pitchFamily="2" charset="0"/>
              </a:rPr>
              <a:t>Perspectives</a:t>
            </a:r>
          </a:p>
        </p:txBody>
      </p:sp>
      <p:sp>
        <p:nvSpPr>
          <p:cNvPr id="53" name="Rectangle 52">
            <a:extLst>
              <a:ext uri="{FF2B5EF4-FFF2-40B4-BE49-F238E27FC236}">
                <a16:creationId xmlns:a16="http://schemas.microsoft.com/office/drawing/2014/main" id="{354A3932-FDFC-4655-80F5-39F383D2D682}"/>
              </a:ext>
            </a:extLst>
          </p:cNvPr>
          <p:cNvSpPr/>
          <p:nvPr/>
        </p:nvSpPr>
        <p:spPr>
          <a:xfrm flipH="1">
            <a:off x="4314580" y="2390769"/>
            <a:ext cx="52943" cy="839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Tree>
    <p:extLst>
      <p:ext uri="{BB962C8B-B14F-4D97-AF65-F5344CB8AC3E}">
        <p14:creationId xmlns:p14="http://schemas.microsoft.com/office/powerpoint/2010/main" val="287507402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1000"/>
                                        <p:tgtEl>
                                          <p:spTgt spid="44"/>
                                        </p:tgtEl>
                                      </p:cBhvr>
                                    </p:animEffect>
                                    <p:anim calcmode="lin" valueType="num">
                                      <p:cBhvr>
                                        <p:cTn id="8" dur="1000" fill="hold"/>
                                        <p:tgtEl>
                                          <p:spTgt spid="44"/>
                                        </p:tgtEl>
                                        <p:attrNameLst>
                                          <p:attrName>ppt_x</p:attrName>
                                        </p:attrNameLst>
                                      </p:cBhvr>
                                      <p:tavLst>
                                        <p:tav tm="0">
                                          <p:val>
                                            <p:strVal val="#ppt_x"/>
                                          </p:val>
                                        </p:tav>
                                        <p:tav tm="100000">
                                          <p:val>
                                            <p:strVal val="#ppt_x"/>
                                          </p:val>
                                        </p:tav>
                                      </p:tavLst>
                                    </p:anim>
                                    <p:anim calcmode="lin" valueType="num">
                                      <p:cBhvr>
                                        <p:cTn id="9" dur="1000" fill="hold"/>
                                        <p:tgtEl>
                                          <p:spTgt spid="44"/>
                                        </p:tgtEl>
                                        <p:attrNameLst>
                                          <p:attrName>ppt_y</p:attrName>
                                        </p:attrNameLst>
                                      </p:cBhvr>
                                      <p:tavLst>
                                        <p:tav tm="0">
                                          <p:val>
                                            <p:strVal val="#ppt_y+.1"/>
                                          </p:val>
                                        </p:tav>
                                        <p:tav tm="100000">
                                          <p:val>
                                            <p:strVal val="#ppt_y"/>
                                          </p:val>
                                        </p:tav>
                                      </p:tavLst>
                                    </p:anim>
                                  </p:childTnLst>
                                </p:cTn>
                              </p:par>
                              <p:par>
                                <p:cTn id="10" presetID="2" presetClass="entr" presetSubtype="8"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500" fill="hold"/>
                                        <p:tgtEl>
                                          <p:spTgt spid="20"/>
                                        </p:tgtEl>
                                        <p:attrNameLst>
                                          <p:attrName>ppt_x</p:attrName>
                                        </p:attrNameLst>
                                      </p:cBhvr>
                                      <p:tavLst>
                                        <p:tav tm="0">
                                          <p:val>
                                            <p:strVal val="0-#ppt_w/2"/>
                                          </p:val>
                                        </p:tav>
                                        <p:tav tm="100000">
                                          <p:val>
                                            <p:strVal val="#ppt_x"/>
                                          </p:val>
                                        </p:tav>
                                      </p:tavLst>
                                    </p:anim>
                                    <p:anim calcmode="lin" valueType="num">
                                      <p:cBhvr additive="base">
                                        <p:cTn id="13" dur="500" fill="hold"/>
                                        <p:tgtEl>
                                          <p:spTgt spid="20"/>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 calcmode="lin" valueType="num">
                                      <p:cBhvr additive="base">
                                        <p:cTn id="16" dur="500" fill="hold"/>
                                        <p:tgtEl>
                                          <p:spTgt spid="21"/>
                                        </p:tgtEl>
                                        <p:attrNameLst>
                                          <p:attrName>ppt_x</p:attrName>
                                        </p:attrNameLst>
                                      </p:cBhvr>
                                      <p:tavLst>
                                        <p:tav tm="0">
                                          <p:val>
                                            <p:strVal val="0-#ppt_w/2"/>
                                          </p:val>
                                        </p:tav>
                                        <p:tav tm="100000">
                                          <p:val>
                                            <p:strVal val="#ppt_x"/>
                                          </p:val>
                                        </p:tav>
                                      </p:tavLst>
                                    </p:anim>
                                    <p:anim calcmode="lin" valueType="num">
                                      <p:cBhvr additive="base">
                                        <p:cTn id="17" dur="500" fill="hold"/>
                                        <p:tgtEl>
                                          <p:spTgt spid="21"/>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 calcmode="lin" valueType="num">
                                      <p:cBhvr additive="base">
                                        <p:cTn id="20" dur="500" fill="hold"/>
                                        <p:tgtEl>
                                          <p:spTgt spid="23"/>
                                        </p:tgtEl>
                                        <p:attrNameLst>
                                          <p:attrName>ppt_x</p:attrName>
                                        </p:attrNameLst>
                                      </p:cBhvr>
                                      <p:tavLst>
                                        <p:tav tm="0">
                                          <p:val>
                                            <p:strVal val="0-#ppt_w/2"/>
                                          </p:val>
                                        </p:tav>
                                        <p:tav tm="100000">
                                          <p:val>
                                            <p:strVal val="#ppt_x"/>
                                          </p:val>
                                        </p:tav>
                                      </p:tavLst>
                                    </p:anim>
                                    <p:anim calcmode="lin" valueType="num">
                                      <p:cBhvr additive="base">
                                        <p:cTn id="21" dur="500" fill="hold"/>
                                        <p:tgtEl>
                                          <p:spTgt spid="23"/>
                                        </p:tgtEl>
                                        <p:attrNameLst>
                                          <p:attrName>ppt_y</p:attrName>
                                        </p:attrNameLst>
                                      </p:cBhvr>
                                      <p:tavLst>
                                        <p:tav tm="0">
                                          <p:val>
                                            <p:strVal val="#ppt_y"/>
                                          </p:val>
                                        </p:tav>
                                        <p:tav tm="100000">
                                          <p:val>
                                            <p:strVal val="#ppt_y"/>
                                          </p:val>
                                        </p:tav>
                                      </p:tavLst>
                                    </p:anim>
                                  </p:childTnLst>
                                </p:cTn>
                              </p:par>
                              <p:par>
                                <p:cTn id="22" presetID="2" presetClass="entr" presetSubtype="8" fill="hold" grpId="0" nodeType="withEffect">
                                  <p:stCondLst>
                                    <p:cond delay="0"/>
                                  </p:stCondLst>
                                  <p:childTnLst>
                                    <p:set>
                                      <p:cBhvr>
                                        <p:cTn id="23" dur="1" fill="hold">
                                          <p:stCondLst>
                                            <p:cond delay="0"/>
                                          </p:stCondLst>
                                        </p:cTn>
                                        <p:tgtEl>
                                          <p:spTgt spid="25"/>
                                        </p:tgtEl>
                                        <p:attrNameLst>
                                          <p:attrName>style.visibility</p:attrName>
                                        </p:attrNameLst>
                                      </p:cBhvr>
                                      <p:to>
                                        <p:strVal val="visible"/>
                                      </p:to>
                                    </p:set>
                                    <p:anim calcmode="lin" valueType="num">
                                      <p:cBhvr additive="base">
                                        <p:cTn id="24" dur="500" fill="hold"/>
                                        <p:tgtEl>
                                          <p:spTgt spid="25"/>
                                        </p:tgtEl>
                                        <p:attrNameLst>
                                          <p:attrName>ppt_x</p:attrName>
                                        </p:attrNameLst>
                                      </p:cBhvr>
                                      <p:tavLst>
                                        <p:tav tm="0">
                                          <p:val>
                                            <p:strVal val="0-#ppt_w/2"/>
                                          </p:val>
                                        </p:tav>
                                        <p:tav tm="100000">
                                          <p:val>
                                            <p:strVal val="#ppt_x"/>
                                          </p:val>
                                        </p:tav>
                                      </p:tavLst>
                                    </p:anim>
                                    <p:anim calcmode="lin" valueType="num">
                                      <p:cBhvr additive="base">
                                        <p:cTn id="25" dur="500" fill="hold"/>
                                        <p:tgtEl>
                                          <p:spTgt spid="25"/>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 calcmode="lin" valueType="num">
                                      <p:cBhvr additive="base">
                                        <p:cTn id="28" dur="500" fill="hold"/>
                                        <p:tgtEl>
                                          <p:spTgt spid="26"/>
                                        </p:tgtEl>
                                        <p:attrNameLst>
                                          <p:attrName>ppt_x</p:attrName>
                                        </p:attrNameLst>
                                      </p:cBhvr>
                                      <p:tavLst>
                                        <p:tav tm="0">
                                          <p:val>
                                            <p:strVal val="0-#ppt_w/2"/>
                                          </p:val>
                                        </p:tav>
                                        <p:tav tm="100000">
                                          <p:val>
                                            <p:strVal val="#ppt_x"/>
                                          </p:val>
                                        </p:tav>
                                      </p:tavLst>
                                    </p:anim>
                                    <p:anim calcmode="lin" valueType="num">
                                      <p:cBhvr additive="base">
                                        <p:cTn id="29" dur="500" fill="hold"/>
                                        <p:tgtEl>
                                          <p:spTgt spid="26"/>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 calcmode="lin" valueType="num">
                                      <p:cBhvr additive="base">
                                        <p:cTn id="32" dur="500" fill="hold"/>
                                        <p:tgtEl>
                                          <p:spTgt spid="28"/>
                                        </p:tgtEl>
                                        <p:attrNameLst>
                                          <p:attrName>ppt_x</p:attrName>
                                        </p:attrNameLst>
                                      </p:cBhvr>
                                      <p:tavLst>
                                        <p:tav tm="0">
                                          <p:val>
                                            <p:strVal val="0-#ppt_w/2"/>
                                          </p:val>
                                        </p:tav>
                                        <p:tav tm="100000">
                                          <p:val>
                                            <p:strVal val="#ppt_x"/>
                                          </p:val>
                                        </p:tav>
                                      </p:tavLst>
                                    </p:anim>
                                    <p:anim calcmode="lin" valueType="num">
                                      <p:cBhvr additive="base">
                                        <p:cTn id="33" dur="500" fill="hold"/>
                                        <p:tgtEl>
                                          <p:spTgt spid="28"/>
                                        </p:tgtEl>
                                        <p:attrNameLst>
                                          <p:attrName>ppt_y</p:attrName>
                                        </p:attrNameLst>
                                      </p:cBhvr>
                                      <p:tavLst>
                                        <p:tav tm="0">
                                          <p:val>
                                            <p:strVal val="#ppt_y"/>
                                          </p:val>
                                        </p:tav>
                                        <p:tav tm="100000">
                                          <p:val>
                                            <p:strVal val="#ppt_y"/>
                                          </p:val>
                                        </p:tav>
                                      </p:tavLst>
                                    </p:anim>
                                  </p:childTnLst>
                                </p:cTn>
                              </p:par>
                              <p:par>
                                <p:cTn id="34" presetID="2" presetClass="entr" presetSubtype="8" fill="hold" grpId="0" nodeType="withEffect">
                                  <p:stCondLst>
                                    <p:cond delay="0"/>
                                  </p:stCondLst>
                                  <p:childTnLst>
                                    <p:set>
                                      <p:cBhvr>
                                        <p:cTn id="35" dur="1" fill="hold">
                                          <p:stCondLst>
                                            <p:cond delay="0"/>
                                          </p:stCondLst>
                                        </p:cTn>
                                        <p:tgtEl>
                                          <p:spTgt spid="37"/>
                                        </p:tgtEl>
                                        <p:attrNameLst>
                                          <p:attrName>style.visibility</p:attrName>
                                        </p:attrNameLst>
                                      </p:cBhvr>
                                      <p:to>
                                        <p:strVal val="visible"/>
                                      </p:to>
                                    </p:set>
                                    <p:anim calcmode="lin" valueType="num">
                                      <p:cBhvr additive="base">
                                        <p:cTn id="36" dur="500" fill="hold"/>
                                        <p:tgtEl>
                                          <p:spTgt spid="37"/>
                                        </p:tgtEl>
                                        <p:attrNameLst>
                                          <p:attrName>ppt_x</p:attrName>
                                        </p:attrNameLst>
                                      </p:cBhvr>
                                      <p:tavLst>
                                        <p:tav tm="0">
                                          <p:val>
                                            <p:strVal val="0-#ppt_w/2"/>
                                          </p:val>
                                        </p:tav>
                                        <p:tav tm="100000">
                                          <p:val>
                                            <p:strVal val="#ppt_x"/>
                                          </p:val>
                                        </p:tav>
                                      </p:tavLst>
                                    </p:anim>
                                    <p:anim calcmode="lin" valueType="num">
                                      <p:cBhvr additive="base">
                                        <p:cTn id="37" dur="500" fill="hold"/>
                                        <p:tgtEl>
                                          <p:spTgt spid="37"/>
                                        </p:tgtEl>
                                        <p:attrNameLst>
                                          <p:attrName>ppt_y</p:attrName>
                                        </p:attrNameLst>
                                      </p:cBhvr>
                                      <p:tavLst>
                                        <p:tav tm="0">
                                          <p:val>
                                            <p:strVal val="#ppt_y"/>
                                          </p:val>
                                        </p:tav>
                                        <p:tav tm="100000">
                                          <p:val>
                                            <p:strVal val="#ppt_y"/>
                                          </p:val>
                                        </p:tav>
                                      </p:tavLst>
                                    </p:anim>
                                  </p:childTnLst>
                                </p:cTn>
                              </p:par>
                              <p:par>
                                <p:cTn id="38" presetID="2" presetClass="entr" presetSubtype="8" fill="hold" grpId="0" nodeType="withEffect">
                                  <p:stCondLst>
                                    <p:cond delay="0"/>
                                  </p:stCondLst>
                                  <p:childTnLst>
                                    <p:set>
                                      <p:cBhvr>
                                        <p:cTn id="39" dur="1" fill="hold">
                                          <p:stCondLst>
                                            <p:cond delay="0"/>
                                          </p:stCondLst>
                                        </p:cTn>
                                        <p:tgtEl>
                                          <p:spTgt spid="39"/>
                                        </p:tgtEl>
                                        <p:attrNameLst>
                                          <p:attrName>style.visibility</p:attrName>
                                        </p:attrNameLst>
                                      </p:cBhvr>
                                      <p:to>
                                        <p:strVal val="visible"/>
                                      </p:to>
                                    </p:set>
                                    <p:anim calcmode="lin" valueType="num">
                                      <p:cBhvr additive="base">
                                        <p:cTn id="40" dur="500" fill="hold"/>
                                        <p:tgtEl>
                                          <p:spTgt spid="39"/>
                                        </p:tgtEl>
                                        <p:attrNameLst>
                                          <p:attrName>ppt_x</p:attrName>
                                        </p:attrNameLst>
                                      </p:cBhvr>
                                      <p:tavLst>
                                        <p:tav tm="0">
                                          <p:val>
                                            <p:strVal val="0-#ppt_w/2"/>
                                          </p:val>
                                        </p:tav>
                                        <p:tav tm="100000">
                                          <p:val>
                                            <p:strVal val="#ppt_x"/>
                                          </p:val>
                                        </p:tav>
                                      </p:tavLst>
                                    </p:anim>
                                    <p:anim calcmode="lin" valueType="num">
                                      <p:cBhvr additive="base">
                                        <p:cTn id="41" dur="500" fill="hold"/>
                                        <p:tgtEl>
                                          <p:spTgt spid="39"/>
                                        </p:tgtEl>
                                        <p:attrNameLst>
                                          <p:attrName>ppt_y</p:attrName>
                                        </p:attrNameLst>
                                      </p:cBhvr>
                                      <p:tavLst>
                                        <p:tav tm="0">
                                          <p:val>
                                            <p:strVal val="#ppt_y"/>
                                          </p:val>
                                        </p:tav>
                                        <p:tav tm="100000">
                                          <p:val>
                                            <p:strVal val="#ppt_y"/>
                                          </p:val>
                                        </p:tav>
                                      </p:tavLst>
                                    </p:anim>
                                  </p:childTnLst>
                                </p:cTn>
                              </p:par>
                              <p:par>
                                <p:cTn id="42" presetID="2" presetClass="entr" presetSubtype="8" fill="hold" grpId="0" nodeType="withEffect">
                                  <p:stCondLst>
                                    <p:cond delay="0"/>
                                  </p:stCondLst>
                                  <p:childTnLst>
                                    <p:set>
                                      <p:cBhvr>
                                        <p:cTn id="43" dur="1" fill="hold">
                                          <p:stCondLst>
                                            <p:cond delay="0"/>
                                          </p:stCondLst>
                                        </p:cTn>
                                        <p:tgtEl>
                                          <p:spTgt spid="41"/>
                                        </p:tgtEl>
                                        <p:attrNameLst>
                                          <p:attrName>style.visibility</p:attrName>
                                        </p:attrNameLst>
                                      </p:cBhvr>
                                      <p:to>
                                        <p:strVal val="visible"/>
                                      </p:to>
                                    </p:set>
                                    <p:anim calcmode="lin" valueType="num">
                                      <p:cBhvr additive="base">
                                        <p:cTn id="44" dur="500" fill="hold"/>
                                        <p:tgtEl>
                                          <p:spTgt spid="41"/>
                                        </p:tgtEl>
                                        <p:attrNameLst>
                                          <p:attrName>ppt_x</p:attrName>
                                        </p:attrNameLst>
                                      </p:cBhvr>
                                      <p:tavLst>
                                        <p:tav tm="0">
                                          <p:val>
                                            <p:strVal val="0-#ppt_w/2"/>
                                          </p:val>
                                        </p:tav>
                                        <p:tav tm="100000">
                                          <p:val>
                                            <p:strVal val="#ppt_x"/>
                                          </p:val>
                                        </p:tav>
                                      </p:tavLst>
                                    </p:anim>
                                    <p:anim calcmode="lin" valueType="num">
                                      <p:cBhvr additive="base">
                                        <p:cTn id="45" dur="500" fill="hold"/>
                                        <p:tgtEl>
                                          <p:spTgt spid="41"/>
                                        </p:tgtEl>
                                        <p:attrNameLst>
                                          <p:attrName>ppt_y</p:attrName>
                                        </p:attrNameLst>
                                      </p:cBhvr>
                                      <p:tavLst>
                                        <p:tav tm="0">
                                          <p:val>
                                            <p:strVal val="#ppt_y"/>
                                          </p:val>
                                        </p:tav>
                                        <p:tav tm="100000">
                                          <p:val>
                                            <p:strVal val="#ppt_y"/>
                                          </p:val>
                                        </p:tav>
                                      </p:tavLst>
                                    </p:anim>
                                  </p:childTnLst>
                                </p:cTn>
                              </p:par>
                              <p:par>
                                <p:cTn id="46" presetID="2" presetClass="entr" presetSubtype="8" fill="hold" grpId="0" nodeType="withEffect">
                                  <p:stCondLst>
                                    <p:cond delay="0"/>
                                  </p:stCondLst>
                                  <p:childTnLst>
                                    <p:set>
                                      <p:cBhvr>
                                        <p:cTn id="47" dur="1" fill="hold">
                                          <p:stCondLst>
                                            <p:cond delay="0"/>
                                          </p:stCondLst>
                                        </p:cTn>
                                        <p:tgtEl>
                                          <p:spTgt spid="42"/>
                                        </p:tgtEl>
                                        <p:attrNameLst>
                                          <p:attrName>style.visibility</p:attrName>
                                        </p:attrNameLst>
                                      </p:cBhvr>
                                      <p:to>
                                        <p:strVal val="visible"/>
                                      </p:to>
                                    </p:set>
                                    <p:anim calcmode="lin" valueType="num">
                                      <p:cBhvr additive="base">
                                        <p:cTn id="48" dur="500" fill="hold"/>
                                        <p:tgtEl>
                                          <p:spTgt spid="42"/>
                                        </p:tgtEl>
                                        <p:attrNameLst>
                                          <p:attrName>ppt_x</p:attrName>
                                        </p:attrNameLst>
                                      </p:cBhvr>
                                      <p:tavLst>
                                        <p:tav tm="0">
                                          <p:val>
                                            <p:strVal val="0-#ppt_w/2"/>
                                          </p:val>
                                        </p:tav>
                                        <p:tav tm="100000">
                                          <p:val>
                                            <p:strVal val="#ppt_x"/>
                                          </p:val>
                                        </p:tav>
                                      </p:tavLst>
                                    </p:anim>
                                    <p:anim calcmode="lin" valueType="num">
                                      <p:cBhvr additive="base">
                                        <p:cTn id="49" dur="500" fill="hold"/>
                                        <p:tgtEl>
                                          <p:spTgt spid="42"/>
                                        </p:tgtEl>
                                        <p:attrNameLst>
                                          <p:attrName>ppt_y</p:attrName>
                                        </p:attrNameLst>
                                      </p:cBhvr>
                                      <p:tavLst>
                                        <p:tav tm="0">
                                          <p:val>
                                            <p:strVal val="#ppt_y"/>
                                          </p:val>
                                        </p:tav>
                                        <p:tav tm="100000">
                                          <p:val>
                                            <p:strVal val="#ppt_y"/>
                                          </p:val>
                                        </p:tav>
                                      </p:tavLst>
                                    </p:anim>
                                  </p:childTnLst>
                                </p:cTn>
                              </p:par>
                              <p:par>
                                <p:cTn id="50" presetID="2" presetClass="entr" presetSubtype="8"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anim calcmode="lin" valueType="num">
                                      <p:cBhvr additive="base">
                                        <p:cTn id="52" dur="500" fill="hold"/>
                                        <p:tgtEl>
                                          <p:spTgt spid="43"/>
                                        </p:tgtEl>
                                        <p:attrNameLst>
                                          <p:attrName>ppt_x</p:attrName>
                                        </p:attrNameLst>
                                      </p:cBhvr>
                                      <p:tavLst>
                                        <p:tav tm="0">
                                          <p:val>
                                            <p:strVal val="0-#ppt_w/2"/>
                                          </p:val>
                                        </p:tav>
                                        <p:tav tm="100000">
                                          <p:val>
                                            <p:strVal val="#ppt_x"/>
                                          </p:val>
                                        </p:tav>
                                      </p:tavLst>
                                    </p:anim>
                                    <p:anim calcmode="lin" valueType="num">
                                      <p:cBhvr additive="base">
                                        <p:cTn id="53" dur="500" fill="hold"/>
                                        <p:tgtEl>
                                          <p:spTgt spid="43"/>
                                        </p:tgtEl>
                                        <p:attrNameLst>
                                          <p:attrName>ppt_y</p:attrName>
                                        </p:attrNameLst>
                                      </p:cBhvr>
                                      <p:tavLst>
                                        <p:tav tm="0">
                                          <p:val>
                                            <p:strVal val="#ppt_y"/>
                                          </p:val>
                                        </p:tav>
                                        <p:tav tm="100000">
                                          <p:val>
                                            <p:strVal val="#ppt_y"/>
                                          </p:val>
                                        </p:tav>
                                      </p:tavLst>
                                    </p:anim>
                                  </p:childTnLst>
                                </p:cTn>
                              </p:par>
                              <p:par>
                                <p:cTn id="54" presetID="10" presetClass="entr" presetSubtype="0" fill="hold" grpId="0" nodeType="withEffect">
                                  <p:stCondLst>
                                    <p:cond delay="500"/>
                                  </p:stCondLst>
                                  <p:childTnLst>
                                    <p:set>
                                      <p:cBhvr>
                                        <p:cTn id="55" dur="1" fill="hold">
                                          <p:stCondLst>
                                            <p:cond delay="0"/>
                                          </p:stCondLst>
                                        </p:cTn>
                                        <p:tgtEl>
                                          <p:spTgt spid="47"/>
                                        </p:tgtEl>
                                        <p:attrNameLst>
                                          <p:attrName>style.visibility</p:attrName>
                                        </p:attrNameLst>
                                      </p:cBhvr>
                                      <p:to>
                                        <p:strVal val="visible"/>
                                      </p:to>
                                    </p:set>
                                    <p:animEffect transition="in" filter="fade">
                                      <p:cBhvr>
                                        <p:cTn id="56" dur="500"/>
                                        <p:tgtEl>
                                          <p:spTgt spid="47"/>
                                        </p:tgtEl>
                                      </p:cBhvr>
                                    </p:animEffect>
                                  </p:childTnLst>
                                </p:cTn>
                              </p:par>
                              <p:par>
                                <p:cTn id="57" presetID="10" presetClass="entr" presetSubtype="0" fill="hold" grpId="0" nodeType="withEffect">
                                  <p:stCondLst>
                                    <p:cond delay="500"/>
                                  </p:stCondLst>
                                  <p:childTnLst>
                                    <p:set>
                                      <p:cBhvr>
                                        <p:cTn id="58" dur="1" fill="hold">
                                          <p:stCondLst>
                                            <p:cond delay="0"/>
                                          </p:stCondLst>
                                        </p:cTn>
                                        <p:tgtEl>
                                          <p:spTgt spid="48"/>
                                        </p:tgtEl>
                                        <p:attrNameLst>
                                          <p:attrName>style.visibility</p:attrName>
                                        </p:attrNameLst>
                                      </p:cBhvr>
                                      <p:to>
                                        <p:strVal val="visible"/>
                                      </p:to>
                                    </p:set>
                                    <p:animEffect transition="in" filter="fade">
                                      <p:cBhvr>
                                        <p:cTn id="59" dur="500"/>
                                        <p:tgtEl>
                                          <p:spTgt spid="48"/>
                                        </p:tgtEl>
                                      </p:cBhvr>
                                    </p:animEffect>
                                  </p:childTnLst>
                                </p:cTn>
                              </p:par>
                              <p:par>
                                <p:cTn id="60" presetID="10" presetClass="entr" presetSubtype="0" fill="hold" grpId="0" nodeType="withEffect">
                                  <p:stCondLst>
                                    <p:cond delay="500"/>
                                  </p:stCondLst>
                                  <p:childTnLst>
                                    <p:set>
                                      <p:cBhvr>
                                        <p:cTn id="61" dur="1" fill="hold">
                                          <p:stCondLst>
                                            <p:cond delay="0"/>
                                          </p:stCondLst>
                                        </p:cTn>
                                        <p:tgtEl>
                                          <p:spTgt spid="49"/>
                                        </p:tgtEl>
                                        <p:attrNameLst>
                                          <p:attrName>style.visibility</p:attrName>
                                        </p:attrNameLst>
                                      </p:cBhvr>
                                      <p:to>
                                        <p:strVal val="visible"/>
                                      </p:to>
                                    </p:set>
                                    <p:animEffect transition="in" filter="fade">
                                      <p:cBhvr>
                                        <p:cTn id="62" dur="500"/>
                                        <p:tgtEl>
                                          <p:spTgt spid="49"/>
                                        </p:tgtEl>
                                      </p:cBhvr>
                                    </p:animEffect>
                                  </p:childTnLst>
                                </p:cTn>
                              </p:par>
                              <p:par>
                                <p:cTn id="63" presetID="10" presetClass="entr" presetSubtype="0" fill="hold" grpId="0" nodeType="withEffect">
                                  <p:stCondLst>
                                    <p:cond delay="500"/>
                                  </p:stCondLst>
                                  <p:childTnLst>
                                    <p:set>
                                      <p:cBhvr>
                                        <p:cTn id="64" dur="1" fill="hold">
                                          <p:stCondLst>
                                            <p:cond delay="0"/>
                                          </p:stCondLst>
                                        </p:cTn>
                                        <p:tgtEl>
                                          <p:spTgt spid="50"/>
                                        </p:tgtEl>
                                        <p:attrNameLst>
                                          <p:attrName>style.visibility</p:attrName>
                                        </p:attrNameLst>
                                      </p:cBhvr>
                                      <p:to>
                                        <p:strVal val="visible"/>
                                      </p:to>
                                    </p:set>
                                    <p:animEffect transition="in" filter="fade">
                                      <p:cBhvr>
                                        <p:cTn id="65" dur="500"/>
                                        <p:tgtEl>
                                          <p:spTgt spid="50"/>
                                        </p:tgtEl>
                                      </p:cBhvr>
                                    </p:animEffect>
                                  </p:childTnLst>
                                </p:cTn>
                              </p:par>
                              <p:par>
                                <p:cTn id="66" presetID="10" presetClass="entr" presetSubtype="0" fill="hold" grpId="0" nodeType="withEffect">
                                  <p:stCondLst>
                                    <p:cond delay="500"/>
                                  </p:stCondLst>
                                  <p:childTnLst>
                                    <p:set>
                                      <p:cBhvr>
                                        <p:cTn id="67" dur="1" fill="hold">
                                          <p:stCondLst>
                                            <p:cond delay="0"/>
                                          </p:stCondLst>
                                        </p:cTn>
                                        <p:tgtEl>
                                          <p:spTgt spid="51"/>
                                        </p:tgtEl>
                                        <p:attrNameLst>
                                          <p:attrName>style.visibility</p:attrName>
                                        </p:attrNameLst>
                                      </p:cBhvr>
                                      <p:to>
                                        <p:strVal val="visible"/>
                                      </p:to>
                                    </p:set>
                                    <p:animEffect transition="in" filter="fade">
                                      <p:cBhvr>
                                        <p:cTn id="68" dur="500"/>
                                        <p:tgtEl>
                                          <p:spTgt spid="51"/>
                                        </p:tgtEl>
                                      </p:cBhvr>
                                    </p:animEffect>
                                  </p:childTnLst>
                                </p:cTn>
                              </p:par>
                              <p:par>
                                <p:cTn id="69" presetID="10" presetClass="entr" presetSubtype="0" fill="hold" grpId="0" nodeType="withEffect">
                                  <p:stCondLst>
                                    <p:cond delay="500"/>
                                  </p:stCondLst>
                                  <p:childTnLst>
                                    <p:set>
                                      <p:cBhvr>
                                        <p:cTn id="70" dur="1" fill="hold">
                                          <p:stCondLst>
                                            <p:cond delay="0"/>
                                          </p:stCondLst>
                                        </p:cTn>
                                        <p:tgtEl>
                                          <p:spTgt spid="52"/>
                                        </p:tgtEl>
                                        <p:attrNameLst>
                                          <p:attrName>style.visibility</p:attrName>
                                        </p:attrNameLst>
                                      </p:cBhvr>
                                      <p:to>
                                        <p:strVal val="visible"/>
                                      </p:to>
                                    </p:set>
                                    <p:animEffect transition="in" filter="fade">
                                      <p:cBhvr>
                                        <p:cTn id="71" dur="500"/>
                                        <p:tgtEl>
                                          <p:spTgt spid="52"/>
                                        </p:tgtEl>
                                      </p:cBhvr>
                                    </p:animEffect>
                                  </p:childTnLst>
                                </p:cTn>
                              </p:par>
                              <p:par>
                                <p:cTn id="72" presetID="2" presetClass="entr" presetSubtype="8" fill="hold" grpId="0" nodeType="withEffect">
                                  <p:stCondLst>
                                    <p:cond delay="0"/>
                                  </p:stCondLst>
                                  <p:childTnLst>
                                    <p:set>
                                      <p:cBhvr>
                                        <p:cTn id="73" dur="1" fill="hold">
                                          <p:stCondLst>
                                            <p:cond delay="0"/>
                                          </p:stCondLst>
                                        </p:cTn>
                                        <p:tgtEl>
                                          <p:spTgt spid="53"/>
                                        </p:tgtEl>
                                        <p:attrNameLst>
                                          <p:attrName>style.visibility</p:attrName>
                                        </p:attrNameLst>
                                      </p:cBhvr>
                                      <p:to>
                                        <p:strVal val="visible"/>
                                      </p:to>
                                    </p:set>
                                    <p:anim calcmode="lin" valueType="num">
                                      <p:cBhvr additive="base">
                                        <p:cTn id="74" dur="500" fill="hold"/>
                                        <p:tgtEl>
                                          <p:spTgt spid="53"/>
                                        </p:tgtEl>
                                        <p:attrNameLst>
                                          <p:attrName>ppt_x</p:attrName>
                                        </p:attrNameLst>
                                      </p:cBhvr>
                                      <p:tavLst>
                                        <p:tav tm="0">
                                          <p:val>
                                            <p:strVal val="0-#ppt_w/2"/>
                                          </p:val>
                                        </p:tav>
                                        <p:tav tm="100000">
                                          <p:val>
                                            <p:strVal val="#ppt_x"/>
                                          </p:val>
                                        </p:tav>
                                      </p:tavLst>
                                    </p:anim>
                                    <p:anim calcmode="lin" valueType="num">
                                      <p:cBhvr additive="base">
                                        <p:cTn id="75" dur="500" fill="hold"/>
                                        <p:tgtEl>
                                          <p:spTgt spid="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3" grpId="0"/>
      <p:bldP spid="25" grpId="0"/>
      <p:bldP spid="26" grpId="0"/>
      <p:bldP spid="28" grpId="0"/>
      <p:bldP spid="37" grpId="0" animBg="1"/>
      <p:bldP spid="39" grpId="0" animBg="1"/>
      <p:bldP spid="41" grpId="0" animBg="1"/>
      <p:bldP spid="42" grpId="0" animBg="1"/>
      <p:bldP spid="43" grpId="0" animBg="1"/>
      <p:bldP spid="47" grpId="0"/>
      <p:bldP spid="48" grpId="0"/>
      <p:bldP spid="49" grpId="0"/>
      <p:bldP spid="50" grpId="0"/>
      <p:bldP spid="51" grpId="0"/>
      <p:bldP spid="52" grpId="0"/>
      <p:bldP spid="5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18B07EE-A45E-4446-A223-5B883B13E13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a:extLst>
              <a:ext uri="{FF2B5EF4-FFF2-40B4-BE49-F238E27FC236}">
                <a16:creationId xmlns:a16="http://schemas.microsoft.com/office/drawing/2014/main" id="{CA8813BB-D448-4521-9F33-B74EFDC2BCD9}"/>
              </a:ext>
            </a:extLst>
          </p:cNvPr>
          <p:cNvSpPr/>
          <p:nvPr/>
        </p:nvSpPr>
        <p:spPr>
          <a:xfrm>
            <a:off x="5393227" y="2166484"/>
            <a:ext cx="5524168" cy="259805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2" name="Rectangle 1">
            <a:extLst>
              <a:ext uri="{FF2B5EF4-FFF2-40B4-BE49-F238E27FC236}">
                <a16:creationId xmlns:a16="http://schemas.microsoft.com/office/drawing/2014/main" id="{226F08B3-37B7-4D5C-80DD-85ECEA54CD23}"/>
              </a:ext>
            </a:extLst>
          </p:cNvPr>
          <p:cNvSpPr/>
          <p:nvPr/>
        </p:nvSpPr>
        <p:spPr>
          <a:xfrm>
            <a:off x="5500914" y="1236087"/>
            <a:ext cx="6691086" cy="40333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8" name="TextBox 7">
            <a:extLst>
              <a:ext uri="{FF2B5EF4-FFF2-40B4-BE49-F238E27FC236}">
                <a16:creationId xmlns:a16="http://schemas.microsoft.com/office/drawing/2014/main" id="{DF7833B0-BA71-4453-853F-974C3C7535A2}"/>
              </a:ext>
            </a:extLst>
          </p:cNvPr>
          <p:cNvSpPr txBox="1"/>
          <p:nvPr/>
        </p:nvSpPr>
        <p:spPr>
          <a:xfrm>
            <a:off x="5778620" y="2166484"/>
            <a:ext cx="5420703" cy="738664"/>
          </a:xfrm>
          <a:prstGeom prst="rect">
            <a:avLst/>
          </a:prstGeom>
          <a:noFill/>
        </p:spPr>
        <p:txBody>
          <a:bodyPr wrap="square" lIns="0" tIns="0" rIns="0" bIns="0" numCol="1" rtlCol="0">
            <a:spAutoFit/>
          </a:bodyPr>
          <a:lstStyle/>
          <a:p>
            <a:r>
              <a:rPr lang="fr-FR" sz="4800" b="1" i="1" dirty="0">
                <a:solidFill>
                  <a:srgbClr val="FE8C5D"/>
                </a:solidFill>
                <a:effectLst>
                  <a:outerShdw blurRad="38100" dist="38100" dir="2700000" algn="tl">
                    <a:srgbClr val="000000">
                      <a:alpha val="43137"/>
                    </a:srgbClr>
                  </a:outerShdw>
                </a:effectLst>
                <a:latin typeface="Roboto" pitchFamily="2" charset="0"/>
                <a:ea typeface="Roboto" pitchFamily="2" charset="0"/>
              </a:rPr>
              <a:t>Introduction</a:t>
            </a:r>
            <a:endParaRPr lang="de-DE" altLang="de-DE" sz="4800" i="1" dirty="0">
              <a:effectLst>
                <a:outerShdw blurRad="38100" dist="38100" dir="2700000" algn="tl">
                  <a:srgbClr val="000000">
                    <a:alpha val="43137"/>
                  </a:srgbClr>
                </a:outerShdw>
              </a:effectLst>
              <a:latin typeface="+mj-lt"/>
            </a:endParaRPr>
          </a:p>
        </p:txBody>
      </p:sp>
      <p:sp>
        <p:nvSpPr>
          <p:cNvPr id="11" name="ZoneTexte 10">
            <a:extLst>
              <a:ext uri="{FF2B5EF4-FFF2-40B4-BE49-F238E27FC236}">
                <a16:creationId xmlns:a16="http://schemas.microsoft.com/office/drawing/2014/main" id="{874A49F3-0002-4629-8953-27B21388CF24}"/>
              </a:ext>
            </a:extLst>
          </p:cNvPr>
          <p:cNvSpPr txBox="1"/>
          <p:nvPr/>
        </p:nvSpPr>
        <p:spPr>
          <a:xfrm>
            <a:off x="1983887" y="1543868"/>
            <a:ext cx="3794733" cy="3770263"/>
          </a:xfrm>
          <a:prstGeom prst="rect">
            <a:avLst/>
          </a:prstGeom>
          <a:noFill/>
        </p:spPr>
        <p:txBody>
          <a:bodyPr wrap="square">
            <a:spAutoFit/>
          </a:bodyPr>
          <a:lstStyle/>
          <a:p>
            <a:r>
              <a:rPr lang="en-US" sz="23900" dirty="0">
                <a:ln w="15875">
                  <a:solidFill>
                    <a:schemeClr val="bg1"/>
                  </a:solidFill>
                </a:ln>
                <a:noFill/>
                <a:latin typeface="Archivo Black" panose="020B0A03020202020B04" pitchFamily="34" charset="0"/>
              </a:rPr>
              <a:t>01</a:t>
            </a:r>
            <a:endParaRPr lang="en-US" sz="23900" dirty="0"/>
          </a:p>
        </p:txBody>
      </p:sp>
      <p:sp>
        <p:nvSpPr>
          <p:cNvPr id="12" name="Google Shape;273;p6">
            <a:extLst>
              <a:ext uri="{FF2B5EF4-FFF2-40B4-BE49-F238E27FC236}">
                <a16:creationId xmlns:a16="http://schemas.microsoft.com/office/drawing/2014/main" id="{41954156-23FF-48EE-B8B1-D0B6AB02A17D}"/>
              </a:ext>
            </a:extLst>
          </p:cNvPr>
          <p:cNvSpPr txBox="1"/>
          <p:nvPr/>
        </p:nvSpPr>
        <p:spPr>
          <a:xfrm>
            <a:off x="11476878" y="6334780"/>
            <a:ext cx="315369"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1</a:t>
            </a:r>
            <a:endParaRPr sz="2800" b="1" dirty="0">
              <a:solidFill>
                <a:schemeClr val="lt1"/>
              </a:solidFill>
              <a:latin typeface="Arial"/>
              <a:ea typeface="Arial"/>
              <a:cs typeface="Arial"/>
              <a:sym typeface="Arial"/>
            </a:endParaRPr>
          </a:p>
        </p:txBody>
      </p:sp>
    </p:spTree>
    <p:custDataLst>
      <p:tags r:id="rId1"/>
    </p:custDataLst>
    <p:extLst>
      <p:ext uri="{BB962C8B-B14F-4D97-AF65-F5344CB8AC3E}">
        <p14:creationId xmlns:p14="http://schemas.microsoft.com/office/powerpoint/2010/main" val="1577662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50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18B07EE-A45E-4446-A223-5B883B13E13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Box 7">
            <a:extLst>
              <a:ext uri="{FF2B5EF4-FFF2-40B4-BE49-F238E27FC236}">
                <a16:creationId xmlns:a16="http://schemas.microsoft.com/office/drawing/2014/main" id="{DF7833B0-BA71-4453-853F-974C3C7535A2}"/>
              </a:ext>
            </a:extLst>
          </p:cNvPr>
          <p:cNvSpPr txBox="1"/>
          <p:nvPr/>
        </p:nvSpPr>
        <p:spPr>
          <a:xfrm>
            <a:off x="1330452" y="61014"/>
            <a:ext cx="5420703" cy="307777"/>
          </a:xfrm>
          <a:prstGeom prst="rect">
            <a:avLst/>
          </a:prstGeom>
          <a:noFill/>
        </p:spPr>
        <p:txBody>
          <a:bodyPr wrap="square" lIns="0" tIns="0" rIns="0" bIns="0" numCol="1" rtlCol="0">
            <a:spAutoFit/>
          </a:bodyPr>
          <a:lstStyle/>
          <a:p>
            <a:r>
              <a:rPr lang="fr-FR" sz="2000" b="1" i="1" dirty="0">
                <a:solidFill>
                  <a:srgbClr val="FE8C5D"/>
                </a:solidFill>
                <a:effectLst>
                  <a:outerShdw blurRad="38100" dist="38100" dir="2700000" algn="tl">
                    <a:srgbClr val="000000">
                      <a:alpha val="43137"/>
                    </a:srgbClr>
                  </a:outerShdw>
                </a:effectLst>
                <a:latin typeface="Roboto" pitchFamily="2" charset="0"/>
                <a:ea typeface="Roboto" pitchFamily="2" charset="0"/>
              </a:rPr>
              <a:t>Introduction</a:t>
            </a:r>
            <a:endParaRPr lang="de-DE" altLang="de-DE" sz="2000" i="1" dirty="0">
              <a:effectLst>
                <a:outerShdw blurRad="38100" dist="38100" dir="2700000" algn="tl">
                  <a:srgbClr val="000000">
                    <a:alpha val="43137"/>
                  </a:srgbClr>
                </a:outerShdw>
              </a:effectLst>
              <a:latin typeface="+mj-lt"/>
            </a:endParaRPr>
          </a:p>
        </p:txBody>
      </p:sp>
      <p:sp>
        <p:nvSpPr>
          <p:cNvPr id="11" name="ZoneTexte 10">
            <a:extLst>
              <a:ext uri="{FF2B5EF4-FFF2-40B4-BE49-F238E27FC236}">
                <a16:creationId xmlns:a16="http://schemas.microsoft.com/office/drawing/2014/main" id="{874A49F3-0002-4629-8953-27B21388CF24}"/>
              </a:ext>
            </a:extLst>
          </p:cNvPr>
          <p:cNvSpPr txBox="1"/>
          <p:nvPr/>
        </p:nvSpPr>
        <p:spPr>
          <a:xfrm>
            <a:off x="0" y="-203200"/>
            <a:ext cx="2038470" cy="1446550"/>
          </a:xfrm>
          <a:prstGeom prst="rect">
            <a:avLst/>
          </a:prstGeom>
          <a:noFill/>
        </p:spPr>
        <p:txBody>
          <a:bodyPr wrap="square">
            <a:spAutoFit/>
          </a:bodyPr>
          <a:lstStyle/>
          <a:p>
            <a:r>
              <a:rPr lang="en-US" sz="8800" dirty="0">
                <a:ln w="15875">
                  <a:solidFill>
                    <a:schemeClr val="bg1"/>
                  </a:solidFill>
                </a:ln>
                <a:noFill/>
                <a:latin typeface="Archivo Black" panose="020B0A03020202020B04" pitchFamily="34" charset="0"/>
              </a:rPr>
              <a:t>01</a:t>
            </a:r>
            <a:endParaRPr lang="en-US" sz="23900" dirty="0"/>
          </a:p>
        </p:txBody>
      </p:sp>
      <p:pic>
        <p:nvPicPr>
          <p:cNvPr id="2" name="Picture 15">
            <a:extLst>
              <a:ext uri="{FF2B5EF4-FFF2-40B4-BE49-F238E27FC236}">
                <a16:creationId xmlns:a16="http://schemas.microsoft.com/office/drawing/2014/main" id="{1BD76215-5B82-3AA2-9045-535AF3DA436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63379" y="2129893"/>
            <a:ext cx="5023821" cy="3571660"/>
          </a:xfrm>
          <a:prstGeom prst="rect">
            <a:avLst/>
          </a:prstGeom>
        </p:spPr>
      </p:pic>
      <p:sp>
        <p:nvSpPr>
          <p:cNvPr id="4" name="ZoneTexte 3">
            <a:extLst>
              <a:ext uri="{FF2B5EF4-FFF2-40B4-BE49-F238E27FC236}">
                <a16:creationId xmlns:a16="http://schemas.microsoft.com/office/drawing/2014/main" id="{314B6604-5851-1CDA-EC89-52F81524BF86}"/>
              </a:ext>
            </a:extLst>
          </p:cNvPr>
          <p:cNvSpPr txBox="1"/>
          <p:nvPr/>
        </p:nvSpPr>
        <p:spPr>
          <a:xfrm>
            <a:off x="3048785" y="655181"/>
            <a:ext cx="6094428" cy="584775"/>
          </a:xfrm>
          <a:prstGeom prst="rect">
            <a:avLst/>
          </a:prstGeom>
          <a:noFill/>
        </p:spPr>
        <p:txBody>
          <a:bodyPr wrap="square">
            <a:spAutoFit/>
          </a:bodyPr>
          <a:lstStyle/>
          <a:p>
            <a:pPr marL="0" lvl="0" indent="0" algn="ctr" rtl="0">
              <a:spcBef>
                <a:spcPts val="0"/>
              </a:spcBef>
              <a:spcAft>
                <a:spcPts val="0"/>
              </a:spcAft>
              <a:buClr>
                <a:srgbClr val="3F3F3F"/>
              </a:buClr>
              <a:buSzPts val="3600"/>
              <a:buNone/>
            </a:pPr>
            <a:r>
              <a:rPr lang="fr-FR" sz="3200" b="1" i="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Contexte générale</a:t>
            </a:r>
          </a:p>
        </p:txBody>
      </p:sp>
      <p:sp>
        <p:nvSpPr>
          <p:cNvPr id="9" name="Rectangle 8">
            <a:extLst>
              <a:ext uri="{FF2B5EF4-FFF2-40B4-BE49-F238E27FC236}">
                <a16:creationId xmlns:a16="http://schemas.microsoft.com/office/drawing/2014/main" id="{53A089CA-D48A-43AB-8D74-1C768F9972B3}"/>
              </a:ext>
            </a:extLst>
          </p:cNvPr>
          <p:cNvSpPr/>
          <p:nvPr/>
        </p:nvSpPr>
        <p:spPr>
          <a:xfrm>
            <a:off x="1228135" y="57371"/>
            <a:ext cx="45719" cy="925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13" name="Google Shape;273;p6">
            <a:extLst>
              <a:ext uri="{FF2B5EF4-FFF2-40B4-BE49-F238E27FC236}">
                <a16:creationId xmlns:a16="http://schemas.microsoft.com/office/drawing/2014/main" id="{A681A954-5C45-4F47-BEB1-A42A0B1B7CC7}"/>
              </a:ext>
            </a:extLst>
          </p:cNvPr>
          <p:cNvSpPr txBox="1"/>
          <p:nvPr/>
        </p:nvSpPr>
        <p:spPr>
          <a:xfrm>
            <a:off x="11482593" y="6334780"/>
            <a:ext cx="315369"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2</a:t>
            </a:r>
            <a:endParaRPr sz="2800" b="1" dirty="0">
              <a:solidFill>
                <a:schemeClr val="lt1"/>
              </a:solidFill>
              <a:latin typeface="Arial"/>
              <a:ea typeface="Arial"/>
              <a:cs typeface="Arial"/>
              <a:sym typeface="Arial"/>
            </a:endParaRPr>
          </a:p>
        </p:txBody>
      </p:sp>
      <p:sp>
        <p:nvSpPr>
          <p:cNvPr id="3" name="ZoneTexte 2">
            <a:extLst>
              <a:ext uri="{FF2B5EF4-FFF2-40B4-BE49-F238E27FC236}">
                <a16:creationId xmlns:a16="http://schemas.microsoft.com/office/drawing/2014/main" id="{58E15BD0-D6B4-2252-3047-E0AA79CB00D6}"/>
              </a:ext>
            </a:extLst>
          </p:cNvPr>
          <p:cNvSpPr txBox="1"/>
          <p:nvPr/>
        </p:nvSpPr>
        <p:spPr>
          <a:xfrm>
            <a:off x="774551" y="2374092"/>
            <a:ext cx="5529430" cy="2951064"/>
          </a:xfrm>
          <a:prstGeom prst="rect">
            <a:avLst/>
          </a:prstGeom>
          <a:noFill/>
        </p:spPr>
        <p:txBody>
          <a:bodyPr wrap="square" rtlCol="0">
            <a:spAutoFit/>
          </a:bodyPr>
          <a:lstStyle/>
          <a:p>
            <a:pPr>
              <a:lnSpc>
                <a:spcPct val="150000"/>
              </a:lnSpc>
            </a:pPr>
            <a:r>
              <a:rPr lang="fr-FR" sz="1800" dirty="0">
                <a:solidFill>
                  <a:schemeClr val="bg1"/>
                </a:solidFill>
                <a:latin typeface="Times New Roman" panose="02020603050405020304" pitchFamily="18" charset="0"/>
                <a:cs typeface="Times New Roman" panose="02020603050405020304" pitchFamily="18" charset="0"/>
              </a:rPr>
              <a:t>• </a:t>
            </a:r>
            <a:r>
              <a:rPr lang="fr-FR" sz="1800" b="1" dirty="0">
                <a:solidFill>
                  <a:schemeClr val="bg1"/>
                </a:solidFill>
                <a:latin typeface="Times New Roman" panose="02020603050405020304" pitchFamily="18" charset="0"/>
                <a:cs typeface="Times New Roman" panose="02020603050405020304" pitchFamily="18" charset="0"/>
              </a:rPr>
              <a:t>Contexte : </a:t>
            </a:r>
            <a:r>
              <a:rPr lang="fr-FR" sz="1800" dirty="0">
                <a:solidFill>
                  <a:schemeClr val="bg1"/>
                </a:solidFill>
                <a:latin typeface="Times New Roman" panose="02020603050405020304" pitchFamily="18" charset="0"/>
                <a:cs typeface="Times New Roman" panose="02020603050405020304" pitchFamily="18" charset="0"/>
              </a:rPr>
              <a:t>Modernisation d'une application existante.</a:t>
            </a:r>
          </a:p>
          <a:p>
            <a:pPr>
              <a:lnSpc>
                <a:spcPct val="150000"/>
              </a:lnSpc>
            </a:pPr>
            <a:r>
              <a:rPr lang="fr-FR" sz="1800" dirty="0">
                <a:solidFill>
                  <a:schemeClr val="bg1"/>
                </a:solidFill>
                <a:latin typeface="Times New Roman" panose="02020603050405020304" pitchFamily="18" charset="0"/>
                <a:cs typeface="Times New Roman" panose="02020603050405020304" pitchFamily="18" charset="0"/>
              </a:rPr>
              <a:t>• </a:t>
            </a:r>
            <a:r>
              <a:rPr lang="fr-FR" sz="1800" b="1" dirty="0">
                <a:solidFill>
                  <a:schemeClr val="bg1"/>
                </a:solidFill>
                <a:latin typeface="Times New Roman" panose="02020603050405020304" pitchFamily="18" charset="0"/>
                <a:cs typeface="Times New Roman" panose="02020603050405020304" pitchFamily="18" charset="0"/>
              </a:rPr>
              <a:t>Objectif : </a:t>
            </a:r>
            <a:r>
              <a:rPr lang="fr-FR" sz="1800" dirty="0">
                <a:solidFill>
                  <a:schemeClr val="bg1"/>
                </a:solidFill>
                <a:latin typeface="Times New Roman" panose="02020603050405020304" pitchFamily="18" charset="0"/>
                <a:cs typeface="Times New Roman" panose="02020603050405020304" pitchFamily="18" charset="0"/>
              </a:rPr>
              <a:t>Transition d’Oracle Forms vers Java Spring Boot et Angular.</a:t>
            </a:r>
          </a:p>
          <a:p>
            <a:pPr>
              <a:lnSpc>
                <a:spcPct val="150000"/>
              </a:lnSpc>
            </a:pPr>
            <a:r>
              <a:rPr lang="fr-FR" sz="1800" dirty="0">
                <a:solidFill>
                  <a:schemeClr val="bg1"/>
                </a:solidFill>
                <a:latin typeface="Times New Roman" panose="02020603050405020304" pitchFamily="18" charset="0"/>
                <a:cs typeface="Times New Roman" panose="02020603050405020304" pitchFamily="18" charset="0"/>
              </a:rPr>
              <a:t>• </a:t>
            </a:r>
            <a:r>
              <a:rPr lang="fr-FR" sz="1800" b="1" dirty="0">
                <a:solidFill>
                  <a:schemeClr val="bg1"/>
                </a:solidFill>
                <a:latin typeface="Times New Roman" panose="02020603050405020304" pitchFamily="18" charset="0"/>
                <a:cs typeface="Times New Roman" panose="02020603050405020304" pitchFamily="18" charset="0"/>
              </a:rPr>
              <a:t>Domaine : </a:t>
            </a:r>
            <a:r>
              <a:rPr lang="fr-FR" sz="1800" dirty="0">
                <a:solidFill>
                  <a:schemeClr val="bg1"/>
                </a:solidFill>
                <a:latin typeface="Times New Roman" panose="02020603050405020304" pitchFamily="18" charset="0"/>
                <a:cs typeface="Times New Roman" panose="02020603050405020304" pitchFamily="18" charset="0"/>
              </a:rPr>
              <a:t>Module de domiciliation des titres de commerce extérieur.</a:t>
            </a:r>
          </a:p>
          <a:p>
            <a:pPr>
              <a:lnSpc>
                <a:spcPct val="150000"/>
              </a:lnSpc>
            </a:pPr>
            <a:r>
              <a:rPr lang="fr-FR" sz="1800" dirty="0">
                <a:solidFill>
                  <a:schemeClr val="bg1"/>
                </a:solidFill>
                <a:latin typeface="Times New Roman" panose="02020603050405020304" pitchFamily="18" charset="0"/>
                <a:cs typeface="Times New Roman" panose="02020603050405020304" pitchFamily="18" charset="0"/>
              </a:rPr>
              <a:t>• </a:t>
            </a:r>
            <a:r>
              <a:rPr lang="fr-FR" sz="1800" b="1" dirty="0">
                <a:solidFill>
                  <a:schemeClr val="bg1"/>
                </a:solidFill>
                <a:latin typeface="Times New Roman" panose="02020603050405020304" pitchFamily="18" charset="0"/>
                <a:cs typeface="Times New Roman" panose="02020603050405020304" pitchFamily="18" charset="0"/>
              </a:rPr>
              <a:t>Résultat attendu : </a:t>
            </a:r>
            <a:r>
              <a:rPr lang="fr-FR" sz="1800" dirty="0">
                <a:solidFill>
                  <a:schemeClr val="bg1"/>
                </a:solidFill>
                <a:latin typeface="Times New Roman" panose="02020603050405020304" pitchFamily="18" charset="0"/>
                <a:cs typeface="Times New Roman" panose="02020603050405020304" pitchFamily="18" charset="0"/>
              </a:rPr>
              <a:t>Application moderne, performante et accessible</a:t>
            </a:r>
            <a:endParaRPr lang="fr-FR" dirty="0">
              <a:solidFill>
                <a:schemeClr val="bg1"/>
              </a:solidFill>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354855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250" fill="hold"/>
                                        <p:tgtEl>
                                          <p:spTgt spid="11"/>
                                        </p:tgtEl>
                                        <p:attrNameLst>
                                          <p:attrName>ppt_x</p:attrName>
                                        </p:attrNameLst>
                                      </p:cBhvr>
                                      <p:tavLst>
                                        <p:tav tm="0">
                                          <p:val>
                                            <p:strVal val="0-#ppt_w/2"/>
                                          </p:val>
                                        </p:tav>
                                        <p:tav tm="100000">
                                          <p:val>
                                            <p:strVal val="#ppt_x"/>
                                          </p:val>
                                        </p:tav>
                                      </p:tavLst>
                                    </p:anim>
                                    <p:anim calcmode="lin" valueType="num">
                                      <p:cBhvr additive="base">
                                        <p:cTn id="8" dur="250" fill="hold"/>
                                        <p:tgtEl>
                                          <p:spTgt spid="11"/>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2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par>
                          <p:cTn id="12" fill="hold">
                            <p:stCondLst>
                              <p:cond delay="600"/>
                            </p:stCondLst>
                            <p:childTnLst>
                              <p:par>
                                <p:cTn id="13" presetID="10" presetClass="entr" presetSubtype="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par>
                                <p:cTn id="16" presetID="2" presetClass="entr" presetSubtype="8"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0-#ppt_w/2"/>
                                          </p:val>
                                        </p:tav>
                                        <p:tav tm="100000">
                                          <p:val>
                                            <p:strVal val="#ppt_x"/>
                                          </p:val>
                                        </p:tav>
                                      </p:tavLst>
                                    </p:anim>
                                    <p:anim calcmode="lin" valueType="num">
                                      <p:cBhvr additive="base">
                                        <p:cTn id="19" dur="500" fill="hold"/>
                                        <p:tgtEl>
                                          <p:spTgt spid="9"/>
                                        </p:tgtEl>
                                        <p:attrNameLst>
                                          <p:attrName>ppt_y</p:attrName>
                                        </p:attrNameLst>
                                      </p:cBhvr>
                                      <p:tavLst>
                                        <p:tav tm="0">
                                          <p:val>
                                            <p:strVal val="#ppt_y"/>
                                          </p:val>
                                        </p:tav>
                                        <p:tav tm="100000">
                                          <p:val>
                                            <p:strVal val="#ppt_y"/>
                                          </p:val>
                                        </p:tav>
                                      </p:tavLst>
                                    </p:anim>
                                  </p:childTnLst>
                                </p:cTn>
                              </p:par>
                            </p:childTnLst>
                          </p:cTn>
                        </p:par>
                        <p:par>
                          <p:cTn id="20" fill="hold">
                            <p:stCondLst>
                              <p:cond delay="1100"/>
                            </p:stCondLst>
                            <p:childTnLst>
                              <p:par>
                                <p:cTn id="21" presetID="10" presetClass="entr" presetSubtype="0" fill="hold" nodeType="after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Effect transition="in" filter="fade">
                                      <p:cBhvr>
                                        <p:cTn id="23" dur="500"/>
                                        <p:tgtEl>
                                          <p:spTgt spid="3">
                                            <p:txEl>
                                              <p:pRg st="0" end="0"/>
                                            </p:txEl>
                                          </p:spTgt>
                                        </p:tgtEl>
                                      </p:cBhvr>
                                    </p:animEffect>
                                  </p:childTnLst>
                                </p:cTn>
                              </p:par>
                            </p:childTnLst>
                          </p:cTn>
                        </p:par>
                        <p:par>
                          <p:cTn id="24" fill="hold">
                            <p:stCondLst>
                              <p:cond delay="1600"/>
                            </p:stCondLst>
                            <p:childTnLst>
                              <p:par>
                                <p:cTn id="25" presetID="10" presetClass="entr" presetSubtype="0" fill="hold" nodeType="after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childTnLst>
                          </p:cTn>
                        </p:par>
                        <p:par>
                          <p:cTn id="28" fill="hold">
                            <p:stCondLst>
                              <p:cond delay="2100"/>
                            </p:stCondLst>
                            <p:childTnLst>
                              <p:par>
                                <p:cTn id="29" presetID="10" presetClass="entr" presetSubtype="0" fill="hold" nodeType="after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Effect transition="in" filter="fade">
                                      <p:cBhvr>
                                        <p:cTn id="31" dur="500"/>
                                        <p:tgtEl>
                                          <p:spTgt spid="3">
                                            <p:txEl>
                                              <p:pRg st="2" end="2"/>
                                            </p:txEl>
                                          </p:spTgt>
                                        </p:tgtEl>
                                      </p:cBhvr>
                                    </p:animEffect>
                                  </p:childTnLst>
                                </p:cTn>
                              </p:par>
                            </p:childTnLst>
                          </p:cTn>
                        </p:par>
                        <p:par>
                          <p:cTn id="32" fill="hold">
                            <p:stCondLst>
                              <p:cond delay="2600"/>
                            </p:stCondLst>
                            <p:childTnLst>
                              <p:par>
                                <p:cTn id="33" presetID="10" presetClass="entr" presetSubtype="0" fill="hold" nodeType="after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18B07EE-A45E-4446-A223-5B883B13E13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Google Shape;226;p4">
            <a:extLst>
              <a:ext uri="{FF2B5EF4-FFF2-40B4-BE49-F238E27FC236}">
                <a16:creationId xmlns:a16="http://schemas.microsoft.com/office/drawing/2014/main" id="{F9010CBF-5B52-D50B-2C06-AE8FC5903A0D}"/>
              </a:ext>
            </a:extLst>
          </p:cNvPr>
          <p:cNvSpPr txBox="1">
            <a:spLocks/>
          </p:cNvSpPr>
          <p:nvPr/>
        </p:nvSpPr>
        <p:spPr>
          <a:xfrm>
            <a:off x="1524000" y="677792"/>
            <a:ext cx="9144000" cy="576064"/>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Clr>
                <a:srgbClr val="3F3F3F"/>
              </a:buClr>
              <a:buSzPts val="3600"/>
              <a:buFont typeface="Arial" panose="020B0604020202020204" pitchFamily="34" charset="0"/>
              <a:buNone/>
            </a:pPr>
            <a:r>
              <a:rPr lang="fr-FR" sz="3200" b="1" i="1" dirty="0">
                <a:solidFill>
                  <a:schemeClr val="bg1"/>
                </a:solidFill>
                <a:latin typeface="Times New Roman" panose="02020603050405020304" pitchFamily="18" charset="0"/>
                <a:cs typeface="Times New Roman" panose="02020603050405020304" pitchFamily="18" charset="0"/>
              </a:rPr>
              <a:t>Présentation de l’organisme d’accueil</a:t>
            </a:r>
          </a:p>
        </p:txBody>
      </p:sp>
      <p:sp>
        <p:nvSpPr>
          <p:cNvPr id="9" name="TextBox 8">
            <a:extLst>
              <a:ext uri="{FF2B5EF4-FFF2-40B4-BE49-F238E27FC236}">
                <a16:creationId xmlns:a16="http://schemas.microsoft.com/office/drawing/2014/main" id="{A816832C-11A8-47A7-AA01-EDBCEF2FB37F}"/>
              </a:ext>
            </a:extLst>
          </p:cNvPr>
          <p:cNvSpPr txBox="1"/>
          <p:nvPr/>
        </p:nvSpPr>
        <p:spPr>
          <a:xfrm>
            <a:off x="1330452" y="61014"/>
            <a:ext cx="5420703" cy="307777"/>
          </a:xfrm>
          <a:prstGeom prst="rect">
            <a:avLst/>
          </a:prstGeom>
          <a:noFill/>
        </p:spPr>
        <p:txBody>
          <a:bodyPr wrap="square" lIns="0" tIns="0" rIns="0" bIns="0" numCol="1" rtlCol="0">
            <a:spAutoFit/>
          </a:bodyPr>
          <a:lstStyle/>
          <a:p>
            <a:r>
              <a:rPr lang="fr-FR" sz="2000" b="1" i="1" dirty="0">
                <a:solidFill>
                  <a:srgbClr val="FE8C5D"/>
                </a:solidFill>
                <a:effectLst>
                  <a:outerShdw blurRad="38100" dist="38100" dir="2700000" algn="tl">
                    <a:srgbClr val="000000">
                      <a:alpha val="43137"/>
                    </a:srgbClr>
                  </a:outerShdw>
                </a:effectLst>
                <a:latin typeface="Roboto" pitchFamily="2" charset="0"/>
                <a:ea typeface="Roboto" pitchFamily="2" charset="0"/>
              </a:rPr>
              <a:t>Introduction</a:t>
            </a:r>
            <a:endParaRPr lang="de-DE" altLang="de-DE" sz="2000" i="1" dirty="0">
              <a:effectLst>
                <a:outerShdw blurRad="38100" dist="38100" dir="2700000" algn="tl">
                  <a:srgbClr val="000000">
                    <a:alpha val="43137"/>
                  </a:srgbClr>
                </a:outerShdw>
              </a:effectLst>
              <a:latin typeface="+mj-lt"/>
            </a:endParaRPr>
          </a:p>
        </p:txBody>
      </p:sp>
      <p:sp>
        <p:nvSpPr>
          <p:cNvPr id="12" name="ZoneTexte 10">
            <a:extLst>
              <a:ext uri="{FF2B5EF4-FFF2-40B4-BE49-F238E27FC236}">
                <a16:creationId xmlns:a16="http://schemas.microsoft.com/office/drawing/2014/main" id="{BF2902C6-130E-45CA-9486-D93AFA3195D4}"/>
              </a:ext>
            </a:extLst>
          </p:cNvPr>
          <p:cNvSpPr txBox="1"/>
          <p:nvPr/>
        </p:nvSpPr>
        <p:spPr>
          <a:xfrm>
            <a:off x="0" y="-203200"/>
            <a:ext cx="2038470" cy="1446550"/>
          </a:xfrm>
          <a:prstGeom prst="rect">
            <a:avLst/>
          </a:prstGeom>
          <a:noFill/>
        </p:spPr>
        <p:txBody>
          <a:bodyPr wrap="square">
            <a:spAutoFit/>
          </a:bodyPr>
          <a:lstStyle/>
          <a:p>
            <a:r>
              <a:rPr lang="en-US" sz="8800" dirty="0">
                <a:ln w="15875">
                  <a:solidFill>
                    <a:schemeClr val="bg1"/>
                  </a:solidFill>
                </a:ln>
                <a:noFill/>
                <a:latin typeface="Archivo Black" panose="020B0A03020202020B04" pitchFamily="34" charset="0"/>
              </a:rPr>
              <a:t>01</a:t>
            </a:r>
            <a:endParaRPr lang="en-US" sz="23900" dirty="0"/>
          </a:p>
        </p:txBody>
      </p:sp>
      <p:sp>
        <p:nvSpPr>
          <p:cNvPr id="13" name="Rectangle 12">
            <a:extLst>
              <a:ext uri="{FF2B5EF4-FFF2-40B4-BE49-F238E27FC236}">
                <a16:creationId xmlns:a16="http://schemas.microsoft.com/office/drawing/2014/main" id="{F41D5B89-B21B-48AB-9D0F-7F2B561B18B8}"/>
              </a:ext>
            </a:extLst>
          </p:cNvPr>
          <p:cNvSpPr/>
          <p:nvPr/>
        </p:nvSpPr>
        <p:spPr>
          <a:xfrm>
            <a:off x="1228135" y="57371"/>
            <a:ext cx="45719" cy="925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15" name="Google Shape;273;p6">
            <a:extLst>
              <a:ext uri="{FF2B5EF4-FFF2-40B4-BE49-F238E27FC236}">
                <a16:creationId xmlns:a16="http://schemas.microsoft.com/office/drawing/2014/main" id="{9B1B4B1F-2E36-4976-9F0B-228E316EF4C4}"/>
              </a:ext>
            </a:extLst>
          </p:cNvPr>
          <p:cNvSpPr txBox="1"/>
          <p:nvPr/>
        </p:nvSpPr>
        <p:spPr>
          <a:xfrm>
            <a:off x="11482593" y="6334780"/>
            <a:ext cx="315369"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3</a:t>
            </a:r>
            <a:endParaRPr sz="2800" b="1" dirty="0">
              <a:solidFill>
                <a:schemeClr val="lt1"/>
              </a:solidFill>
              <a:latin typeface="Arial"/>
              <a:ea typeface="Arial"/>
              <a:cs typeface="Arial"/>
              <a:sym typeface="Arial"/>
            </a:endParaRPr>
          </a:p>
        </p:txBody>
      </p:sp>
      <p:pic>
        <p:nvPicPr>
          <p:cNvPr id="5" name="Image 4">
            <a:extLst>
              <a:ext uri="{FF2B5EF4-FFF2-40B4-BE49-F238E27FC236}">
                <a16:creationId xmlns:a16="http://schemas.microsoft.com/office/drawing/2014/main" id="{5AFC74EB-BA6E-8A84-B499-732B901B6A7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01989" y="2349003"/>
            <a:ext cx="7308985" cy="2915322"/>
          </a:xfrm>
          <a:prstGeom prst="rect">
            <a:avLst/>
          </a:prstGeom>
        </p:spPr>
      </p:pic>
    </p:spTree>
    <p:custDataLst>
      <p:tags r:id="rId1"/>
    </p:custDataLst>
    <p:extLst>
      <p:ext uri="{BB962C8B-B14F-4D97-AF65-F5344CB8AC3E}">
        <p14:creationId xmlns:p14="http://schemas.microsoft.com/office/powerpoint/2010/main" val="850645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250" fill="hold"/>
                                        <p:tgtEl>
                                          <p:spTgt spid="12"/>
                                        </p:tgtEl>
                                        <p:attrNameLst>
                                          <p:attrName>ppt_x</p:attrName>
                                        </p:attrNameLst>
                                      </p:cBhvr>
                                      <p:tavLst>
                                        <p:tav tm="0">
                                          <p:val>
                                            <p:strVal val="0-#ppt_w/2"/>
                                          </p:val>
                                        </p:tav>
                                        <p:tav tm="100000">
                                          <p:val>
                                            <p:strVal val="#ppt_x"/>
                                          </p:val>
                                        </p:tav>
                                      </p:tavLst>
                                    </p:anim>
                                    <p:anim calcmode="lin" valueType="num">
                                      <p:cBhvr additive="base">
                                        <p:cTn id="8" dur="250" fill="hold"/>
                                        <p:tgtEl>
                                          <p:spTgt spid="12"/>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20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2" presetClass="entr" presetSubtype="8"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500" fill="hold"/>
                                        <p:tgtEl>
                                          <p:spTgt spid="13"/>
                                        </p:tgtEl>
                                        <p:attrNameLst>
                                          <p:attrName>ppt_x</p:attrName>
                                        </p:attrNameLst>
                                      </p:cBhvr>
                                      <p:tavLst>
                                        <p:tav tm="0">
                                          <p:val>
                                            <p:strVal val="0-#ppt_w/2"/>
                                          </p:val>
                                        </p:tav>
                                        <p:tav tm="100000">
                                          <p:val>
                                            <p:strVal val="#ppt_x"/>
                                          </p:val>
                                        </p:tav>
                                      </p:tavLst>
                                    </p:anim>
                                    <p:anim calcmode="lin" valueType="num">
                                      <p:cBhvr additive="base">
                                        <p:cTn id="15"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18B07EE-A45E-4446-A223-5B883B13E13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a:extLst>
              <a:ext uri="{FF2B5EF4-FFF2-40B4-BE49-F238E27FC236}">
                <a16:creationId xmlns:a16="http://schemas.microsoft.com/office/drawing/2014/main" id="{CA8813BB-D448-4521-9F33-B74EFDC2BCD9}"/>
              </a:ext>
            </a:extLst>
          </p:cNvPr>
          <p:cNvSpPr/>
          <p:nvPr/>
        </p:nvSpPr>
        <p:spPr>
          <a:xfrm>
            <a:off x="4833934" y="2129970"/>
            <a:ext cx="5524168" cy="259805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2" name="Rectangle 1">
            <a:extLst>
              <a:ext uri="{FF2B5EF4-FFF2-40B4-BE49-F238E27FC236}">
                <a16:creationId xmlns:a16="http://schemas.microsoft.com/office/drawing/2014/main" id="{226F08B3-37B7-4D5C-80DD-85ECEA54CD23}"/>
              </a:ext>
            </a:extLst>
          </p:cNvPr>
          <p:cNvSpPr/>
          <p:nvPr/>
        </p:nvSpPr>
        <p:spPr>
          <a:xfrm>
            <a:off x="4932743" y="1280813"/>
            <a:ext cx="6691086" cy="40333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8" name="TextBox 7">
            <a:extLst>
              <a:ext uri="{FF2B5EF4-FFF2-40B4-BE49-F238E27FC236}">
                <a16:creationId xmlns:a16="http://schemas.microsoft.com/office/drawing/2014/main" id="{DF7833B0-BA71-4453-853F-974C3C7535A2}"/>
              </a:ext>
            </a:extLst>
          </p:cNvPr>
          <p:cNvSpPr txBox="1"/>
          <p:nvPr/>
        </p:nvSpPr>
        <p:spPr>
          <a:xfrm>
            <a:off x="5241464" y="2290772"/>
            <a:ext cx="6774405" cy="1477328"/>
          </a:xfrm>
          <a:prstGeom prst="rect">
            <a:avLst/>
          </a:prstGeom>
          <a:noFill/>
        </p:spPr>
        <p:txBody>
          <a:bodyPr wrap="square" lIns="0" tIns="0" rIns="0" bIns="0" numCol="1" rtlCol="0">
            <a:spAutoFit/>
          </a:bodyPr>
          <a:lstStyle/>
          <a:p>
            <a:r>
              <a:rPr lang="en-US" sz="4800" b="1" i="1" dirty="0">
                <a:solidFill>
                  <a:srgbClr val="FF579A"/>
                </a:solidFill>
                <a:effectLst>
                  <a:outerShdw blurRad="38100" dist="38100" dir="2700000" algn="tl">
                    <a:srgbClr val="000000">
                      <a:alpha val="43137"/>
                    </a:srgbClr>
                  </a:outerShdw>
                </a:effectLst>
                <a:latin typeface="Roboto" pitchFamily="2" charset="0"/>
                <a:ea typeface="Roboto" pitchFamily="2" charset="0"/>
              </a:rPr>
              <a:t>Problématique, solutions </a:t>
            </a:r>
          </a:p>
          <a:p>
            <a:r>
              <a:rPr lang="en-US" sz="4800" b="1" i="1" dirty="0">
                <a:solidFill>
                  <a:srgbClr val="FF579A"/>
                </a:solidFill>
                <a:effectLst>
                  <a:outerShdw blurRad="38100" dist="38100" dir="2700000" algn="tl">
                    <a:srgbClr val="000000">
                      <a:alpha val="43137"/>
                    </a:srgbClr>
                  </a:outerShdw>
                </a:effectLst>
                <a:latin typeface="Roboto" pitchFamily="2" charset="0"/>
                <a:ea typeface="Roboto" pitchFamily="2" charset="0"/>
              </a:rPr>
              <a:t>proposées et Objectifs</a:t>
            </a:r>
          </a:p>
        </p:txBody>
      </p:sp>
      <p:sp>
        <p:nvSpPr>
          <p:cNvPr id="11" name="ZoneTexte 10">
            <a:extLst>
              <a:ext uri="{FF2B5EF4-FFF2-40B4-BE49-F238E27FC236}">
                <a16:creationId xmlns:a16="http://schemas.microsoft.com/office/drawing/2014/main" id="{874A49F3-0002-4629-8953-27B21388CF24}"/>
              </a:ext>
            </a:extLst>
          </p:cNvPr>
          <p:cNvSpPr txBox="1"/>
          <p:nvPr/>
        </p:nvSpPr>
        <p:spPr>
          <a:xfrm>
            <a:off x="1446731" y="1543866"/>
            <a:ext cx="3794733" cy="3770263"/>
          </a:xfrm>
          <a:prstGeom prst="rect">
            <a:avLst/>
          </a:prstGeom>
          <a:noFill/>
        </p:spPr>
        <p:txBody>
          <a:bodyPr wrap="square">
            <a:spAutoFit/>
          </a:bodyPr>
          <a:lstStyle/>
          <a:p>
            <a:r>
              <a:rPr lang="en-US" sz="23900" dirty="0">
                <a:ln w="15875">
                  <a:solidFill>
                    <a:schemeClr val="bg1"/>
                  </a:solidFill>
                </a:ln>
                <a:noFill/>
                <a:latin typeface="Archivo Black" panose="020B0A03020202020B04" pitchFamily="34" charset="0"/>
              </a:rPr>
              <a:t>02</a:t>
            </a:r>
            <a:endParaRPr lang="en-US" sz="23900" dirty="0"/>
          </a:p>
        </p:txBody>
      </p:sp>
      <p:sp>
        <p:nvSpPr>
          <p:cNvPr id="9" name="Google Shape;273;p6">
            <a:extLst>
              <a:ext uri="{FF2B5EF4-FFF2-40B4-BE49-F238E27FC236}">
                <a16:creationId xmlns:a16="http://schemas.microsoft.com/office/drawing/2014/main" id="{41ABF17E-1918-4BE6-84A8-111EA0A46363}"/>
              </a:ext>
            </a:extLst>
          </p:cNvPr>
          <p:cNvSpPr txBox="1"/>
          <p:nvPr/>
        </p:nvSpPr>
        <p:spPr>
          <a:xfrm>
            <a:off x="11482593" y="6334780"/>
            <a:ext cx="315369"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4</a:t>
            </a:r>
            <a:endParaRPr sz="2800" b="1" dirty="0">
              <a:solidFill>
                <a:schemeClr val="lt1"/>
              </a:solidFill>
              <a:latin typeface="Arial"/>
              <a:ea typeface="Arial"/>
              <a:cs typeface="Arial"/>
              <a:sym typeface="Arial"/>
            </a:endParaRPr>
          </a:p>
        </p:txBody>
      </p:sp>
    </p:spTree>
    <p:custDataLst>
      <p:tags r:id="rId1"/>
    </p:custDataLst>
    <p:extLst>
      <p:ext uri="{BB962C8B-B14F-4D97-AF65-F5344CB8AC3E}">
        <p14:creationId xmlns:p14="http://schemas.microsoft.com/office/powerpoint/2010/main" val="4212896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50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18B07EE-A45E-4446-A223-5B883B13E13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1">
            <a:extLst>
              <a:ext uri="{FF2B5EF4-FFF2-40B4-BE49-F238E27FC236}">
                <a16:creationId xmlns:a16="http://schemas.microsoft.com/office/drawing/2014/main" id="{226F08B3-37B7-4D5C-80DD-85ECEA54CD23}"/>
              </a:ext>
            </a:extLst>
          </p:cNvPr>
          <p:cNvSpPr/>
          <p:nvPr/>
        </p:nvSpPr>
        <p:spPr>
          <a:xfrm>
            <a:off x="2005544" y="1863392"/>
            <a:ext cx="4379419" cy="15310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3" name="Google Shape;234;p5">
            <a:extLst>
              <a:ext uri="{FF2B5EF4-FFF2-40B4-BE49-F238E27FC236}">
                <a16:creationId xmlns:a16="http://schemas.microsoft.com/office/drawing/2014/main" id="{B36690F5-0C28-16AF-AA60-C23FCB65FFFE}"/>
              </a:ext>
            </a:extLst>
          </p:cNvPr>
          <p:cNvSpPr txBox="1">
            <a:spLocks/>
          </p:cNvSpPr>
          <p:nvPr/>
        </p:nvSpPr>
        <p:spPr>
          <a:xfrm>
            <a:off x="1812963" y="959558"/>
            <a:ext cx="9144000" cy="576064"/>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Clr>
                <a:srgbClr val="3F3F3F"/>
              </a:buClr>
              <a:buSzPts val="3600"/>
              <a:buFont typeface="Arial" panose="020B0604020202020204" pitchFamily="34" charset="0"/>
              <a:buNone/>
            </a:pPr>
            <a:r>
              <a:rPr lang="fr-FR" sz="3200" b="1" i="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PROBLEMATIQUE</a:t>
            </a:r>
          </a:p>
        </p:txBody>
      </p:sp>
      <p:pic>
        <p:nvPicPr>
          <p:cNvPr id="14" name="Image 13">
            <a:extLst>
              <a:ext uri="{FF2B5EF4-FFF2-40B4-BE49-F238E27FC236}">
                <a16:creationId xmlns:a16="http://schemas.microsoft.com/office/drawing/2014/main" id="{2FC91BA8-8964-9D5F-6D91-B700CAE67A3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27169" y="2684569"/>
            <a:ext cx="491728" cy="460000"/>
          </a:xfrm>
          <a:prstGeom prst="rect">
            <a:avLst/>
          </a:prstGeom>
        </p:spPr>
      </p:pic>
      <p:sp>
        <p:nvSpPr>
          <p:cNvPr id="15" name="Rectangle 14">
            <a:extLst>
              <a:ext uri="{FF2B5EF4-FFF2-40B4-BE49-F238E27FC236}">
                <a16:creationId xmlns:a16="http://schemas.microsoft.com/office/drawing/2014/main" id="{B83C4A67-298D-5C3F-C5C2-B13EF11717C4}"/>
              </a:ext>
            </a:extLst>
          </p:cNvPr>
          <p:cNvSpPr/>
          <p:nvPr/>
        </p:nvSpPr>
        <p:spPr>
          <a:xfrm>
            <a:off x="1752340" y="2743384"/>
            <a:ext cx="6649591" cy="369332"/>
          </a:xfrm>
          <a:prstGeom prst="rect">
            <a:avLst/>
          </a:prstGeom>
        </p:spPr>
        <p:txBody>
          <a:bodyPr wrap="square">
            <a:spAutoFit/>
          </a:bodyPr>
          <a:lstStyle/>
          <a:p>
            <a:pPr algn="just"/>
            <a:r>
              <a:rPr lang="fr-FR" dirty="0">
                <a:solidFill>
                  <a:schemeClr val="bg1"/>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Technologie vieillissante (Oracle Forms)</a:t>
            </a:r>
          </a:p>
        </p:txBody>
      </p:sp>
      <p:pic>
        <p:nvPicPr>
          <p:cNvPr id="16" name="Image 15">
            <a:extLst>
              <a:ext uri="{FF2B5EF4-FFF2-40B4-BE49-F238E27FC236}">
                <a16:creationId xmlns:a16="http://schemas.microsoft.com/office/drawing/2014/main" id="{8724889D-5459-BD15-1EB6-0D26DEA0B40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27169" y="3330667"/>
            <a:ext cx="491728" cy="491728"/>
          </a:xfrm>
          <a:prstGeom prst="rect">
            <a:avLst/>
          </a:prstGeom>
        </p:spPr>
      </p:pic>
      <p:sp>
        <p:nvSpPr>
          <p:cNvPr id="17" name="Rectangle 16">
            <a:extLst>
              <a:ext uri="{FF2B5EF4-FFF2-40B4-BE49-F238E27FC236}">
                <a16:creationId xmlns:a16="http://schemas.microsoft.com/office/drawing/2014/main" id="{1AF11D43-978E-848D-E4D6-90B10E43FB68}"/>
              </a:ext>
            </a:extLst>
          </p:cNvPr>
          <p:cNvSpPr/>
          <p:nvPr/>
        </p:nvSpPr>
        <p:spPr>
          <a:xfrm>
            <a:off x="1752341" y="3409887"/>
            <a:ext cx="6649591" cy="369332"/>
          </a:xfrm>
          <a:prstGeom prst="rect">
            <a:avLst/>
          </a:prstGeom>
        </p:spPr>
        <p:txBody>
          <a:bodyPr wrap="square">
            <a:spAutoFit/>
          </a:bodyPr>
          <a:lstStyle/>
          <a:p>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Difficulté de maintenance et intégration complexe</a:t>
            </a:r>
          </a:p>
        </p:txBody>
      </p:sp>
      <p:pic>
        <p:nvPicPr>
          <p:cNvPr id="18" name="Image 17">
            <a:extLst>
              <a:ext uri="{FF2B5EF4-FFF2-40B4-BE49-F238E27FC236}">
                <a16:creationId xmlns:a16="http://schemas.microsoft.com/office/drawing/2014/main" id="{E147C540-9F4B-D505-8EFF-43530FFDE61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27169" y="4008493"/>
            <a:ext cx="491728" cy="491728"/>
          </a:xfrm>
          <a:prstGeom prst="rect">
            <a:avLst/>
          </a:prstGeom>
        </p:spPr>
      </p:pic>
      <p:sp>
        <p:nvSpPr>
          <p:cNvPr id="19" name="Rectangle 18">
            <a:extLst>
              <a:ext uri="{FF2B5EF4-FFF2-40B4-BE49-F238E27FC236}">
                <a16:creationId xmlns:a16="http://schemas.microsoft.com/office/drawing/2014/main" id="{BD732301-8E2C-2AFF-1FE0-D58BA3A4CB95}"/>
              </a:ext>
            </a:extLst>
          </p:cNvPr>
          <p:cNvSpPr/>
          <p:nvPr/>
        </p:nvSpPr>
        <p:spPr>
          <a:xfrm>
            <a:off x="1752341" y="4076390"/>
            <a:ext cx="6649591" cy="369332"/>
          </a:xfrm>
          <a:prstGeom prst="rect">
            <a:avLst/>
          </a:prstGeom>
        </p:spPr>
        <p:txBody>
          <a:bodyPr wrap="square">
            <a:spAutoFit/>
          </a:bodyPr>
          <a:lstStyle/>
          <a:p>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Interface utilisateur peu intuitive</a:t>
            </a:r>
          </a:p>
        </p:txBody>
      </p:sp>
      <p:sp>
        <p:nvSpPr>
          <p:cNvPr id="28" name="TextBox 27">
            <a:extLst>
              <a:ext uri="{FF2B5EF4-FFF2-40B4-BE49-F238E27FC236}">
                <a16:creationId xmlns:a16="http://schemas.microsoft.com/office/drawing/2014/main" id="{620A2B7A-666E-4B25-A9DE-27BC21E0D63A}"/>
              </a:ext>
            </a:extLst>
          </p:cNvPr>
          <p:cNvSpPr txBox="1"/>
          <p:nvPr/>
        </p:nvSpPr>
        <p:spPr>
          <a:xfrm>
            <a:off x="1330452" y="61014"/>
            <a:ext cx="5420703" cy="615553"/>
          </a:xfrm>
          <a:prstGeom prst="rect">
            <a:avLst/>
          </a:prstGeom>
          <a:noFill/>
        </p:spPr>
        <p:txBody>
          <a:bodyPr wrap="square" lIns="0" tIns="0" rIns="0" bIns="0" numCol="1" rtlCol="0">
            <a:spAutoFit/>
          </a:bodyPr>
          <a:lstStyle/>
          <a:p>
            <a:r>
              <a:rPr lang="en-US" sz="2000" b="1" i="1" dirty="0">
                <a:solidFill>
                  <a:srgbClr val="FF579A"/>
                </a:solidFill>
                <a:effectLst>
                  <a:outerShdw blurRad="38100" dist="38100" dir="2700000" algn="tl">
                    <a:srgbClr val="000000">
                      <a:alpha val="43137"/>
                    </a:srgbClr>
                  </a:outerShdw>
                </a:effectLst>
                <a:latin typeface="Roboto" pitchFamily="2" charset="0"/>
                <a:ea typeface="Roboto" pitchFamily="2" charset="0"/>
              </a:rPr>
              <a:t>Problématique, solutions </a:t>
            </a:r>
          </a:p>
          <a:p>
            <a:r>
              <a:rPr lang="en-US" sz="2000" b="1" i="1" dirty="0">
                <a:solidFill>
                  <a:srgbClr val="FF579A"/>
                </a:solidFill>
                <a:effectLst>
                  <a:outerShdw blurRad="38100" dist="38100" dir="2700000" algn="tl">
                    <a:srgbClr val="000000">
                      <a:alpha val="43137"/>
                    </a:srgbClr>
                  </a:outerShdw>
                </a:effectLst>
                <a:latin typeface="Roboto" pitchFamily="2" charset="0"/>
                <a:ea typeface="Roboto" pitchFamily="2" charset="0"/>
              </a:rPr>
              <a:t>proposées et Objectifs</a:t>
            </a:r>
          </a:p>
        </p:txBody>
      </p:sp>
      <p:sp>
        <p:nvSpPr>
          <p:cNvPr id="29" name="ZoneTexte 10">
            <a:extLst>
              <a:ext uri="{FF2B5EF4-FFF2-40B4-BE49-F238E27FC236}">
                <a16:creationId xmlns:a16="http://schemas.microsoft.com/office/drawing/2014/main" id="{5D22C071-F1DC-4149-8E69-190017FB991D}"/>
              </a:ext>
            </a:extLst>
          </p:cNvPr>
          <p:cNvSpPr txBox="1"/>
          <p:nvPr/>
        </p:nvSpPr>
        <p:spPr>
          <a:xfrm>
            <a:off x="0" y="-203200"/>
            <a:ext cx="2038470" cy="1446550"/>
          </a:xfrm>
          <a:prstGeom prst="rect">
            <a:avLst/>
          </a:prstGeom>
          <a:noFill/>
        </p:spPr>
        <p:txBody>
          <a:bodyPr wrap="square">
            <a:spAutoFit/>
          </a:bodyPr>
          <a:lstStyle/>
          <a:p>
            <a:r>
              <a:rPr lang="en-US" sz="8800" dirty="0">
                <a:ln w="15875">
                  <a:solidFill>
                    <a:schemeClr val="bg1"/>
                  </a:solidFill>
                </a:ln>
                <a:noFill/>
                <a:latin typeface="Archivo Black" panose="020B0A03020202020B04" pitchFamily="34" charset="0"/>
              </a:rPr>
              <a:t>02</a:t>
            </a:r>
            <a:endParaRPr lang="en-US" sz="23900" dirty="0"/>
          </a:p>
        </p:txBody>
      </p:sp>
      <p:sp>
        <p:nvSpPr>
          <p:cNvPr id="30" name="Rectangle 29">
            <a:extLst>
              <a:ext uri="{FF2B5EF4-FFF2-40B4-BE49-F238E27FC236}">
                <a16:creationId xmlns:a16="http://schemas.microsoft.com/office/drawing/2014/main" id="{5AD99925-6A0B-45AA-9927-9CA9FC0639F7}"/>
              </a:ext>
            </a:extLst>
          </p:cNvPr>
          <p:cNvSpPr/>
          <p:nvPr/>
        </p:nvSpPr>
        <p:spPr>
          <a:xfrm>
            <a:off x="1228135" y="57371"/>
            <a:ext cx="45719" cy="925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31" name="Google Shape;273;p6">
            <a:extLst>
              <a:ext uri="{FF2B5EF4-FFF2-40B4-BE49-F238E27FC236}">
                <a16:creationId xmlns:a16="http://schemas.microsoft.com/office/drawing/2014/main" id="{C2CC981E-A429-485D-B5E6-9E298351F7BC}"/>
              </a:ext>
            </a:extLst>
          </p:cNvPr>
          <p:cNvSpPr txBox="1"/>
          <p:nvPr/>
        </p:nvSpPr>
        <p:spPr>
          <a:xfrm>
            <a:off x="11482593" y="6334780"/>
            <a:ext cx="315369"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5</a:t>
            </a:r>
            <a:endParaRPr sz="2800" b="1" dirty="0">
              <a:solidFill>
                <a:schemeClr val="lt1"/>
              </a:solidFill>
              <a:latin typeface="Arial"/>
              <a:ea typeface="Arial"/>
              <a:cs typeface="Arial"/>
              <a:sym typeface="Arial"/>
            </a:endParaRPr>
          </a:p>
        </p:txBody>
      </p:sp>
      <p:pic>
        <p:nvPicPr>
          <p:cNvPr id="5146" name="Picture 26" descr="Le tour de la problématique | PhyKhêmia 1ère scientifique">
            <a:extLst>
              <a:ext uri="{FF2B5EF4-FFF2-40B4-BE49-F238E27FC236}">
                <a16:creationId xmlns:a16="http://schemas.microsoft.com/office/drawing/2014/main" id="{4A51A91B-458D-4256-9627-8EC1DDB50C8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72109" y="2481985"/>
            <a:ext cx="3192722" cy="2960524"/>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a:extLst>
              <a:ext uri="{FF2B5EF4-FFF2-40B4-BE49-F238E27FC236}">
                <a16:creationId xmlns:a16="http://schemas.microsoft.com/office/drawing/2014/main" id="{808BCCE7-F5A4-93C6-20B7-3F192D590B6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8206" y="4666504"/>
            <a:ext cx="491728" cy="491728"/>
          </a:xfrm>
          <a:prstGeom prst="rect">
            <a:avLst/>
          </a:prstGeom>
        </p:spPr>
      </p:pic>
      <p:sp>
        <p:nvSpPr>
          <p:cNvPr id="5" name="Rectangle 4">
            <a:extLst>
              <a:ext uri="{FF2B5EF4-FFF2-40B4-BE49-F238E27FC236}">
                <a16:creationId xmlns:a16="http://schemas.microsoft.com/office/drawing/2014/main" id="{2C82A193-3CA9-52E4-CF44-DBE58F5405F1}"/>
              </a:ext>
            </a:extLst>
          </p:cNvPr>
          <p:cNvSpPr/>
          <p:nvPr/>
        </p:nvSpPr>
        <p:spPr>
          <a:xfrm>
            <a:off x="1743378" y="4734401"/>
            <a:ext cx="6649591" cy="369332"/>
          </a:xfrm>
          <a:prstGeom prst="rect">
            <a:avLst/>
          </a:prstGeom>
        </p:spPr>
        <p:txBody>
          <a:bodyPr wrap="square">
            <a:spAutoFit/>
          </a:bodyPr>
          <a:lstStyle/>
          <a:p>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Faible accessibilité</a:t>
            </a:r>
          </a:p>
        </p:txBody>
      </p:sp>
    </p:spTree>
    <p:custDataLst>
      <p:tags r:id="rId1"/>
    </p:custDataLst>
    <p:extLst>
      <p:ext uri="{BB962C8B-B14F-4D97-AF65-F5344CB8AC3E}">
        <p14:creationId xmlns:p14="http://schemas.microsoft.com/office/powerpoint/2010/main" val="195491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500"/>
                                        <p:tgtEl>
                                          <p:spTgt spid="15"/>
                                        </p:tgtEl>
                                      </p:cBhvr>
                                    </p:animEffect>
                                  </p:childTnLst>
                                </p:cTn>
                              </p:par>
                              <p:par>
                                <p:cTn id="12" presetID="10" presetClass="entr" presetSubtype="0"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8" dur="500"/>
                                        <p:tgtEl>
                                          <p:spTgt spid="17"/>
                                        </p:tgtEl>
                                      </p:cBhvr>
                                    </p:animEffect>
                                  </p:childTnLst>
                                </p:cTn>
                              </p:par>
                              <p:par>
                                <p:cTn id="19" presetID="10"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childTnLst>
                          </p:cTn>
                        </p:par>
                        <p:par>
                          <p:cTn id="22" fill="hold">
                            <p:stCondLst>
                              <p:cond delay="1500"/>
                            </p:stCondLst>
                            <p:childTnLst>
                              <p:par>
                                <p:cTn id="23" presetID="22" presetClass="entr" presetSubtype="8" fill="hold" grpId="0" nodeType="after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left)">
                                      <p:cBhvr>
                                        <p:cTn id="25" dur="500"/>
                                        <p:tgtEl>
                                          <p:spTgt spid="19"/>
                                        </p:tgtEl>
                                      </p:cBhvr>
                                    </p:animEffect>
                                  </p:childTnLst>
                                </p:cTn>
                              </p:par>
                              <p:par>
                                <p:cTn id="26" presetID="2" presetClass="entr" presetSubtype="8"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 calcmode="lin" valueType="num">
                                      <p:cBhvr additive="base">
                                        <p:cTn id="28" dur="250" fill="hold"/>
                                        <p:tgtEl>
                                          <p:spTgt spid="29"/>
                                        </p:tgtEl>
                                        <p:attrNameLst>
                                          <p:attrName>ppt_x</p:attrName>
                                        </p:attrNameLst>
                                      </p:cBhvr>
                                      <p:tavLst>
                                        <p:tav tm="0">
                                          <p:val>
                                            <p:strVal val="0-#ppt_w/2"/>
                                          </p:val>
                                        </p:tav>
                                        <p:tav tm="100000">
                                          <p:val>
                                            <p:strVal val="#ppt_x"/>
                                          </p:val>
                                        </p:tav>
                                      </p:tavLst>
                                    </p:anim>
                                    <p:anim calcmode="lin" valueType="num">
                                      <p:cBhvr additive="base">
                                        <p:cTn id="29" dur="250" fill="hold"/>
                                        <p:tgtEl>
                                          <p:spTgt spid="29"/>
                                        </p:tgtEl>
                                        <p:attrNameLst>
                                          <p:attrName>ppt_y</p:attrName>
                                        </p:attrNameLst>
                                      </p:cBhvr>
                                      <p:tavLst>
                                        <p:tav tm="0">
                                          <p:val>
                                            <p:strVal val="#ppt_y"/>
                                          </p:val>
                                        </p:tav>
                                        <p:tav tm="100000">
                                          <p:val>
                                            <p:strVal val="#ppt_y"/>
                                          </p:val>
                                        </p:tav>
                                      </p:tavLst>
                                    </p:anim>
                                  </p:childTnLst>
                                </p:cTn>
                              </p:par>
                              <p:par>
                                <p:cTn id="30" presetID="10" presetClass="entr" presetSubtype="0" fill="hold" grpId="0" nodeType="withEffect">
                                  <p:stCondLst>
                                    <p:cond delay="20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par>
                                <p:cTn id="33" presetID="2" presetClass="entr" presetSubtype="8"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cBhvr additive="base">
                                        <p:cTn id="35" dur="500" fill="hold"/>
                                        <p:tgtEl>
                                          <p:spTgt spid="30"/>
                                        </p:tgtEl>
                                        <p:attrNameLst>
                                          <p:attrName>ppt_x</p:attrName>
                                        </p:attrNameLst>
                                      </p:cBhvr>
                                      <p:tavLst>
                                        <p:tav tm="0">
                                          <p:val>
                                            <p:strVal val="0-#ppt_w/2"/>
                                          </p:val>
                                        </p:tav>
                                        <p:tav tm="100000">
                                          <p:val>
                                            <p:strVal val="#ppt_x"/>
                                          </p:val>
                                        </p:tav>
                                      </p:tavLst>
                                    </p:anim>
                                    <p:anim calcmode="lin" valueType="num">
                                      <p:cBhvr additive="base">
                                        <p:cTn id="36" dur="500" fill="hold"/>
                                        <p:tgtEl>
                                          <p:spTgt spid="30"/>
                                        </p:tgtEl>
                                        <p:attrNameLst>
                                          <p:attrName>ppt_y</p:attrName>
                                        </p:attrNameLst>
                                      </p:cBhvr>
                                      <p:tavLst>
                                        <p:tav tm="0">
                                          <p:val>
                                            <p:strVal val="#ppt_y"/>
                                          </p:val>
                                        </p:tav>
                                        <p:tav tm="100000">
                                          <p:val>
                                            <p:strVal val="#ppt_y"/>
                                          </p:val>
                                        </p:tav>
                                      </p:tavLst>
                                    </p:anim>
                                  </p:childTnLst>
                                </p:cTn>
                              </p:par>
                              <p:par>
                                <p:cTn id="37" presetID="10" presetClass="entr" presetSubtype="0" fill="hold" nodeType="with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fade">
                                      <p:cBhvr>
                                        <p:cTn id="39" dur="500"/>
                                        <p:tgtEl>
                                          <p:spTgt spid="4"/>
                                        </p:tgtEl>
                                      </p:cBhvr>
                                    </p:animEffect>
                                  </p:childTnLst>
                                </p:cTn>
                              </p:par>
                            </p:childTnLst>
                          </p:cTn>
                        </p:par>
                        <p:par>
                          <p:cTn id="40" fill="hold">
                            <p:stCondLst>
                              <p:cond delay="2100"/>
                            </p:stCondLst>
                            <p:childTnLst>
                              <p:par>
                                <p:cTn id="41" presetID="22" presetClass="entr" presetSubtype="8" fill="hold" grpId="0" nodeType="after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left)">
                                      <p:cBhvr>
                                        <p:cTn id="4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9" grpId="0"/>
      <p:bldP spid="28" grpId="0"/>
      <p:bldP spid="29" grpId="0"/>
      <p:bldP spid="30" grpId="0" animBg="1"/>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18B07EE-A45E-4446-A223-5B883B13E13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1">
            <a:extLst>
              <a:ext uri="{FF2B5EF4-FFF2-40B4-BE49-F238E27FC236}">
                <a16:creationId xmlns:a16="http://schemas.microsoft.com/office/drawing/2014/main" id="{226F08B3-37B7-4D5C-80DD-85ECEA54CD23}"/>
              </a:ext>
            </a:extLst>
          </p:cNvPr>
          <p:cNvSpPr/>
          <p:nvPr/>
        </p:nvSpPr>
        <p:spPr>
          <a:xfrm>
            <a:off x="1426810" y="90376"/>
            <a:ext cx="4379419" cy="15310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12" name="ZoneTexte 11">
            <a:extLst>
              <a:ext uri="{FF2B5EF4-FFF2-40B4-BE49-F238E27FC236}">
                <a16:creationId xmlns:a16="http://schemas.microsoft.com/office/drawing/2014/main" id="{A1F45310-BE4D-4039-B7F9-8718340B0FAA}"/>
              </a:ext>
            </a:extLst>
          </p:cNvPr>
          <p:cNvSpPr txBox="1"/>
          <p:nvPr/>
        </p:nvSpPr>
        <p:spPr>
          <a:xfrm>
            <a:off x="163239" y="2665208"/>
            <a:ext cx="9740160" cy="1107996"/>
          </a:xfrm>
          <a:prstGeom prst="rect">
            <a:avLst/>
          </a:prstGeom>
          <a:noFill/>
        </p:spPr>
        <p:txBody>
          <a:bodyPr wrap="square">
            <a:spAutoFit/>
          </a:bodyPr>
          <a:lstStyle/>
          <a:p>
            <a:endParaRPr lang="fr-FR" sz="2200" dirty="0">
              <a:solidFill>
                <a:schemeClr val="bg1"/>
              </a:solidFill>
            </a:endParaRPr>
          </a:p>
          <a:p>
            <a:endParaRPr lang="fr-FR" sz="2200" dirty="0">
              <a:solidFill>
                <a:schemeClr val="bg1"/>
              </a:solidFill>
            </a:endParaRPr>
          </a:p>
          <a:p>
            <a:endParaRPr lang="fr-FR" sz="2200" u="sng" dirty="0">
              <a:solidFill>
                <a:schemeClr val="bg1"/>
              </a:solidFill>
            </a:endParaRPr>
          </a:p>
        </p:txBody>
      </p:sp>
      <p:sp>
        <p:nvSpPr>
          <p:cNvPr id="3" name="Google Shape;245;p6">
            <a:extLst>
              <a:ext uri="{FF2B5EF4-FFF2-40B4-BE49-F238E27FC236}">
                <a16:creationId xmlns:a16="http://schemas.microsoft.com/office/drawing/2014/main" id="{7634230E-5B6E-F731-1F86-2DCB3A16ACE2}"/>
              </a:ext>
            </a:extLst>
          </p:cNvPr>
          <p:cNvSpPr txBox="1">
            <a:spLocks/>
          </p:cNvSpPr>
          <p:nvPr/>
        </p:nvSpPr>
        <p:spPr>
          <a:xfrm>
            <a:off x="4040803" y="1045401"/>
            <a:ext cx="9144000" cy="576064"/>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fr-FR" sz="3200" b="1" i="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Solutions proposées</a:t>
            </a:r>
          </a:p>
        </p:txBody>
      </p:sp>
      <p:pic>
        <p:nvPicPr>
          <p:cNvPr id="6" name="Image 5">
            <a:extLst>
              <a:ext uri="{FF2B5EF4-FFF2-40B4-BE49-F238E27FC236}">
                <a16:creationId xmlns:a16="http://schemas.microsoft.com/office/drawing/2014/main" id="{FD37B61A-A797-2EF0-4A5D-E5D1AAA3BAD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16340" y="2861525"/>
            <a:ext cx="432761" cy="378255"/>
          </a:xfrm>
          <a:prstGeom prst="rect">
            <a:avLst/>
          </a:prstGeom>
        </p:spPr>
      </p:pic>
      <p:sp>
        <p:nvSpPr>
          <p:cNvPr id="9" name="Rectangle 8">
            <a:extLst>
              <a:ext uri="{FF2B5EF4-FFF2-40B4-BE49-F238E27FC236}">
                <a16:creationId xmlns:a16="http://schemas.microsoft.com/office/drawing/2014/main" id="{8E95EEDC-9E8D-98EF-27AE-257A12033368}"/>
              </a:ext>
            </a:extLst>
          </p:cNvPr>
          <p:cNvSpPr/>
          <p:nvPr/>
        </p:nvSpPr>
        <p:spPr>
          <a:xfrm>
            <a:off x="1674691" y="2781706"/>
            <a:ext cx="5802987" cy="458074"/>
          </a:xfrm>
          <a:prstGeom prst="rect">
            <a:avLst/>
          </a:prstGeom>
        </p:spPr>
        <p:txBody>
          <a:bodyPr wrap="square">
            <a:spAutoFit/>
          </a:bodyPr>
          <a:lstStyle/>
          <a:p>
            <a:pPr>
              <a:lnSpc>
                <a:spcPct val="150000"/>
              </a:lnSpc>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ea typeface="Malgun Gothic"/>
                <a:cs typeface="Times New Roman" panose="02020603050405020304" pitchFamily="18" charset="0"/>
                <a:sym typeface="Malgun Gothic"/>
              </a:rPr>
              <a:t>Migration vers Java Spring Boot et Angular</a:t>
            </a:r>
          </a:p>
        </p:txBody>
      </p:sp>
      <p:sp>
        <p:nvSpPr>
          <p:cNvPr id="15" name="TextBox 14">
            <a:extLst>
              <a:ext uri="{FF2B5EF4-FFF2-40B4-BE49-F238E27FC236}">
                <a16:creationId xmlns:a16="http://schemas.microsoft.com/office/drawing/2014/main" id="{8492AD08-0DCD-4EEE-9EA5-F07107067E9F}"/>
              </a:ext>
            </a:extLst>
          </p:cNvPr>
          <p:cNvSpPr txBox="1"/>
          <p:nvPr/>
        </p:nvSpPr>
        <p:spPr>
          <a:xfrm>
            <a:off x="1330452" y="61014"/>
            <a:ext cx="5420703" cy="615553"/>
          </a:xfrm>
          <a:prstGeom prst="rect">
            <a:avLst/>
          </a:prstGeom>
          <a:noFill/>
        </p:spPr>
        <p:txBody>
          <a:bodyPr wrap="square" lIns="0" tIns="0" rIns="0" bIns="0" numCol="1" rtlCol="0">
            <a:spAutoFit/>
          </a:bodyPr>
          <a:lstStyle/>
          <a:p>
            <a:r>
              <a:rPr lang="en-US" sz="2000" b="1" i="1" dirty="0">
                <a:solidFill>
                  <a:srgbClr val="FF579A"/>
                </a:solidFill>
                <a:effectLst>
                  <a:outerShdw blurRad="38100" dist="38100" dir="2700000" algn="tl">
                    <a:srgbClr val="000000">
                      <a:alpha val="43137"/>
                    </a:srgbClr>
                  </a:outerShdw>
                </a:effectLst>
                <a:latin typeface="Roboto" pitchFamily="2" charset="0"/>
                <a:ea typeface="Roboto" pitchFamily="2" charset="0"/>
              </a:rPr>
              <a:t>Problématique, solutions </a:t>
            </a:r>
          </a:p>
          <a:p>
            <a:r>
              <a:rPr lang="en-US" sz="2000" b="1" i="1" dirty="0">
                <a:solidFill>
                  <a:srgbClr val="FF579A"/>
                </a:solidFill>
                <a:effectLst>
                  <a:outerShdw blurRad="38100" dist="38100" dir="2700000" algn="tl">
                    <a:srgbClr val="000000">
                      <a:alpha val="43137"/>
                    </a:srgbClr>
                  </a:outerShdw>
                </a:effectLst>
                <a:latin typeface="Roboto" pitchFamily="2" charset="0"/>
                <a:ea typeface="Roboto" pitchFamily="2" charset="0"/>
              </a:rPr>
              <a:t>proposées et Objectifs</a:t>
            </a:r>
          </a:p>
        </p:txBody>
      </p:sp>
      <p:sp>
        <p:nvSpPr>
          <p:cNvPr id="16" name="ZoneTexte 10">
            <a:extLst>
              <a:ext uri="{FF2B5EF4-FFF2-40B4-BE49-F238E27FC236}">
                <a16:creationId xmlns:a16="http://schemas.microsoft.com/office/drawing/2014/main" id="{2DF55C8E-FCAC-4B81-B9BD-64DAB12D78D4}"/>
              </a:ext>
            </a:extLst>
          </p:cNvPr>
          <p:cNvSpPr txBox="1"/>
          <p:nvPr/>
        </p:nvSpPr>
        <p:spPr>
          <a:xfrm>
            <a:off x="0" y="-203200"/>
            <a:ext cx="2038470" cy="1446550"/>
          </a:xfrm>
          <a:prstGeom prst="rect">
            <a:avLst/>
          </a:prstGeom>
          <a:noFill/>
        </p:spPr>
        <p:txBody>
          <a:bodyPr wrap="square">
            <a:spAutoFit/>
          </a:bodyPr>
          <a:lstStyle/>
          <a:p>
            <a:r>
              <a:rPr lang="en-US" sz="8800" dirty="0">
                <a:ln w="15875">
                  <a:solidFill>
                    <a:schemeClr val="bg1"/>
                  </a:solidFill>
                </a:ln>
                <a:noFill/>
                <a:latin typeface="Archivo Black" panose="020B0A03020202020B04" pitchFamily="34" charset="0"/>
              </a:rPr>
              <a:t>02</a:t>
            </a:r>
            <a:endParaRPr lang="en-US" sz="23900" dirty="0"/>
          </a:p>
        </p:txBody>
      </p:sp>
      <p:sp>
        <p:nvSpPr>
          <p:cNvPr id="17" name="Rectangle 16">
            <a:extLst>
              <a:ext uri="{FF2B5EF4-FFF2-40B4-BE49-F238E27FC236}">
                <a16:creationId xmlns:a16="http://schemas.microsoft.com/office/drawing/2014/main" id="{0D17A698-AE23-4871-88CE-10D65A269746}"/>
              </a:ext>
            </a:extLst>
          </p:cNvPr>
          <p:cNvSpPr/>
          <p:nvPr/>
        </p:nvSpPr>
        <p:spPr>
          <a:xfrm>
            <a:off x="1228135" y="57371"/>
            <a:ext cx="45719" cy="925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18" name="Google Shape;273;p6">
            <a:extLst>
              <a:ext uri="{FF2B5EF4-FFF2-40B4-BE49-F238E27FC236}">
                <a16:creationId xmlns:a16="http://schemas.microsoft.com/office/drawing/2014/main" id="{395F4700-1B7B-4C27-BAC4-90105B0E3890}"/>
              </a:ext>
            </a:extLst>
          </p:cNvPr>
          <p:cNvSpPr txBox="1"/>
          <p:nvPr/>
        </p:nvSpPr>
        <p:spPr>
          <a:xfrm>
            <a:off x="11482593" y="6334780"/>
            <a:ext cx="315369"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6</a:t>
            </a:r>
            <a:endParaRPr sz="2800" b="1" dirty="0">
              <a:solidFill>
                <a:schemeClr val="lt1"/>
              </a:solidFill>
              <a:latin typeface="Arial"/>
              <a:ea typeface="Arial"/>
              <a:cs typeface="Arial"/>
              <a:sym typeface="Arial"/>
            </a:endParaRPr>
          </a:p>
        </p:txBody>
      </p:sp>
      <p:pic>
        <p:nvPicPr>
          <p:cNvPr id="6168" name="Picture 24" descr="Solution Cliparts, Stock Vector and Royalty Free Solution Illustrations">
            <a:extLst>
              <a:ext uri="{FF2B5EF4-FFF2-40B4-BE49-F238E27FC236}">
                <a16:creationId xmlns:a16="http://schemas.microsoft.com/office/drawing/2014/main" id="{15054D7E-C3A3-491C-AE48-FC98FDE5B31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00878" y="2268167"/>
            <a:ext cx="2848074" cy="2848074"/>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a:extLst>
              <a:ext uri="{FF2B5EF4-FFF2-40B4-BE49-F238E27FC236}">
                <a16:creationId xmlns:a16="http://schemas.microsoft.com/office/drawing/2014/main" id="{DF339965-4B28-7BD3-010A-56DFF996641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8892" y="3508778"/>
            <a:ext cx="432761" cy="378255"/>
          </a:xfrm>
          <a:prstGeom prst="rect">
            <a:avLst/>
          </a:prstGeom>
        </p:spPr>
      </p:pic>
      <p:sp>
        <p:nvSpPr>
          <p:cNvPr id="5" name="Rectangle 4">
            <a:extLst>
              <a:ext uri="{FF2B5EF4-FFF2-40B4-BE49-F238E27FC236}">
                <a16:creationId xmlns:a16="http://schemas.microsoft.com/office/drawing/2014/main" id="{47AADBB6-09D8-7F58-2B2D-5756FDB34019}"/>
              </a:ext>
            </a:extLst>
          </p:cNvPr>
          <p:cNvSpPr/>
          <p:nvPr/>
        </p:nvSpPr>
        <p:spPr>
          <a:xfrm>
            <a:off x="1665727" y="3428967"/>
            <a:ext cx="5802987" cy="458074"/>
          </a:xfrm>
          <a:prstGeom prst="rect">
            <a:avLst/>
          </a:prstGeom>
        </p:spPr>
        <p:txBody>
          <a:bodyPr wrap="square">
            <a:spAutoFit/>
          </a:bodyPr>
          <a:lstStyle/>
          <a:p>
            <a:pPr>
              <a:lnSpc>
                <a:spcPct val="150000"/>
              </a:lnSpc>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ea typeface="Malgun Gothic"/>
                <a:cs typeface="Times New Roman" panose="02020603050405020304" pitchFamily="18" charset="0"/>
                <a:sym typeface="Malgun Gothic"/>
              </a:rPr>
              <a:t>Architecture microservices pour modularité et flexibilité</a:t>
            </a:r>
          </a:p>
        </p:txBody>
      </p:sp>
      <p:pic>
        <p:nvPicPr>
          <p:cNvPr id="8" name="Image 7">
            <a:extLst>
              <a:ext uri="{FF2B5EF4-FFF2-40B4-BE49-F238E27FC236}">
                <a16:creationId xmlns:a16="http://schemas.microsoft.com/office/drawing/2014/main" id="{8F8FAFAA-4BF7-B67E-4C09-2A5784F3B37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30685" y="4166791"/>
            <a:ext cx="432761" cy="378255"/>
          </a:xfrm>
          <a:prstGeom prst="rect">
            <a:avLst/>
          </a:prstGeom>
        </p:spPr>
      </p:pic>
      <p:sp>
        <p:nvSpPr>
          <p:cNvPr id="11" name="Rectangle 10">
            <a:extLst>
              <a:ext uri="{FF2B5EF4-FFF2-40B4-BE49-F238E27FC236}">
                <a16:creationId xmlns:a16="http://schemas.microsoft.com/office/drawing/2014/main" id="{D4B20616-4B40-1170-306D-A63136598CDA}"/>
              </a:ext>
            </a:extLst>
          </p:cNvPr>
          <p:cNvSpPr/>
          <p:nvPr/>
        </p:nvSpPr>
        <p:spPr>
          <a:xfrm>
            <a:off x="1689036" y="4086972"/>
            <a:ext cx="5802987" cy="458074"/>
          </a:xfrm>
          <a:prstGeom prst="rect">
            <a:avLst/>
          </a:prstGeom>
        </p:spPr>
        <p:txBody>
          <a:bodyPr wrap="square">
            <a:spAutoFit/>
          </a:bodyPr>
          <a:lstStyle/>
          <a:p>
            <a:pPr>
              <a:lnSpc>
                <a:spcPct val="150000"/>
              </a:lnSpc>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ea typeface="Malgun Gothic"/>
                <a:cs typeface="Times New Roman" panose="02020603050405020304" pitchFamily="18" charset="0"/>
                <a:sym typeface="Malgun Gothic"/>
              </a:rPr>
              <a:t>Expérience utilisateur moderne et multiplateforme</a:t>
            </a:r>
          </a:p>
        </p:txBody>
      </p:sp>
    </p:spTree>
    <p:custDataLst>
      <p:tags r:id="rId1"/>
    </p:custDataLst>
    <p:extLst>
      <p:ext uri="{BB962C8B-B14F-4D97-AF65-F5344CB8AC3E}">
        <p14:creationId xmlns:p14="http://schemas.microsoft.com/office/powerpoint/2010/main" val="2790421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25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750"/>
                            </p:stCondLst>
                            <p:childTnLst>
                              <p:par>
                                <p:cTn id="9" presetID="22" presetClass="entr" presetSubtype="8" fill="hold" grpId="0" nodeType="afterEffect">
                                  <p:stCondLst>
                                    <p:cond delay="150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par>
                                <p:cTn id="12" presetID="10" presetClass="entr" presetSubtype="0" fill="hold" nodeType="withEffect">
                                  <p:stCondLst>
                                    <p:cond delay="15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2" presetClass="entr" presetSubtype="8"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250" fill="hold"/>
                                        <p:tgtEl>
                                          <p:spTgt spid="16"/>
                                        </p:tgtEl>
                                        <p:attrNameLst>
                                          <p:attrName>ppt_x</p:attrName>
                                        </p:attrNameLst>
                                      </p:cBhvr>
                                      <p:tavLst>
                                        <p:tav tm="0">
                                          <p:val>
                                            <p:strVal val="0-#ppt_w/2"/>
                                          </p:val>
                                        </p:tav>
                                        <p:tav tm="100000">
                                          <p:val>
                                            <p:strVal val="#ppt_x"/>
                                          </p:val>
                                        </p:tav>
                                      </p:tavLst>
                                    </p:anim>
                                    <p:anim calcmode="lin" valueType="num">
                                      <p:cBhvr additive="base">
                                        <p:cTn id="18" dur="250" fill="hold"/>
                                        <p:tgtEl>
                                          <p:spTgt spid="16"/>
                                        </p:tgtEl>
                                        <p:attrNameLst>
                                          <p:attrName>ppt_y</p:attrName>
                                        </p:attrNameLst>
                                      </p:cBhvr>
                                      <p:tavLst>
                                        <p:tav tm="0">
                                          <p:val>
                                            <p:strVal val="#ppt_y"/>
                                          </p:val>
                                        </p:tav>
                                        <p:tav tm="100000">
                                          <p:val>
                                            <p:strVal val="#ppt_y"/>
                                          </p:val>
                                        </p:tav>
                                      </p:tavLst>
                                    </p:anim>
                                  </p:childTnLst>
                                </p:cTn>
                              </p:par>
                              <p:par>
                                <p:cTn id="19" presetID="10" presetClass="entr" presetSubtype="0" fill="hold" grpId="0" nodeType="withEffect">
                                  <p:stCondLst>
                                    <p:cond delay="20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2" presetClass="entr" presetSubtype="8"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additive="base">
                                        <p:cTn id="24" dur="500" fill="hold"/>
                                        <p:tgtEl>
                                          <p:spTgt spid="17"/>
                                        </p:tgtEl>
                                        <p:attrNameLst>
                                          <p:attrName>ppt_x</p:attrName>
                                        </p:attrNameLst>
                                      </p:cBhvr>
                                      <p:tavLst>
                                        <p:tav tm="0">
                                          <p:val>
                                            <p:strVal val="0-#ppt_w/2"/>
                                          </p:val>
                                        </p:tav>
                                        <p:tav tm="100000">
                                          <p:val>
                                            <p:strVal val="#ppt_x"/>
                                          </p:val>
                                        </p:tav>
                                      </p:tavLst>
                                    </p:anim>
                                    <p:anim calcmode="lin" valueType="num">
                                      <p:cBhvr additive="base">
                                        <p:cTn id="25" dur="500" fill="hold"/>
                                        <p:tgtEl>
                                          <p:spTgt spid="17"/>
                                        </p:tgtEl>
                                        <p:attrNameLst>
                                          <p:attrName>ppt_y</p:attrName>
                                        </p:attrNameLst>
                                      </p:cBhvr>
                                      <p:tavLst>
                                        <p:tav tm="0">
                                          <p:val>
                                            <p:strVal val="#ppt_y"/>
                                          </p:val>
                                        </p:tav>
                                        <p:tav tm="100000">
                                          <p:val>
                                            <p:strVal val="#ppt_y"/>
                                          </p:val>
                                        </p:tav>
                                      </p:tavLst>
                                    </p:anim>
                                  </p:childTnLst>
                                </p:cTn>
                              </p:par>
                            </p:childTnLst>
                          </p:cTn>
                        </p:par>
                        <p:par>
                          <p:cTn id="26" fill="hold">
                            <p:stCondLst>
                              <p:cond delay="2750"/>
                            </p:stCondLst>
                            <p:childTnLst>
                              <p:par>
                                <p:cTn id="27" presetID="22" presetClass="entr" presetSubtype="8" fill="hold" grpId="0" nodeType="afterEffect">
                                  <p:stCondLst>
                                    <p:cond delay="150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par>
                                <p:cTn id="30" presetID="10" presetClass="entr" presetSubtype="0" fill="hold" nodeType="withEffect">
                                  <p:stCondLst>
                                    <p:cond delay="150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par>
                          <p:cTn id="33" fill="hold">
                            <p:stCondLst>
                              <p:cond delay="4750"/>
                            </p:stCondLst>
                            <p:childTnLst>
                              <p:par>
                                <p:cTn id="34" presetID="22" presetClass="entr" presetSubtype="8" fill="hold" grpId="0" nodeType="afterEffect">
                                  <p:stCondLst>
                                    <p:cond delay="150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par>
                                <p:cTn id="37" presetID="10" presetClass="entr" presetSubtype="0" fill="hold" nodeType="withEffect">
                                  <p:stCondLst>
                                    <p:cond delay="150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9" grpId="0"/>
      <p:bldP spid="15" grpId="0"/>
      <p:bldP spid="16" grpId="0"/>
      <p:bldP spid="17" grpId="0" animBg="1"/>
      <p:bldP spid="5"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18B07EE-A45E-4446-A223-5B883B13E13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1">
            <a:extLst>
              <a:ext uri="{FF2B5EF4-FFF2-40B4-BE49-F238E27FC236}">
                <a16:creationId xmlns:a16="http://schemas.microsoft.com/office/drawing/2014/main" id="{226F08B3-37B7-4D5C-80DD-85ECEA54CD23}"/>
              </a:ext>
            </a:extLst>
          </p:cNvPr>
          <p:cNvSpPr/>
          <p:nvPr/>
        </p:nvSpPr>
        <p:spPr>
          <a:xfrm>
            <a:off x="2005544" y="1586048"/>
            <a:ext cx="4379419" cy="15310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3" name="Google Shape;234;p5">
            <a:extLst>
              <a:ext uri="{FF2B5EF4-FFF2-40B4-BE49-F238E27FC236}">
                <a16:creationId xmlns:a16="http://schemas.microsoft.com/office/drawing/2014/main" id="{B36690F5-0C28-16AF-AA60-C23FCB65FFFE}"/>
              </a:ext>
            </a:extLst>
          </p:cNvPr>
          <p:cNvSpPr txBox="1">
            <a:spLocks/>
          </p:cNvSpPr>
          <p:nvPr/>
        </p:nvSpPr>
        <p:spPr>
          <a:xfrm>
            <a:off x="1812963" y="1303234"/>
            <a:ext cx="9144000" cy="576064"/>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Clr>
                <a:srgbClr val="3F3F3F"/>
              </a:buClr>
              <a:buSzPts val="3600"/>
              <a:buFont typeface="Arial" panose="020B0604020202020204" pitchFamily="34" charset="0"/>
              <a:buNone/>
            </a:pPr>
            <a:r>
              <a:rPr lang="fr-FR" sz="3200" b="1" i="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OBJECTIFS</a:t>
            </a:r>
          </a:p>
        </p:txBody>
      </p:sp>
      <p:pic>
        <p:nvPicPr>
          <p:cNvPr id="14" name="Image 13">
            <a:extLst>
              <a:ext uri="{FF2B5EF4-FFF2-40B4-BE49-F238E27FC236}">
                <a16:creationId xmlns:a16="http://schemas.microsoft.com/office/drawing/2014/main" id="{2FC91BA8-8964-9D5F-6D91-B700CAE67A3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27169" y="2627192"/>
            <a:ext cx="491728" cy="460000"/>
          </a:xfrm>
          <a:prstGeom prst="rect">
            <a:avLst/>
          </a:prstGeom>
        </p:spPr>
      </p:pic>
      <p:sp>
        <p:nvSpPr>
          <p:cNvPr id="15" name="Rectangle 14">
            <a:extLst>
              <a:ext uri="{FF2B5EF4-FFF2-40B4-BE49-F238E27FC236}">
                <a16:creationId xmlns:a16="http://schemas.microsoft.com/office/drawing/2014/main" id="{B83C4A67-298D-5C3F-C5C2-B13EF11717C4}"/>
              </a:ext>
            </a:extLst>
          </p:cNvPr>
          <p:cNvSpPr/>
          <p:nvPr/>
        </p:nvSpPr>
        <p:spPr>
          <a:xfrm>
            <a:off x="1701357" y="2687366"/>
            <a:ext cx="6649591" cy="369332"/>
          </a:xfrm>
          <a:prstGeom prst="rect">
            <a:avLst/>
          </a:prstGeom>
        </p:spPr>
        <p:txBody>
          <a:bodyPr wrap="square">
            <a:spAutoFit/>
          </a:bodyPr>
          <a:lstStyle/>
          <a:p>
            <a:pPr algn="just"/>
            <a:r>
              <a:rPr lang="fr-FR" dirty="0">
                <a:solidFill>
                  <a:schemeClr val="bg1"/>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Optimisation des performances</a:t>
            </a:r>
            <a:endParaRPr lang="en-US" dirty="0">
              <a:solidFill>
                <a:schemeClr val="bg1"/>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6" name="Image 15">
            <a:extLst>
              <a:ext uri="{FF2B5EF4-FFF2-40B4-BE49-F238E27FC236}">
                <a16:creationId xmlns:a16="http://schemas.microsoft.com/office/drawing/2014/main" id="{8724889D-5459-BD15-1EB6-0D26DEA0B40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27169" y="3273290"/>
            <a:ext cx="491728" cy="491728"/>
          </a:xfrm>
          <a:prstGeom prst="rect">
            <a:avLst/>
          </a:prstGeom>
        </p:spPr>
      </p:pic>
      <p:sp>
        <p:nvSpPr>
          <p:cNvPr id="17" name="Rectangle 16">
            <a:extLst>
              <a:ext uri="{FF2B5EF4-FFF2-40B4-BE49-F238E27FC236}">
                <a16:creationId xmlns:a16="http://schemas.microsoft.com/office/drawing/2014/main" id="{1AF11D43-978E-848D-E4D6-90B10E43FB68}"/>
              </a:ext>
            </a:extLst>
          </p:cNvPr>
          <p:cNvSpPr/>
          <p:nvPr/>
        </p:nvSpPr>
        <p:spPr>
          <a:xfrm>
            <a:off x="1729191" y="3348970"/>
            <a:ext cx="6649591" cy="369332"/>
          </a:xfrm>
          <a:prstGeom prst="rect">
            <a:avLst/>
          </a:prstGeom>
        </p:spPr>
        <p:txBody>
          <a:bodyPr wrap="square">
            <a:spAutoFit/>
          </a:bodyPr>
          <a:lstStyle/>
          <a:p>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Flexibilité pour intégrer de nouvelles fonctionnalités</a:t>
            </a:r>
          </a:p>
        </p:txBody>
      </p:sp>
      <p:pic>
        <p:nvPicPr>
          <p:cNvPr id="18" name="Image 17">
            <a:extLst>
              <a:ext uri="{FF2B5EF4-FFF2-40B4-BE49-F238E27FC236}">
                <a16:creationId xmlns:a16="http://schemas.microsoft.com/office/drawing/2014/main" id="{E147C540-9F4B-D505-8EFF-43530FFDE61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27169" y="3951116"/>
            <a:ext cx="491728" cy="491728"/>
          </a:xfrm>
          <a:prstGeom prst="rect">
            <a:avLst/>
          </a:prstGeom>
        </p:spPr>
      </p:pic>
      <p:sp>
        <p:nvSpPr>
          <p:cNvPr id="19" name="Rectangle 18">
            <a:extLst>
              <a:ext uri="{FF2B5EF4-FFF2-40B4-BE49-F238E27FC236}">
                <a16:creationId xmlns:a16="http://schemas.microsoft.com/office/drawing/2014/main" id="{BD732301-8E2C-2AFF-1FE0-D58BA3A4CB95}"/>
              </a:ext>
            </a:extLst>
          </p:cNvPr>
          <p:cNvSpPr/>
          <p:nvPr/>
        </p:nvSpPr>
        <p:spPr>
          <a:xfrm>
            <a:off x="1740766" y="4021737"/>
            <a:ext cx="6649591" cy="369332"/>
          </a:xfrm>
          <a:prstGeom prst="rect">
            <a:avLst/>
          </a:prstGeom>
        </p:spPr>
        <p:txBody>
          <a:bodyPr wrap="square">
            <a:spAutoFit/>
          </a:bodyPr>
          <a:lstStyle/>
          <a:p>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Simplification de la maintenance</a:t>
            </a:r>
          </a:p>
        </p:txBody>
      </p:sp>
      <p:pic>
        <p:nvPicPr>
          <p:cNvPr id="23" name="Image 22">
            <a:extLst>
              <a:ext uri="{FF2B5EF4-FFF2-40B4-BE49-F238E27FC236}">
                <a16:creationId xmlns:a16="http://schemas.microsoft.com/office/drawing/2014/main" id="{560C6189-7046-E117-621B-E2EE07D340A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5594" y="4638826"/>
            <a:ext cx="491728" cy="491728"/>
          </a:xfrm>
          <a:prstGeom prst="rect">
            <a:avLst/>
          </a:prstGeom>
        </p:spPr>
      </p:pic>
      <p:sp>
        <p:nvSpPr>
          <p:cNvPr id="24" name="ZoneTexte 23">
            <a:extLst>
              <a:ext uri="{FF2B5EF4-FFF2-40B4-BE49-F238E27FC236}">
                <a16:creationId xmlns:a16="http://schemas.microsoft.com/office/drawing/2014/main" id="{28B4B1A9-EB24-2E0B-A325-1715AF905A20}"/>
              </a:ext>
            </a:extLst>
          </p:cNvPr>
          <p:cNvSpPr txBox="1"/>
          <p:nvPr/>
        </p:nvSpPr>
        <p:spPr>
          <a:xfrm>
            <a:off x="1752341" y="4702355"/>
            <a:ext cx="4343659" cy="369332"/>
          </a:xfrm>
          <a:prstGeom prst="rect">
            <a:avLst/>
          </a:prstGeom>
          <a:noFill/>
        </p:spPr>
        <p:txBody>
          <a:bodyPr wrap="square" rtlCol="0">
            <a:spAutoFit/>
          </a:bodyPr>
          <a:lstStyle/>
          <a:p>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Sécurité et confidentialité</a:t>
            </a:r>
          </a:p>
        </p:txBody>
      </p:sp>
      <p:sp>
        <p:nvSpPr>
          <p:cNvPr id="22" name="Google Shape;273;p6">
            <a:extLst>
              <a:ext uri="{FF2B5EF4-FFF2-40B4-BE49-F238E27FC236}">
                <a16:creationId xmlns:a16="http://schemas.microsoft.com/office/drawing/2014/main" id="{7E403DE6-537A-4E4A-AD1B-90D91C084BB5}"/>
              </a:ext>
            </a:extLst>
          </p:cNvPr>
          <p:cNvSpPr txBox="1"/>
          <p:nvPr/>
        </p:nvSpPr>
        <p:spPr>
          <a:xfrm>
            <a:off x="11482593" y="6334780"/>
            <a:ext cx="315369"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7</a:t>
            </a:r>
            <a:endParaRPr sz="2800" b="1" dirty="0">
              <a:solidFill>
                <a:schemeClr val="lt1"/>
              </a:solidFill>
              <a:latin typeface="Arial"/>
              <a:ea typeface="Arial"/>
              <a:cs typeface="Arial"/>
              <a:sym typeface="Arial"/>
            </a:endParaRPr>
          </a:p>
        </p:txBody>
      </p:sp>
      <p:sp>
        <p:nvSpPr>
          <p:cNvPr id="25" name="TextBox 24">
            <a:extLst>
              <a:ext uri="{FF2B5EF4-FFF2-40B4-BE49-F238E27FC236}">
                <a16:creationId xmlns:a16="http://schemas.microsoft.com/office/drawing/2014/main" id="{5955E427-1AEB-4227-AE4C-E68FDDB94C35}"/>
              </a:ext>
            </a:extLst>
          </p:cNvPr>
          <p:cNvSpPr txBox="1"/>
          <p:nvPr/>
        </p:nvSpPr>
        <p:spPr>
          <a:xfrm>
            <a:off x="1330452" y="61014"/>
            <a:ext cx="5420703" cy="615553"/>
          </a:xfrm>
          <a:prstGeom prst="rect">
            <a:avLst/>
          </a:prstGeom>
          <a:noFill/>
        </p:spPr>
        <p:txBody>
          <a:bodyPr wrap="square" lIns="0" tIns="0" rIns="0" bIns="0" numCol="1" rtlCol="0">
            <a:spAutoFit/>
          </a:bodyPr>
          <a:lstStyle/>
          <a:p>
            <a:r>
              <a:rPr lang="en-US" sz="2000" b="1" i="1" dirty="0">
                <a:solidFill>
                  <a:srgbClr val="FF579A"/>
                </a:solidFill>
                <a:effectLst>
                  <a:outerShdw blurRad="38100" dist="38100" dir="2700000" algn="tl">
                    <a:srgbClr val="000000">
                      <a:alpha val="43137"/>
                    </a:srgbClr>
                  </a:outerShdw>
                </a:effectLst>
                <a:latin typeface="Roboto" pitchFamily="2" charset="0"/>
                <a:ea typeface="Roboto" pitchFamily="2" charset="0"/>
              </a:rPr>
              <a:t>Problématique, solutions </a:t>
            </a:r>
          </a:p>
          <a:p>
            <a:r>
              <a:rPr lang="en-US" sz="2000" b="1" i="1" dirty="0">
                <a:solidFill>
                  <a:srgbClr val="FF579A"/>
                </a:solidFill>
                <a:effectLst>
                  <a:outerShdw blurRad="38100" dist="38100" dir="2700000" algn="tl">
                    <a:srgbClr val="000000">
                      <a:alpha val="43137"/>
                    </a:srgbClr>
                  </a:outerShdw>
                </a:effectLst>
                <a:latin typeface="Roboto" pitchFamily="2" charset="0"/>
                <a:ea typeface="Roboto" pitchFamily="2" charset="0"/>
              </a:rPr>
              <a:t>proposées et Objectifs</a:t>
            </a:r>
          </a:p>
        </p:txBody>
      </p:sp>
      <p:sp>
        <p:nvSpPr>
          <p:cNvPr id="26" name="ZoneTexte 10">
            <a:extLst>
              <a:ext uri="{FF2B5EF4-FFF2-40B4-BE49-F238E27FC236}">
                <a16:creationId xmlns:a16="http://schemas.microsoft.com/office/drawing/2014/main" id="{FA228EE9-5850-462D-AB19-907A874FC233}"/>
              </a:ext>
            </a:extLst>
          </p:cNvPr>
          <p:cNvSpPr txBox="1"/>
          <p:nvPr/>
        </p:nvSpPr>
        <p:spPr>
          <a:xfrm>
            <a:off x="0" y="-203200"/>
            <a:ext cx="2038470" cy="1446550"/>
          </a:xfrm>
          <a:prstGeom prst="rect">
            <a:avLst/>
          </a:prstGeom>
          <a:noFill/>
        </p:spPr>
        <p:txBody>
          <a:bodyPr wrap="square">
            <a:spAutoFit/>
          </a:bodyPr>
          <a:lstStyle/>
          <a:p>
            <a:r>
              <a:rPr lang="en-US" sz="8800" dirty="0">
                <a:ln w="15875">
                  <a:solidFill>
                    <a:schemeClr val="bg1"/>
                  </a:solidFill>
                </a:ln>
                <a:noFill/>
                <a:latin typeface="Archivo Black" panose="020B0A03020202020B04" pitchFamily="34" charset="0"/>
              </a:rPr>
              <a:t>02</a:t>
            </a:r>
            <a:endParaRPr lang="en-US" sz="23900" dirty="0"/>
          </a:p>
        </p:txBody>
      </p:sp>
      <p:sp>
        <p:nvSpPr>
          <p:cNvPr id="27" name="Rectangle 26">
            <a:extLst>
              <a:ext uri="{FF2B5EF4-FFF2-40B4-BE49-F238E27FC236}">
                <a16:creationId xmlns:a16="http://schemas.microsoft.com/office/drawing/2014/main" id="{4B852174-B625-430C-8A0C-68F2D4DA77E6}"/>
              </a:ext>
            </a:extLst>
          </p:cNvPr>
          <p:cNvSpPr/>
          <p:nvPr/>
        </p:nvSpPr>
        <p:spPr>
          <a:xfrm>
            <a:off x="1228135" y="57371"/>
            <a:ext cx="45719" cy="925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pic>
        <p:nvPicPr>
          <p:cNvPr id="7192" name="Picture 24" descr="Goal-Setting : Le guide complet - Trivmph">
            <a:extLst>
              <a:ext uri="{FF2B5EF4-FFF2-40B4-BE49-F238E27FC236}">
                <a16:creationId xmlns:a16="http://schemas.microsoft.com/office/drawing/2014/main" id="{16147145-3916-49F1-9740-4C3CB508676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42063" y="3030116"/>
            <a:ext cx="3555899" cy="218918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14710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500"/>
                                        <p:tgtEl>
                                          <p:spTgt spid="15"/>
                                        </p:tgtEl>
                                      </p:cBhvr>
                                    </p:animEffect>
                                  </p:childTnLst>
                                </p:cTn>
                              </p:par>
                              <p:par>
                                <p:cTn id="12" presetID="10" presetClass="entr" presetSubtype="0"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8" dur="500"/>
                                        <p:tgtEl>
                                          <p:spTgt spid="17"/>
                                        </p:tgtEl>
                                      </p:cBhvr>
                                    </p:animEffect>
                                  </p:childTnLst>
                                </p:cTn>
                              </p:par>
                              <p:par>
                                <p:cTn id="19" presetID="2" presetClass="entr" presetSubtype="8"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additive="base">
                                        <p:cTn id="21" dur="250" fill="hold"/>
                                        <p:tgtEl>
                                          <p:spTgt spid="26"/>
                                        </p:tgtEl>
                                        <p:attrNameLst>
                                          <p:attrName>ppt_x</p:attrName>
                                        </p:attrNameLst>
                                      </p:cBhvr>
                                      <p:tavLst>
                                        <p:tav tm="0">
                                          <p:val>
                                            <p:strVal val="0-#ppt_w/2"/>
                                          </p:val>
                                        </p:tav>
                                        <p:tav tm="100000">
                                          <p:val>
                                            <p:strVal val="#ppt_x"/>
                                          </p:val>
                                        </p:tav>
                                      </p:tavLst>
                                    </p:anim>
                                    <p:anim calcmode="lin" valueType="num">
                                      <p:cBhvr additive="base">
                                        <p:cTn id="22" dur="250" fill="hold"/>
                                        <p:tgtEl>
                                          <p:spTgt spid="26"/>
                                        </p:tgtEl>
                                        <p:attrNameLst>
                                          <p:attrName>ppt_y</p:attrName>
                                        </p:attrNameLst>
                                      </p:cBhvr>
                                      <p:tavLst>
                                        <p:tav tm="0">
                                          <p:val>
                                            <p:strVal val="#ppt_y"/>
                                          </p:val>
                                        </p:tav>
                                        <p:tav tm="100000">
                                          <p:val>
                                            <p:strVal val="#ppt_y"/>
                                          </p:val>
                                        </p:tav>
                                      </p:tavLst>
                                    </p:anim>
                                  </p:childTnLst>
                                </p:cTn>
                              </p:par>
                              <p:par>
                                <p:cTn id="23" presetID="10" presetClass="entr" presetSubtype="0" fill="hold" grpId="0" nodeType="withEffect">
                                  <p:stCondLst>
                                    <p:cond delay="20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00"/>
                                        <p:tgtEl>
                                          <p:spTgt spid="25"/>
                                        </p:tgtEl>
                                      </p:cBhvr>
                                    </p:animEffect>
                                  </p:childTnLst>
                                </p:cTn>
                              </p:par>
                              <p:par>
                                <p:cTn id="26" presetID="2" presetClass="entr" presetSubtype="8"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anim calcmode="lin" valueType="num">
                                      <p:cBhvr additive="base">
                                        <p:cTn id="28" dur="500" fill="hold"/>
                                        <p:tgtEl>
                                          <p:spTgt spid="27"/>
                                        </p:tgtEl>
                                        <p:attrNameLst>
                                          <p:attrName>ppt_x</p:attrName>
                                        </p:attrNameLst>
                                      </p:cBhvr>
                                      <p:tavLst>
                                        <p:tav tm="0">
                                          <p:val>
                                            <p:strVal val="0-#ppt_w/2"/>
                                          </p:val>
                                        </p:tav>
                                        <p:tav tm="100000">
                                          <p:val>
                                            <p:strVal val="#ppt_x"/>
                                          </p:val>
                                        </p:tav>
                                      </p:tavLst>
                                    </p:anim>
                                    <p:anim calcmode="lin" valueType="num">
                                      <p:cBhvr additive="base">
                                        <p:cTn id="29" dur="500" fill="hold"/>
                                        <p:tgtEl>
                                          <p:spTgt spid="27"/>
                                        </p:tgtEl>
                                        <p:attrNameLst>
                                          <p:attrName>ppt_y</p:attrName>
                                        </p:attrNameLst>
                                      </p:cBhvr>
                                      <p:tavLst>
                                        <p:tav tm="0">
                                          <p:val>
                                            <p:strVal val="#ppt_y"/>
                                          </p:val>
                                        </p:tav>
                                        <p:tav tm="100000">
                                          <p:val>
                                            <p:strVal val="#ppt_y"/>
                                          </p:val>
                                        </p:tav>
                                      </p:tavLst>
                                    </p:anim>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par>
                          <p:cTn id="33" fill="hold">
                            <p:stCondLst>
                              <p:cond delay="1600"/>
                            </p:stCondLst>
                            <p:childTnLst>
                              <p:par>
                                <p:cTn id="34" presetID="22" presetClass="entr" presetSubtype="8" fill="hold" grpId="0" nodeType="after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left)">
                                      <p:cBhvr>
                                        <p:cTn id="36" dur="500"/>
                                        <p:tgtEl>
                                          <p:spTgt spid="19"/>
                                        </p:tgtEl>
                                      </p:cBhvr>
                                    </p:animEffect>
                                  </p:childTnLst>
                                </p:cTn>
                              </p:par>
                              <p:par>
                                <p:cTn id="37" presetID="10"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par>
                                <p:cTn id="40" presetID="10" presetClass="entr" presetSubtype="0" fill="hold" nodeType="withEffect">
                                  <p:stCondLst>
                                    <p:cond delay="0"/>
                                  </p:stCondLst>
                                  <p:childTnLst>
                                    <p:set>
                                      <p:cBhvr>
                                        <p:cTn id="41" dur="1" fill="hold">
                                          <p:stCondLst>
                                            <p:cond delay="0"/>
                                          </p:stCondLst>
                                        </p:cTn>
                                        <p:tgtEl>
                                          <p:spTgt spid="24">
                                            <p:txEl>
                                              <p:pRg st="0" end="0"/>
                                            </p:txEl>
                                          </p:spTgt>
                                        </p:tgtEl>
                                        <p:attrNameLst>
                                          <p:attrName>style.visibility</p:attrName>
                                        </p:attrNameLst>
                                      </p:cBhvr>
                                      <p:to>
                                        <p:strVal val="visible"/>
                                      </p:to>
                                    </p:set>
                                    <p:animEffect transition="in" filter="fade">
                                      <p:cBhvr>
                                        <p:cTn id="42" dur="500"/>
                                        <p:tgtEl>
                                          <p:spTgt spid="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9" grpId="0"/>
      <p:bldP spid="25" grpId="0"/>
      <p:bldP spid="26" grpId="0"/>
      <p:bldP spid="2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18B07EE-A45E-4446-A223-5B883B13E13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a:extLst>
              <a:ext uri="{FF2B5EF4-FFF2-40B4-BE49-F238E27FC236}">
                <a16:creationId xmlns:a16="http://schemas.microsoft.com/office/drawing/2014/main" id="{CA8813BB-D448-4521-9F33-B74EFDC2BCD9}"/>
              </a:ext>
            </a:extLst>
          </p:cNvPr>
          <p:cNvSpPr/>
          <p:nvPr/>
        </p:nvSpPr>
        <p:spPr>
          <a:xfrm>
            <a:off x="5393227" y="2166484"/>
            <a:ext cx="5524168" cy="259805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2" name="Rectangle 1">
            <a:extLst>
              <a:ext uri="{FF2B5EF4-FFF2-40B4-BE49-F238E27FC236}">
                <a16:creationId xmlns:a16="http://schemas.microsoft.com/office/drawing/2014/main" id="{226F08B3-37B7-4D5C-80DD-85ECEA54CD23}"/>
              </a:ext>
            </a:extLst>
          </p:cNvPr>
          <p:cNvSpPr/>
          <p:nvPr/>
        </p:nvSpPr>
        <p:spPr>
          <a:xfrm>
            <a:off x="5500914" y="1236087"/>
            <a:ext cx="6691086" cy="40333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8" name="TextBox 7">
            <a:extLst>
              <a:ext uri="{FF2B5EF4-FFF2-40B4-BE49-F238E27FC236}">
                <a16:creationId xmlns:a16="http://schemas.microsoft.com/office/drawing/2014/main" id="{DF7833B0-BA71-4453-853F-974C3C7535A2}"/>
              </a:ext>
            </a:extLst>
          </p:cNvPr>
          <p:cNvSpPr txBox="1"/>
          <p:nvPr/>
        </p:nvSpPr>
        <p:spPr>
          <a:xfrm>
            <a:off x="5778620" y="2166484"/>
            <a:ext cx="6691086" cy="1477328"/>
          </a:xfrm>
          <a:prstGeom prst="rect">
            <a:avLst/>
          </a:prstGeom>
          <a:noFill/>
        </p:spPr>
        <p:txBody>
          <a:bodyPr wrap="square" lIns="0" tIns="0" rIns="0" bIns="0" numCol="1" rtlCol="0">
            <a:spAutoFit/>
          </a:bodyPr>
          <a:lstStyle/>
          <a:p>
            <a:r>
              <a:rPr lang="en-US" sz="4800" b="1" i="1" dirty="0">
                <a:solidFill>
                  <a:srgbClr val="8F5CD3"/>
                </a:solidFill>
                <a:effectLst>
                  <a:outerShdw blurRad="38100" dist="38100" dir="2700000" algn="tl">
                    <a:srgbClr val="000000">
                      <a:alpha val="43137"/>
                    </a:srgbClr>
                  </a:outerShdw>
                </a:effectLst>
                <a:latin typeface="Roboto" pitchFamily="2" charset="0"/>
                <a:ea typeface="Roboto" pitchFamily="2" charset="0"/>
              </a:rPr>
              <a:t>Méthodologie et </a:t>
            </a:r>
          </a:p>
          <a:p>
            <a:r>
              <a:rPr lang="en-US" sz="4800" b="1" i="1" dirty="0">
                <a:solidFill>
                  <a:srgbClr val="8F5CD3"/>
                </a:solidFill>
                <a:effectLst>
                  <a:outerShdw blurRad="38100" dist="38100" dir="2700000" algn="tl">
                    <a:srgbClr val="000000">
                      <a:alpha val="43137"/>
                    </a:srgbClr>
                  </a:outerShdw>
                </a:effectLst>
                <a:latin typeface="Roboto" pitchFamily="2" charset="0"/>
                <a:ea typeface="Roboto" pitchFamily="2" charset="0"/>
              </a:rPr>
              <a:t>Analyse de Besoin</a:t>
            </a:r>
          </a:p>
        </p:txBody>
      </p:sp>
      <p:sp>
        <p:nvSpPr>
          <p:cNvPr id="11" name="ZoneTexte 10">
            <a:extLst>
              <a:ext uri="{FF2B5EF4-FFF2-40B4-BE49-F238E27FC236}">
                <a16:creationId xmlns:a16="http://schemas.microsoft.com/office/drawing/2014/main" id="{874A49F3-0002-4629-8953-27B21388CF24}"/>
              </a:ext>
            </a:extLst>
          </p:cNvPr>
          <p:cNvSpPr txBox="1"/>
          <p:nvPr/>
        </p:nvSpPr>
        <p:spPr>
          <a:xfrm>
            <a:off x="1983887" y="1543868"/>
            <a:ext cx="3794733" cy="3770263"/>
          </a:xfrm>
          <a:prstGeom prst="rect">
            <a:avLst/>
          </a:prstGeom>
          <a:noFill/>
        </p:spPr>
        <p:txBody>
          <a:bodyPr wrap="square">
            <a:spAutoFit/>
          </a:bodyPr>
          <a:lstStyle/>
          <a:p>
            <a:r>
              <a:rPr lang="en-US" sz="23900" dirty="0">
                <a:ln w="15875">
                  <a:solidFill>
                    <a:schemeClr val="bg1"/>
                  </a:solidFill>
                </a:ln>
                <a:noFill/>
                <a:latin typeface="Archivo Black" panose="020B0A03020202020B04" pitchFamily="34" charset="0"/>
              </a:rPr>
              <a:t>03</a:t>
            </a:r>
            <a:endParaRPr lang="en-US" sz="23900" dirty="0"/>
          </a:p>
        </p:txBody>
      </p:sp>
      <p:sp>
        <p:nvSpPr>
          <p:cNvPr id="9" name="Google Shape;273;p6">
            <a:extLst>
              <a:ext uri="{FF2B5EF4-FFF2-40B4-BE49-F238E27FC236}">
                <a16:creationId xmlns:a16="http://schemas.microsoft.com/office/drawing/2014/main" id="{4927FB6E-6CCB-4C93-A76E-787409603E91}"/>
              </a:ext>
            </a:extLst>
          </p:cNvPr>
          <p:cNvSpPr txBox="1"/>
          <p:nvPr/>
        </p:nvSpPr>
        <p:spPr>
          <a:xfrm>
            <a:off x="11482593" y="6334780"/>
            <a:ext cx="315369"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8</a:t>
            </a:r>
            <a:endParaRPr sz="2800" b="1" dirty="0">
              <a:solidFill>
                <a:schemeClr val="lt1"/>
              </a:solidFill>
              <a:latin typeface="Arial"/>
              <a:ea typeface="Arial"/>
              <a:cs typeface="Arial"/>
              <a:sym typeface="Arial"/>
            </a:endParaRPr>
          </a:p>
        </p:txBody>
      </p:sp>
    </p:spTree>
    <p:custDataLst>
      <p:tags r:id="rId1"/>
    </p:custDataLst>
    <p:extLst>
      <p:ext uri="{BB962C8B-B14F-4D97-AF65-F5344CB8AC3E}">
        <p14:creationId xmlns:p14="http://schemas.microsoft.com/office/powerpoint/2010/main" val="3041532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50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18B07EE-A45E-4446-A223-5B883B13E13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1">
            <a:extLst>
              <a:ext uri="{FF2B5EF4-FFF2-40B4-BE49-F238E27FC236}">
                <a16:creationId xmlns:a16="http://schemas.microsoft.com/office/drawing/2014/main" id="{226F08B3-37B7-4D5C-80DD-85ECEA54CD23}"/>
              </a:ext>
            </a:extLst>
          </p:cNvPr>
          <p:cNvSpPr/>
          <p:nvPr/>
        </p:nvSpPr>
        <p:spPr>
          <a:xfrm>
            <a:off x="1302486" y="106003"/>
            <a:ext cx="4765335" cy="130281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9" name="ZoneTexte 8">
            <a:extLst>
              <a:ext uri="{FF2B5EF4-FFF2-40B4-BE49-F238E27FC236}">
                <a16:creationId xmlns:a16="http://schemas.microsoft.com/office/drawing/2014/main" id="{124DFD6D-27C3-4F41-B6F0-316D10292037}"/>
              </a:ext>
            </a:extLst>
          </p:cNvPr>
          <p:cNvSpPr txBox="1"/>
          <p:nvPr/>
        </p:nvSpPr>
        <p:spPr>
          <a:xfrm>
            <a:off x="3110044" y="966129"/>
            <a:ext cx="5947896" cy="1077218"/>
          </a:xfrm>
          <a:prstGeom prst="rect">
            <a:avLst/>
          </a:prstGeom>
          <a:noFill/>
        </p:spPr>
        <p:txBody>
          <a:bodyPr wrap="square">
            <a:spAutoFit/>
          </a:bodyPr>
          <a:lstStyle/>
          <a:p>
            <a:pPr algn="ctr"/>
            <a:r>
              <a:rPr lang="fr-FR" sz="3200" b="1" i="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Pourquoi la méthodologie Scrum a été choisie ?</a:t>
            </a:r>
          </a:p>
        </p:txBody>
      </p:sp>
      <p:sp>
        <p:nvSpPr>
          <p:cNvPr id="13" name="TextBox 12">
            <a:extLst>
              <a:ext uri="{FF2B5EF4-FFF2-40B4-BE49-F238E27FC236}">
                <a16:creationId xmlns:a16="http://schemas.microsoft.com/office/drawing/2014/main" id="{9A062ED2-8B94-4387-9BEB-4C89FFDA445F}"/>
              </a:ext>
            </a:extLst>
          </p:cNvPr>
          <p:cNvSpPr txBox="1"/>
          <p:nvPr/>
        </p:nvSpPr>
        <p:spPr>
          <a:xfrm>
            <a:off x="1330452" y="61014"/>
            <a:ext cx="5420703" cy="615553"/>
          </a:xfrm>
          <a:prstGeom prst="rect">
            <a:avLst/>
          </a:prstGeom>
          <a:noFill/>
        </p:spPr>
        <p:txBody>
          <a:bodyPr wrap="square" lIns="0" tIns="0" rIns="0" bIns="0" numCol="1" rtlCol="0">
            <a:spAutoFit/>
          </a:bodyPr>
          <a:lstStyle/>
          <a:p>
            <a:r>
              <a:rPr lang="en-US" sz="2000" b="1" i="1" dirty="0">
                <a:solidFill>
                  <a:srgbClr val="8F5CD3"/>
                </a:solidFill>
                <a:effectLst>
                  <a:outerShdw blurRad="38100" dist="38100" dir="2700000" algn="tl">
                    <a:srgbClr val="000000">
                      <a:alpha val="43137"/>
                    </a:srgbClr>
                  </a:outerShdw>
                </a:effectLst>
                <a:latin typeface="Roboto" pitchFamily="2" charset="0"/>
                <a:ea typeface="Roboto" pitchFamily="2" charset="0"/>
              </a:rPr>
              <a:t>Méthodologie et </a:t>
            </a:r>
          </a:p>
          <a:p>
            <a:r>
              <a:rPr lang="en-US" sz="2000" b="1" i="1" dirty="0">
                <a:solidFill>
                  <a:srgbClr val="8F5CD3"/>
                </a:solidFill>
                <a:effectLst>
                  <a:outerShdw blurRad="38100" dist="38100" dir="2700000" algn="tl">
                    <a:srgbClr val="000000">
                      <a:alpha val="43137"/>
                    </a:srgbClr>
                  </a:outerShdw>
                </a:effectLst>
                <a:latin typeface="Roboto" pitchFamily="2" charset="0"/>
                <a:ea typeface="Roboto" pitchFamily="2" charset="0"/>
              </a:rPr>
              <a:t>Analyse de Besoin</a:t>
            </a:r>
          </a:p>
        </p:txBody>
      </p:sp>
      <p:sp>
        <p:nvSpPr>
          <p:cNvPr id="14" name="ZoneTexte 10">
            <a:extLst>
              <a:ext uri="{FF2B5EF4-FFF2-40B4-BE49-F238E27FC236}">
                <a16:creationId xmlns:a16="http://schemas.microsoft.com/office/drawing/2014/main" id="{B1D95C11-F36E-4A07-8250-A2413465CBA8}"/>
              </a:ext>
            </a:extLst>
          </p:cNvPr>
          <p:cNvSpPr txBox="1"/>
          <p:nvPr/>
        </p:nvSpPr>
        <p:spPr>
          <a:xfrm>
            <a:off x="0" y="-203200"/>
            <a:ext cx="2038470" cy="1446550"/>
          </a:xfrm>
          <a:prstGeom prst="rect">
            <a:avLst/>
          </a:prstGeom>
          <a:noFill/>
        </p:spPr>
        <p:txBody>
          <a:bodyPr wrap="square">
            <a:spAutoFit/>
          </a:bodyPr>
          <a:lstStyle/>
          <a:p>
            <a:r>
              <a:rPr lang="en-US" sz="8800" dirty="0">
                <a:ln w="15875">
                  <a:solidFill>
                    <a:schemeClr val="bg1"/>
                  </a:solidFill>
                </a:ln>
                <a:noFill/>
                <a:latin typeface="Archivo Black" panose="020B0A03020202020B04" pitchFamily="34" charset="0"/>
              </a:rPr>
              <a:t>03</a:t>
            </a:r>
            <a:endParaRPr lang="en-US" sz="23900" dirty="0"/>
          </a:p>
        </p:txBody>
      </p:sp>
      <p:sp>
        <p:nvSpPr>
          <p:cNvPr id="15" name="Rectangle 14">
            <a:extLst>
              <a:ext uri="{FF2B5EF4-FFF2-40B4-BE49-F238E27FC236}">
                <a16:creationId xmlns:a16="http://schemas.microsoft.com/office/drawing/2014/main" id="{622BADAE-EAB2-4C67-9FA7-B64D4AB1B145}"/>
              </a:ext>
            </a:extLst>
          </p:cNvPr>
          <p:cNvSpPr/>
          <p:nvPr/>
        </p:nvSpPr>
        <p:spPr>
          <a:xfrm>
            <a:off x="1228135" y="57371"/>
            <a:ext cx="45719" cy="925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11" name="Google Shape;273;p6">
            <a:extLst>
              <a:ext uri="{FF2B5EF4-FFF2-40B4-BE49-F238E27FC236}">
                <a16:creationId xmlns:a16="http://schemas.microsoft.com/office/drawing/2014/main" id="{A85CC9B6-C18F-4E8E-97AD-F658736C6169}"/>
              </a:ext>
            </a:extLst>
          </p:cNvPr>
          <p:cNvSpPr txBox="1"/>
          <p:nvPr/>
        </p:nvSpPr>
        <p:spPr>
          <a:xfrm>
            <a:off x="11482593" y="6334780"/>
            <a:ext cx="315369"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9</a:t>
            </a:r>
            <a:endParaRPr sz="2800" b="1" dirty="0">
              <a:solidFill>
                <a:schemeClr val="lt1"/>
              </a:solidFill>
              <a:latin typeface="Arial"/>
              <a:ea typeface="Arial"/>
              <a:cs typeface="Arial"/>
              <a:sym typeface="Arial"/>
            </a:endParaRPr>
          </a:p>
        </p:txBody>
      </p:sp>
      <p:sp>
        <p:nvSpPr>
          <p:cNvPr id="17" name="ZoneTexte 16">
            <a:extLst>
              <a:ext uri="{FF2B5EF4-FFF2-40B4-BE49-F238E27FC236}">
                <a16:creationId xmlns:a16="http://schemas.microsoft.com/office/drawing/2014/main" id="{0891B730-8604-CDEC-8A71-CC7415E9E89C}"/>
              </a:ext>
            </a:extLst>
          </p:cNvPr>
          <p:cNvSpPr txBox="1"/>
          <p:nvPr/>
        </p:nvSpPr>
        <p:spPr>
          <a:xfrm>
            <a:off x="5676861" y="2904564"/>
            <a:ext cx="6121101" cy="1704569"/>
          </a:xfrm>
          <a:prstGeom prst="rect">
            <a:avLst/>
          </a:prstGeom>
          <a:noFill/>
        </p:spPr>
        <p:txBody>
          <a:bodyPr wrap="square" rtlCol="0">
            <a:spAutoFit/>
          </a:bodyPr>
          <a:lstStyle/>
          <a:p>
            <a:pPr>
              <a:lnSpc>
                <a:spcPct val="150000"/>
              </a:lnSpc>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méthodologie Scrum a été choisie car elle offre un équilibre entre flexibilité, efficacité et collaboration, tout en répondant aux défis spécifiques de modernisation et d'évolution des besoins dans ce projet.</a:t>
            </a:r>
          </a:p>
        </p:txBody>
      </p:sp>
      <p:pic>
        <p:nvPicPr>
          <p:cNvPr id="21" name="Image 20">
            <a:extLst>
              <a:ext uri="{FF2B5EF4-FFF2-40B4-BE49-F238E27FC236}">
                <a16:creationId xmlns:a16="http://schemas.microsoft.com/office/drawing/2014/main" id="{FA194E6A-9253-1146-B687-1ADD4078F53A}"/>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479799" y="1947134"/>
            <a:ext cx="5260489" cy="4086431"/>
          </a:xfrm>
          <a:prstGeom prst="rect">
            <a:avLst/>
          </a:prstGeom>
        </p:spPr>
      </p:pic>
    </p:spTree>
    <p:custDataLst>
      <p:tags r:id="rId1"/>
    </p:custDataLst>
    <p:extLst>
      <p:ext uri="{BB962C8B-B14F-4D97-AF65-F5344CB8AC3E}">
        <p14:creationId xmlns:p14="http://schemas.microsoft.com/office/powerpoint/2010/main" val="237230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2" presetClass="entr" presetSubtype="8"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250" fill="hold"/>
                                        <p:tgtEl>
                                          <p:spTgt spid="14"/>
                                        </p:tgtEl>
                                        <p:attrNameLst>
                                          <p:attrName>ppt_x</p:attrName>
                                        </p:attrNameLst>
                                      </p:cBhvr>
                                      <p:tavLst>
                                        <p:tav tm="0">
                                          <p:val>
                                            <p:strVal val="0-#ppt_w/2"/>
                                          </p:val>
                                        </p:tav>
                                        <p:tav tm="100000">
                                          <p:val>
                                            <p:strVal val="#ppt_x"/>
                                          </p:val>
                                        </p:tav>
                                      </p:tavLst>
                                    </p:anim>
                                    <p:anim calcmode="lin" valueType="num">
                                      <p:cBhvr additive="base">
                                        <p:cTn id="11" dur="250" fill="hold"/>
                                        <p:tgtEl>
                                          <p:spTgt spid="14"/>
                                        </p:tgtEl>
                                        <p:attrNameLst>
                                          <p:attrName>ppt_y</p:attrName>
                                        </p:attrNameLst>
                                      </p:cBhvr>
                                      <p:tavLst>
                                        <p:tav tm="0">
                                          <p:val>
                                            <p:strVal val="#ppt_y"/>
                                          </p:val>
                                        </p:tav>
                                        <p:tav tm="100000">
                                          <p:val>
                                            <p:strVal val="#ppt_y"/>
                                          </p:val>
                                        </p:tav>
                                      </p:tavLst>
                                    </p:anim>
                                  </p:childTnLst>
                                </p:cTn>
                              </p:par>
                              <p:par>
                                <p:cTn id="12" presetID="10" presetClass="entr" presetSubtype="0" fill="hold" grpId="0" nodeType="withEffect">
                                  <p:stCondLst>
                                    <p:cond delay="20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2" presetClass="entr" presetSubtype="8"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0-#ppt_w/2"/>
                                          </p:val>
                                        </p:tav>
                                        <p:tav tm="100000">
                                          <p:val>
                                            <p:strVal val="#ppt_x"/>
                                          </p:val>
                                        </p:tav>
                                      </p:tavLst>
                                    </p:anim>
                                    <p:anim calcmode="lin" valueType="num">
                                      <p:cBhvr additive="base">
                                        <p:cTn id="18" dur="500" fill="hold"/>
                                        <p:tgtEl>
                                          <p:spTgt spid="15"/>
                                        </p:tgtEl>
                                        <p:attrNameLst>
                                          <p:attrName>ppt_y</p:attrName>
                                        </p:attrNameLst>
                                      </p:cBhvr>
                                      <p:tavLst>
                                        <p:tav tm="0">
                                          <p:val>
                                            <p:strVal val="#ppt_y"/>
                                          </p:val>
                                        </p:tav>
                                        <p:tav tm="100000">
                                          <p:val>
                                            <p:strVal val="#ppt_y"/>
                                          </p:val>
                                        </p:tav>
                                      </p:tavLst>
                                    </p:anim>
                                  </p:childTnLst>
                                </p:cTn>
                              </p:par>
                            </p:childTnLst>
                          </p:cTn>
                        </p:par>
                        <p:par>
                          <p:cTn id="19" fill="hold">
                            <p:stCondLst>
                              <p:cond delay="750"/>
                            </p:stCondLst>
                            <p:childTnLst>
                              <p:par>
                                <p:cTn id="20" presetID="10" presetClass="entr" presetSubtype="0" fill="hold" nodeType="after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par>
                          <p:cTn id="23" fill="hold">
                            <p:stCondLst>
                              <p:cond delay="1250"/>
                            </p:stCondLst>
                            <p:childTnLst>
                              <p:par>
                                <p:cTn id="24" presetID="10" presetClass="entr" presetSubtype="0" fill="hold" grpId="0" nodeType="after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4" grpId="0"/>
      <p:bldP spid="15" grpId="0" animBg="1"/>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A24A5B32-5947-6589-BB13-78B825A237C8}"/>
            </a:ext>
          </a:extLst>
        </p:cNvPr>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7858F89-E838-8065-EFEC-BC00BA334EFE}"/>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1">
            <a:extLst>
              <a:ext uri="{FF2B5EF4-FFF2-40B4-BE49-F238E27FC236}">
                <a16:creationId xmlns:a16="http://schemas.microsoft.com/office/drawing/2014/main" id="{601F22AA-9FA4-2146-C90E-82C713A41F3B}"/>
              </a:ext>
            </a:extLst>
          </p:cNvPr>
          <p:cNvSpPr/>
          <p:nvPr/>
        </p:nvSpPr>
        <p:spPr>
          <a:xfrm>
            <a:off x="1302486" y="106003"/>
            <a:ext cx="4765335" cy="130281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9" name="ZoneTexte 8">
            <a:extLst>
              <a:ext uri="{FF2B5EF4-FFF2-40B4-BE49-F238E27FC236}">
                <a16:creationId xmlns:a16="http://schemas.microsoft.com/office/drawing/2014/main" id="{2029A557-B9CE-2D83-A7B5-62FAC9AB921E}"/>
              </a:ext>
            </a:extLst>
          </p:cNvPr>
          <p:cNvSpPr txBox="1"/>
          <p:nvPr/>
        </p:nvSpPr>
        <p:spPr>
          <a:xfrm>
            <a:off x="3357469" y="982779"/>
            <a:ext cx="5420703" cy="584775"/>
          </a:xfrm>
          <a:prstGeom prst="rect">
            <a:avLst/>
          </a:prstGeom>
          <a:noFill/>
        </p:spPr>
        <p:txBody>
          <a:bodyPr wrap="square">
            <a:spAutoFit/>
          </a:bodyPr>
          <a:lstStyle/>
          <a:p>
            <a:pPr algn="ctr"/>
            <a:r>
              <a:rPr lang="fr-FR" sz="3200" b="1" i="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Les besoins fonctionnels</a:t>
            </a:r>
          </a:p>
        </p:txBody>
      </p:sp>
      <p:sp>
        <p:nvSpPr>
          <p:cNvPr id="13" name="TextBox 12">
            <a:extLst>
              <a:ext uri="{FF2B5EF4-FFF2-40B4-BE49-F238E27FC236}">
                <a16:creationId xmlns:a16="http://schemas.microsoft.com/office/drawing/2014/main" id="{B25E8430-30B9-7924-31D0-2931202837F7}"/>
              </a:ext>
            </a:extLst>
          </p:cNvPr>
          <p:cNvSpPr txBox="1"/>
          <p:nvPr/>
        </p:nvSpPr>
        <p:spPr>
          <a:xfrm>
            <a:off x="1330452" y="61014"/>
            <a:ext cx="5420703" cy="615553"/>
          </a:xfrm>
          <a:prstGeom prst="rect">
            <a:avLst/>
          </a:prstGeom>
          <a:noFill/>
        </p:spPr>
        <p:txBody>
          <a:bodyPr wrap="square" lIns="0" tIns="0" rIns="0" bIns="0" numCol="1" rtlCol="0">
            <a:spAutoFit/>
          </a:bodyPr>
          <a:lstStyle/>
          <a:p>
            <a:r>
              <a:rPr lang="en-US" sz="2000" b="1" i="1" dirty="0">
                <a:solidFill>
                  <a:srgbClr val="8F5CD3"/>
                </a:solidFill>
                <a:effectLst>
                  <a:outerShdw blurRad="38100" dist="38100" dir="2700000" algn="tl">
                    <a:srgbClr val="000000">
                      <a:alpha val="43137"/>
                    </a:srgbClr>
                  </a:outerShdw>
                </a:effectLst>
                <a:latin typeface="Roboto" pitchFamily="2" charset="0"/>
                <a:ea typeface="Roboto" pitchFamily="2" charset="0"/>
              </a:rPr>
              <a:t>Méthodologie et </a:t>
            </a:r>
          </a:p>
          <a:p>
            <a:r>
              <a:rPr lang="en-US" sz="2000" b="1" i="1" dirty="0">
                <a:solidFill>
                  <a:srgbClr val="8F5CD3"/>
                </a:solidFill>
                <a:effectLst>
                  <a:outerShdw blurRad="38100" dist="38100" dir="2700000" algn="tl">
                    <a:srgbClr val="000000">
                      <a:alpha val="43137"/>
                    </a:srgbClr>
                  </a:outerShdw>
                </a:effectLst>
                <a:latin typeface="Roboto" pitchFamily="2" charset="0"/>
                <a:ea typeface="Roboto" pitchFamily="2" charset="0"/>
              </a:rPr>
              <a:t>Analyse de Besoin</a:t>
            </a:r>
          </a:p>
        </p:txBody>
      </p:sp>
      <p:sp>
        <p:nvSpPr>
          <p:cNvPr id="14" name="ZoneTexte 10">
            <a:extLst>
              <a:ext uri="{FF2B5EF4-FFF2-40B4-BE49-F238E27FC236}">
                <a16:creationId xmlns:a16="http://schemas.microsoft.com/office/drawing/2014/main" id="{BEF7B9F2-81C2-8A68-949F-EE69A2BE99FE}"/>
              </a:ext>
            </a:extLst>
          </p:cNvPr>
          <p:cNvSpPr txBox="1"/>
          <p:nvPr/>
        </p:nvSpPr>
        <p:spPr>
          <a:xfrm>
            <a:off x="0" y="-203200"/>
            <a:ext cx="2038470" cy="1446550"/>
          </a:xfrm>
          <a:prstGeom prst="rect">
            <a:avLst/>
          </a:prstGeom>
          <a:noFill/>
        </p:spPr>
        <p:txBody>
          <a:bodyPr wrap="square">
            <a:spAutoFit/>
          </a:bodyPr>
          <a:lstStyle/>
          <a:p>
            <a:r>
              <a:rPr lang="en-US" sz="8800" dirty="0">
                <a:ln w="15875">
                  <a:solidFill>
                    <a:schemeClr val="bg1"/>
                  </a:solidFill>
                </a:ln>
                <a:noFill/>
                <a:latin typeface="Archivo Black" panose="020B0A03020202020B04" pitchFamily="34" charset="0"/>
              </a:rPr>
              <a:t>03</a:t>
            </a:r>
            <a:endParaRPr lang="en-US" sz="23900" dirty="0"/>
          </a:p>
        </p:txBody>
      </p:sp>
      <p:sp>
        <p:nvSpPr>
          <p:cNvPr id="15" name="Rectangle 14">
            <a:extLst>
              <a:ext uri="{FF2B5EF4-FFF2-40B4-BE49-F238E27FC236}">
                <a16:creationId xmlns:a16="http://schemas.microsoft.com/office/drawing/2014/main" id="{CB6EA6AC-B9A0-A199-2C29-B08131EE945E}"/>
              </a:ext>
            </a:extLst>
          </p:cNvPr>
          <p:cNvSpPr/>
          <p:nvPr/>
        </p:nvSpPr>
        <p:spPr>
          <a:xfrm>
            <a:off x="1228135" y="57371"/>
            <a:ext cx="45719" cy="925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11" name="Google Shape;273;p6">
            <a:extLst>
              <a:ext uri="{FF2B5EF4-FFF2-40B4-BE49-F238E27FC236}">
                <a16:creationId xmlns:a16="http://schemas.microsoft.com/office/drawing/2014/main" id="{E6E9D313-6EAD-4D59-E901-32F780FCC5DA}"/>
              </a:ext>
            </a:extLst>
          </p:cNvPr>
          <p:cNvSpPr txBox="1"/>
          <p:nvPr/>
        </p:nvSpPr>
        <p:spPr>
          <a:xfrm>
            <a:off x="11418047" y="6334820"/>
            <a:ext cx="619760"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10</a:t>
            </a:r>
            <a:endParaRPr sz="2800" b="1" dirty="0">
              <a:solidFill>
                <a:schemeClr val="lt1"/>
              </a:solidFill>
              <a:latin typeface="Arial"/>
              <a:ea typeface="Arial"/>
              <a:cs typeface="Arial"/>
              <a:sym typeface="Arial"/>
            </a:endParaRPr>
          </a:p>
        </p:txBody>
      </p:sp>
      <p:sp>
        <p:nvSpPr>
          <p:cNvPr id="6" name="Rectangle à coins arrondis 1">
            <a:extLst>
              <a:ext uri="{FF2B5EF4-FFF2-40B4-BE49-F238E27FC236}">
                <a16:creationId xmlns:a16="http://schemas.microsoft.com/office/drawing/2014/main" id="{9156B38C-3F80-C593-70BB-23FC0CDBF8F3}"/>
              </a:ext>
            </a:extLst>
          </p:cNvPr>
          <p:cNvSpPr/>
          <p:nvPr/>
        </p:nvSpPr>
        <p:spPr>
          <a:xfrm>
            <a:off x="2556814" y="2397047"/>
            <a:ext cx="3002353" cy="566172"/>
          </a:xfrm>
          <a:prstGeom prst="roundRect">
            <a:avLst/>
          </a:prstGeom>
          <a:gradFill rotWithShape="1">
            <a:gsLst>
              <a:gs pos="0">
                <a:srgbClr val="9AD3E9">
                  <a:tint val="50000"/>
                  <a:satMod val="300000"/>
                </a:srgbClr>
              </a:gs>
              <a:gs pos="35000">
                <a:srgbClr val="9AD3E9">
                  <a:tint val="37000"/>
                  <a:satMod val="300000"/>
                </a:srgbClr>
              </a:gs>
              <a:gs pos="100000">
                <a:srgbClr val="9AD3E9">
                  <a:tint val="15000"/>
                  <a:satMod val="350000"/>
                </a:srgbClr>
              </a:gs>
            </a:gsLst>
            <a:lin ang="16200000" scaled="1"/>
          </a:gradFill>
          <a:ln w="9525" cap="flat" cmpd="sng" algn="ctr">
            <a:solidFill>
              <a:srgbClr val="9AD3E9">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fr-FR"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Utilisateur</a:t>
            </a:r>
          </a:p>
        </p:txBody>
      </p:sp>
      <p:pic>
        <p:nvPicPr>
          <p:cNvPr id="7" name="Image 14">
            <a:extLst>
              <a:ext uri="{FF2B5EF4-FFF2-40B4-BE49-F238E27FC236}">
                <a16:creationId xmlns:a16="http://schemas.microsoft.com/office/drawing/2014/main" id="{BDA4FEC1-B4F5-E7B5-3893-85D6A169561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57218" y="2378054"/>
            <a:ext cx="581519" cy="577367"/>
          </a:xfrm>
          <a:prstGeom prst="rect">
            <a:avLst/>
          </a:prstGeom>
        </p:spPr>
      </p:pic>
      <p:sp>
        <p:nvSpPr>
          <p:cNvPr id="12" name="Rectangle à coins arrondis 3">
            <a:extLst>
              <a:ext uri="{FF2B5EF4-FFF2-40B4-BE49-F238E27FC236}">
                <a16:creationId xmlns:a16="http://schemas.microsoft.com/office/drawing/2014/main" id="{2CC67454-FE97-B77B-CB00-A083EB120972}"/>
              </a:ext>
            </a:extLst>
          </p:cNvPr>
          <p:cNvSpPr/>
          <p:nvPr/>
        </p:nvSpPr>
        <p:spPr>
          <a:xfrm>
            <a:off x="2607682" y="3345875"/>
            <a:ext cx="2975099" cy="605577"/>
          </a:xfrm>
          <a:prstGeom prst="roundRect">
            <a:avLst/>
          </a:prstGeom>
          <a:solidFill>
            <a:srgbClr val="FFFFFF"/>
          </a:solidFill>
          <a:ln w="25400" cap="flat" cmpd="sng" algn="ctr">
            <a:solidFill>
              <a:srgbClr val="9AD3E9"/>
            </a:solidFill>
            <a:prstDash val="solid"/>
          </a:ln>
          <a:effectLst/>
        </p:spPr>
        <p:txBody>
          <a:bodyPr rtlCol="0" anchor="ctr"/>
          <a:lstStyle/>
          <a:p>
            <a:pPr lvl="0" algn="ctr">
              <a:buClr>
                <a:srgbClr val="000000"/>
              </a:buClr>
            </a:pPr>
            <a:r>
              <a:rPr lang="fr-FR" b="1" dirty="0">
                <a:latin typeface="Times New Roman" panose="02020603050405020304" pitchFamily="18" charset="0"/>
                <a:cs typeface="Times New Roman" panose="02020603050405020304" pitchFamily="18" charset="0"/>
              </a:rPr>
              <a:t>Gestion des demandes de domiciliation </a:t>
            </a:r>
            <a:endParaRPr kumimoji="0" lang="fr-FR" sz="1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19" name="Rectangle à coins arrondis 3">
            <a:extLst>
              <a:ext uri="{FF2B5EF4-FFF2-40B4-BE49-F238E27FC236}">
                <a16:creationId xmlns:a16="http://schemas.microsoft.com/office/drawing/2014/main" id="{7CA4747D-19C0-EDA0-9572-A3B3640A34F4}"/>
              </a:ext>
            </a:extLst>
          </p:cNvPr>
          <p:cNvSpPr/>
          <p:nvPr/>
        </p:nvSpPr>
        <p:spPr>
          <a:xfrm>
            <a:off x="6662137" y="4830778"/>
            <a:ext cx="2861779" cy="487544"/>
          </a:xfrm>
          <a:prstGeom prst="roundRect">
            <a:avLst/>
          </a:prstGeom>
          <a:solidFill>
            <a:srgbClr val="FFFFFF"/>
          </a:solidFill>
          <a:ln w="25400" cap="flat" cmpd="sng" algn="ctr">
            <a:solidFill>
              <a:srgbClr val="9AD3E9"/>
            </a:solidFill>
            <a:prstDash val="solid"/>
          </a:ln>
          <a:effectLst/>
        </p:spPr>
        <p:txBody>
          <a:bodyPr rtlCol="0" anchor="ctr"/>
          <a:lstStyle/>
          <a:p>
            <a:pPr lvl="0" algn="ctr">
              <a:buClr>
                <a:srgbClr val="000000"/>
              </a:buClr>
            </a:pPr>
            <a:r>
              <a:rPr lang="fr-FR" b="1" dirty="0">
                <a:latin typeface="Times New Roman" panose="02020603050405020304" pitchFamily="18" charset="0"/>
                <a:cs typeface="Times New Roman" panose="02020603050405020304" pitchFamily="18" charset="0"/>
              </a:rPr>
              <a:t>Consulter les journaux</a:t>
            </a:r>
            <a:endParaRPr kumimoji="0" lang="fr-FR"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3" name="Rectangle à coins arrondis 1">
            <a:extLst>
              <a:ext uri="{FF2B5EF4-FFF2-40B4-BE49-F238E27FC236}">
                <a16:creationId xmlns:a16="http://schemas.microsoft.com/office/drawing/2014/main" id="{215FBB5E-AB8D-6E2C-5C9B-84F786F03F01}"/>
              </a:ext>
            </a:extLst>
          </p:cNvPr>
          <p:cNvSpPr/>
          <p:nvPr/>
        </p:nvSpPr>
        <p:spPr>
          <a:xfrm>
            <a:off x="6538934" y="2391038"/>
            <a:ext cx="3002353" cy="566172"/>
          </a:xfrm>
          <a:prstGeom prst="roundRect">
            <a:avLst/>
          </a:prstGeom>
          <a:gradFill rotWithShape="1">
            <a:gsLst>
              <a:gs pos="0">
                <a:srgbClr val="9AD3E9">
                  <a:tint val="50000"/>
                  <a:satMod val="300000"/>
                </a:srgbClr>
              </a:gs>
              <a:gs pos="35000">
                <a:srgbClr val="9AD3E9">
                  <a:tint val="37000"/>
                  <a:satMod val="300000"/>
                </a:srgbClr>
              </a:gs>
              <a:gs pos="100000">
                <a:srgbClr val="9AD3E9">
                  <a:tint val="15000"/>
                  <a:satMod val="350000"/>
                </a:srgbClr>
              </a:gs>
            </a:gsLst>
            <a:lin ang="16200000" scaled="1"/>
          </a:gradFill>
          <a:ln w="9525" cap="flat" cmpd="sng" algn="ctr">
            <a:solidFill>
              <a:srgbClr val="9AD3E9">
                <a:shade val="95000"/>
                <a:satMod val="105000"/>
              </a:srgbClr>
            </a:solidFill>
            <a:prstDash val="solid"/>
          </a:ln>
          <a:effectLst>
            <a:outerShdw blurRad="40000" dist="20000" dir="5400000" rotWithShape="0">
              <a:srgbClr val="000000">
                <a:alpha val="38000"/>
              </a:srgbClr>
            </a:outerShdw>
          </a:effectLst>
        </p:spPr>
        <p:txBody>
          <a:bodyPr rtlCol="0" anchor="ctr"/>
          <a:lstStyle/>
          <a:p>
            <a:pPr lvl="0" algn="ctr">
              <a:buClr>
                <a:srgbClr val="000000"/>
              </a:buClr>
              <a:defRPr/>
            </a:pPr>
            <a:r>
              <a:rPr lang="fr-FR" kern="0" dirty="0">
                <a:solidFill>
                  <a:srgbClr val="000000"/>
                </a:solidFill>
                <a:latin typeface="Times New Roman" panose="02020603050405020304" pitchFamily="18" charset="0"/>
                <a:cs typeface="Times New Roman" panose="02020603050405020304" pitchFamily="18" charset="0"/>
                <a:sym typeface="Arial"/>
              </a:rPr>
              <a:t>Administrateur</a:t>
            </a:r>
            <a:endParaRPr kumimoji="0" lang="fr-FR"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pic>
        <p:nvPicPr>
          <p:cNvPr id="4" name="Image 14">
            <a:extLst>
              <a:ext uri="{FF2B5EF4-FFF2-40B4-BE49-F238E27FC236}">
                <a16:creationId xmlns:a16="http://schemas.microsoft.com/office/drawing/2014/main" id="{289718D1-91B3-1596-C776-8E73AABA06B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28582" y="2369084"/>
            <a:ext cx="581519" cy="577367"/>
          </a:xfrm>
          <a:prstGeom prst="rect">
            <a:avLst/>
          </a:prstGeom>
        </p:spPr>
      </p:pic>
      <p:sp>
        <p:nvSpPr>
          <p:cNvPr id="5" name="Rectangle à coins arrondis 3">
            <a:extLst>
              <a:ext uri="{FF2B5EF4-FFF2-40B4-BE49-F238E27FC236}">
                <a16:creationId xmlns:a16="http://schemas.microsoft.com/office/drawing/2014/main" id="{918FEF1B-0115-EBA4-4CF1-F3D0F5A23DF3}"/>
              </a:ext>
            </a:extLst>
          </p:cNvPr>
          <p:cNvSpPr/>
          <p:nvPr/>
        </p:nvSpPr>
        <p:spPr>
          <a:xfrm>
            <a:off x="6609218" y="3345876"/>
            <a:ext cx="2861779" cy="487544"/>
          </a:xfrm>
          <a:prstGeom prst="roundRect">
            <a:avLst/>
          </a:prstGeom>
          <a:solidFill>
            <a:srgbClr val="FFFFFF"/>
          </a:solidFill>
          <a:ln w="25400" cap="flat" cmpd="sng" algn="ctr">
            <a:solidFill>
              <a:srgbClr val="9AD3E9"/>
            </a:solidFill>
            <a:prstDash val="solid"/>
          </a:ln>
          <a:effectLst/>
        </p:spPr>
        <p:txBody>
          <a:bodyPr rtlCol="0" anchor="ctr"/>
          <a:lstStyle/>
          <a:p>
            <a:pPr lvl="0" algn="ctr">
              <a:buClr>
                <a:srgbClr val="000000"/>
              </a:buClr>
            </a:pPr>
            <a:r>
              <a:rPr lang="fr-FR" b="1" dirty="0">
                <a:latin typeface="Times New Roman" panose="02020603050405020304" pitchFamily="18" charset="0"/>
                <a:cs typeface="Times New Roman" panose="02020603050405020304" pitchFamily="18" charset="0"/>
              </a:rPr>
              <a:t>Gérer les utilisateurs</a:t>
            </a:r>
            <a:endParaRPr kumimoji="0" lang="fr-FR" sz="1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8" name="Rectangle à coins arrondis 3">
            <a:extLst>
              <a:ext uri="{FF2B5EF4-FFF2-40B4-BE49-F238E27FC236}">
                <a16:creationId xmlns:a16="http://schemas.microsoft.com/office/drawing/2014/main" id="{0C7B4144-7013-373E-09E1-95CAD56CFA2B}"/>
              </a:ext>
            </a:extLst>
          </p:cNvPr>
          <p:cNvSpPr/>
          <p:nvPr/>
        </p:nvSpPr>
        <p:spPr>
          <a:xfrm>
            <a:off x="6648322" y="4088327"/>
            <a:ext cx="2861779" cy="487544"/>
          </a:xfrm>
          <a:prstGeom prst="roundRect">
            <a:avLst/>
          </a:prstGeom>
          <a:solidFill>
            <a:srgbClr val="FFFFFF"/>
          </a:solidFill>
          <a:ln w="25400" cap="flat" cmpd="sng" algn="ctr">
            <a:solidFill>
              <a:srgbClr val="9AD3E9"/>
            </a:solidFill>
            <a:prstDash val="solid"/>
          </a:ln>
          <a:effectLst/>
        </p:spPr>
        <p:txBody>
          <a:bodyPr rtlCol="0" anchor="ctr"/>
          <a:lstStyle/>
          <a:p>
            <a:pPr lvl="0" algn="ctr">
              <a:buClr>
                <a:srgbClr val="000000"/>
              </a:buClr>
            </a:pPr>
            <a:r>
              <a:rPr lang="fr-FR" b="1" dirty="0">
                <a:latin typeface="Times New Roman" panose="02020603050405020304" pitchFamily="18" charset="0"/>
                <a:cs typeface="Times New Roman" panose="02020603050405020304" pitchFamily="18" charset="0"/>
              </a:rPr>
              <a:t>Configurer les paramètres</a:t>
            </a:r>
            <a:endParaRPr kumimoji="0" lang="fr-FR"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16" name="Rectangle à coins arrondis 3">
            <a:extLst>
              <a:ext uri="{FF2B5EF4-FFF2-40B4-BE49-F238E27FC236}">
                <a16:creationId xmlns:a16="http://schemas.microsoft.com/office/drawing/2014/main" id="{B0B636B4-BC9B-BD00-3025-FE66DA3178F1}"/>
              </a:ext>
            </a:extLst>
          </p:cNvPr>
          <p:cNvSpPr/>
          <p:nvPr/>
        </p:nvSpPr>
        <p:spPr>
          <a:xfrm>
            <a:off x="6609218" y="5631449"/>
            <a:ext cx="3002353" cy="487544"/>
          </a:xfrm>
          <a:prstGeom prst="roundRect">
            <a:avLst/>
          </a:prstGeom>
          <a:solidFill>
            <a:srgbClr val="FFFFFF"/>
          </a:solidFill>
          <a:ln w="25400" cap="flat" cmpd="sng" algn="ctr">
            <a:solidFill>
              <a:srgbClr val="9AD3E9"/>
            </a:solidFill>
            <a:prstDash val="solid"/>
          </a:ln>
          <a:effectLst/>
        </p:spPr>
        <p:txBody>
          <a:bodyPr rtlCol="0" anchor="ctr"/>
          <a:lstStyle/>
          <a:p>
            <a:pPr lvl="0" algn="ctr">
              <a:buClr>
                <a:srgbClr val="000000"/>
              </a:buClr>
            </a:pPr>
            <a:r>
              <a:rPr lang="fr-FR" b="1" dirty="0">
                <a:latin typeface="Times New Roman" panose="02020603050405020304" pitchFamily="18" charset="0"/>
                <a:cs typeface="Times New Roman" panose="02020603050405020304" pitchFamily="18" charset="0"/>
              </a:rPr>
              <a:t>Superviser les microservices</a:t>
            </a:r>
            <a:endParaRPr kumimoji="0" lang="fr-FR"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Tree>
    <p:custDataLst>
      <p:tags r:id="rId1"/>
    </p:custDataLst>
    <p:extLst>
      <p:ext uri="{BB962C8B-B14F-4D97-AF65-F5344CB8AC3E}">
        <p14:creationId xmlns:p14="http://schemas.microsoft.com/office/powerpoint/2010/main" val="3253188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2" presetClass="entr" presetSubtype="8"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250" fill="hold"/>
                                        <p:tgtEl>
                                          <p:spTgt spid="14"/>
                                        </p:tgtEl>
                                        <p:attrNameLst>
                                          <p:attrName>ppt_x</p:attrName>
                                        </p:attrNameLst>
                                      </p:cBhvr>
                                      <p:tavLst>
                                        <p:tav tm="0">
                                          <p:val>
                                            <p:strVal val="0-#ppt_w/2"/>
                                          </p:val>
                                        </p:tav>
                                        <p:tav tm="100000">
                                          <p:val>
                                            <p:strVal val="#ppt_x"/>
                                          </p:val>
                                        </p:tav>
                                      </p:tavLst>
                                    </p:anim>
                                    <p:anim calcmode="lin" valueType="num">
                                      <p:cBhvr additive="base">
                                        <p:cTn id="11" dur="250" fill="hold"/>
                                        <p:tgtEl>
                                          <p:spTgt spid="14"/>
                                        </p:tgtEl>
                                        <p:attrNameLst>
                                          <p:attrName>ppt_y</p:attrName>
                                        </p:attrNameLst>
                                      </p:cBhvr>
                                      <p:tavLst>
                                        <p:tav tm="0">
                                          <p:val>
                                            <p:strVal val="#ppt_y"/>
                                          </p:val>
                                        </p:tav>
                                        <p:tav tm="100000">
                                          <p:val>
                                            <p:strVal val="#ppt_y"/>
                                          </p:val>
                                        </p:tav>
                                      </p:tavLst>
                                    </p:anim>
                                  </p:childTnLst>
                                </p:cTn>
                              </p:par>
                              <p:par>
                                <p:cTn id="12" presetID="10" presetClass="entr" presetSubtype="0" fill="hold" grpId="0" nodeType="withEffect">
                                  <p:stCondLst>
                                    <p:cond delay="20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2" presetClass="entr" presetSubtype="8"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0-#ppt_w/2"/>
                                          </p:val>
                                        </p:tav>
                                        <p:tav tm="100000">
                                          <p:val>
                                            <p:strVal val="#ppt_x"/>
                                          </p:val>
                                        </p:tav>
                                      </p:tavLst>
                                    </p:anim>
                                    <p:anim calcmode="lin" valueType="num">
                                      <p:cBhvr additive="base">
                                        <p:cTn id="18" dur="500" fill="hold"/>
                                        <p:tgtEl>
                                          <p:spTgt spid="15"/>
                                        </p:tgtEl>
                                        <p:attrNameLst>
                                          <p:attrName>ppt_y</p:attrName>
                                        </p:attrNameLst>
                                      </p:cBhvr>
                                      <p:tavLst>
                                        <p:tav tm="0">
                                          <p:val>
                                            <p:strVal val="#ppt_y"/>
                                          </p:val>
                                        </p:tav>
                                        <p:tav tm="100000">
                                          <p:val>
                                            <p:strVal val="#ppt_y"/>
                                          </p:val>
                                        </p:tav>
                                      </p:tavLst>
                                    </p:anim>
                                  </p:childTnLst>
                                </p:cTn>
                              </p:par>
                            </p:childTnLst>
                          </p:cTn>
                        </p:par>
                        <p:par>
                          <p:cTn id="19" fill="hold">
                            <p:stCondLst>
                              <p:cond delay="750"/>
                            </p:stCondLst>
                            <p:childTnLst>
                              <p:par>
                                <p:cTn id="20" presetID="10" presetClass="entr" presetSubtype="0" fill="hold" grpId="0" nodeType="afterEffect">
                                  <p:stCondLst>
                                    <p:cond delay="25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750"/>
                                        <p:tgtEl>
                                          <p:spTgt spid="6"/>
                                        </p:tgtEl>
                                      </p:cBhvr>
                                    </p:animEffect>
                                  </p:childTnLst>
                                </p:cTn>
                              </p:par>
                            </p:childTnLst>
                          </p:cTn>
                        </p:par>
                        <p:par>
                          <p:cTn id="23" fill="hold">
                            <p:stCondLst>
                              <p:cond delay="1750"/>
                            </p:stCondLst>
                            <p:childTnLst>
                              <p:par>
                                <p:cTn id="24" presetID="10" presetClass="entr" presetSubtype="0" fill="hold" nodeType="afterEffect">
                                  <p:stCondLst>
                                    <p:cond delay="2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750"/>
                                        <p:tgtEl>
                                          <p:spTgt spid="7"/>
                                        </p:tgtEl>
                                      </p:cBhvr>
                                    </p:animEffect>
                                  </p:childTnLst>
                                </p:cTn>
                              </p:par>
                            </p:childTnLst>
                          </p:cTn>
                        </p:par>
                        <p:par>
                          <p:cTn id="27" fill="hold">
                            <p:stCondLst>
                              <p:cond delay="2750"/>
                            </p:stCondLst>
                            <p:childTnLst>
                              <p:par>
                                <p:cTn id="28" presetID="42" presetClass="entr" presetSubtype="0" fill="hold" grpId="0" nodeType="afterEffect">
                                  <p:stCondLst>
                                    <p:cond delay="25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750"/>
                                        <p:tgtEl>
                                          <p:spTgt spid="12"/>
                                        </p:tgtEl>
                                      </p:cBhvr>
                                    </p:animEffect>
                                    <p:anim calcmode="lin" valueType="num">
                                      <p:cBhvr>
                                        <p:cTn id="31" dur="750" fill="hold"/>
                                        <p:tgtEl>
                                          <p:spTgt spid="12"/>
                                        </p:tgtEl>
                                        <p:attrNameLst>
                                          <p:attrName>ppt_x</p:attrName>
                                        </p:attrNameLst>
                                      </p:cBhvr>
                                      <p:tavLst>
                                        <p:tav tm="0">
                                          <p:val>
                                            <p:strVal val="#ppt_x"/>
                                          </p:val>
                                        </p:tav>
                                        <p:tav tm="100000">
                                          <p:val>
                                            <p:strVal val="#ppt_x"/>
                                          </p:val>
                                        </p:tav>
                                      </p:tavLst>
                                    </p:anim>
                                    <p:anim calcmode="lin" valueType="num">
                                      <p:cBhvr>
                                        <p:cTn id="32" dur="750" fill="hold"/>
                                        <p:tgtEl>
                                          <p:spTgt spid="12"/>
                                        </p:tgtEl>
                                        <p:attrNameLst>
                                          <p:attrName>ppt_y</p:attrName>
                                        </p:attrNameLst>
                                      </p:cBhvr>
                                      <p:tavLst>
                                        <p:tav tm="0">
                                          <p:val>
                                            <p:strVal val="#ppt_y+.1"/>
                                          </p:val>
                                        </p:tav>
                                        <p:tav tm="100000">
                                          <p:val>
                                            <p:strVal val="#ppt_y"/>
                                          </p:val>
                                        </p:tav>
                                      </p:tavLst>
                                    </p:anim>
                                  </p:childTnLst>
                                </p:cTn>
                              </p:par>
                            </p:childTnLst>
                          </p:cTn>
                        </p:par>
                        <p:par>
                          <p:cTn id="33" fill="hold">
                            <p:stCondLst>
                              <p:cond delay="3750"/>
                            </p:stCondLst>
                            <p:childTnLst>
                              <p:par>
                                <p:cTn id="34" presetID="10" presetClass="entr" presetSubtype="0" fill="hold" grpId="0" nodeType="afterEffect">
                                  <p:stCondLst>
                                    <p:cond delay="250"/>
                                  </p:stCondLst>
                                  <p:childTnLst>
                                    <p:set>
                                      <p:cBhvr>
                                        <p:cTn id="35" dur="1" fill="hold">
                                          <p:stCondLst>
                                            <p:cond delay="0"/>
                                          </p:stCondLst>
                                        </p:cTn>
                                        <p:tgtEl>
                                          <p:spTgt spid="3"/>
                                        </p:tgtEl>
                                        <p:attrNameLst>
                                          <p:attrName>style.visibility</p:attrName>
                                        </p:attrNameLst>
                                      </p:cBhvr>
                                      <p:to>
                                        <p:strVal val="visible"/>
                                      </p:to>
                                    </p:set>
                                    <p:animEffect transition="in" filter="fade">
                                      <p:cBhvr>
                                        <p:cTn id="36" dur="750"/>
                                        <p:tgtEl>
                                          <p:spTgt spid="3"/>
                                        </p:tgtEl>
                                      </p:cBhvr>
                                    </p:animEffect>
                                  </p:childTnLst>
                                </p:cTn>
                              </p:par>
                            </p:childTnLst>
                          </p:cTn>
                        </p:par>
                        <p:par>
                          <p:cTn id="37" fill="hold">
                            <p:stCondLst>
                              <p:cond delay="4750"/>
                            </p:stCondLst>
                            <p:childTnLst>
                              <p:par>
                                <p:cTn id="38" presetID="10" presetClass="entr" presetSubtype="0" fill="hold" nodeType="afterEffect">
                                  <p:stCondLst>
                                    <p:cond delay="25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750"/>
                                        <p:tgtEl>
                                          <p:spTgt spid="4"/>
                                        </p:tgtEl>
                                      </p:cBhvr>
                                    </p:animEffect>
                                  </p:childTnLst>
                                </p:cTn>
                              </p:par>
                            </p:childTnLst>
                          </p:cTn>
                        </p:par>
                        <p:par>
                          <p:cTn id="41" fill="hold">
                            <p:stCondLst>
                              <p:cond delay="5750"/>
                            </p:stCondLst>
                            <p:childTnLst>
                              <p:par>
                                <p:cTn id="42" presetID="42" presetClass="entr" presetSubtype="0" fill="hold" grpId="0" nodeType="afterEffect">
                                  <p:stCondLst>
                                    <p:cond delay="250"/>
                                  </p:stCondLst>
                                  <p:childTnLst>
                                    <p:set>
                                      <p:cBhvr>
                                        <p:cTn id="43" dur="1" fill="hold">
                                          <p:stCondLst>
                                            <p:cond delay="0"/>
                                          </p:stCondLst>
                                        </p:cTn>
                                        <p:tgtEl>
                                          <p:spTgt spid="5"/>
                                        </p:tgtEl>
                                        <p:attrNameLst>
                                          <p:attrName>style.visibility</p:attrName>
                                        </p:attrNameLst>
                                      </p:cBhvr>
                                      <p:to>
                                        <p:strVal val="visible"/>
                                      </p:to>
                                    </p:set>
                                    <p:animEffect transition="in" filter="fade">
                                      <p:cBhvr>
                                        <p:cTn id="44" dur="750"/>
                                        <p:tgtEl>
                                          <p:spTgt spid="5"/>
                                        </p:tgtEl>
                                      </p:cBhvr>
                                    </p:animEffect>
                                    <p:anim calcmode="lin" valueType="num">
                                      <p:cBhvr>
                                        <p:cTn id="45" dur="750" fill="hold"/>
                                        <p:tgtEl>
                                          <p:spTgt spid="5"/>
                                        </p:tgtEl>
                                        <p:attrNameLst>
                                          <p:attrName>ppt_x</p:attrName>
                                        </p:attrNameLst>
                                      </p:cBhvr>
                                      <p:tavLst>
                                        <p:tav tm="0">
                                          <p:val>
                                            <p:strVal val="#ppt_x"/>
                                          </p:val>
                                        </p:tav>
                                        <p:tav tm="100000">
                                          <p:val>
                                            <p:strVal val="#ppt_x"/>
                                          </p:val>
                                        </p:tav>
                                      </p:tavLst>
                                    </p:anim>
                                    <p:anim calcmode="lin" valueType="num">
                                      <p:cBhvr>
                                        <p:cTn id="46" dur="750" fill="hold"/>
                                        <p:tgtEl>
                                          <p:spTgt spid="5"/>
                                        </p:tgtEl>
                                        <p:attrNameLst>
                                          <p:attrName>ppt_y</p:attrName>
                                        </p:attrNameLst>
                                      </p:cBhvr>
                                      <p:tavLst>
                                        <p:tav tm="0">
                                          <p:val>
                                            <p:strVal val="#ppt_y+.1"/>
                                          </p:val>
                                        </p:tav>
                                        <p:tav tm="100000">
                                          <p:val>
                                            <p:strVal val="#ppt_y"/>
                                          </p:val>
                                        </p:tav>
                                      </p:tavLst>
                                    </p:anim>
                                  </p:childTnLst>
                                </p:cTn>
                              </p:par>
                            </p:childTnLst>
                          </p:cTn>
                        </p:par>
                        <p:par>
                          <p:cTn id="47" fill="hold">
                            <p:stCondLst>
                              <p:cond delay="6750"/>
                            </p:stCondLst>
                            <p:childTnLst>
                              <p:par>
                                <p:cTn id="48" presetID="42" presetClass="entr" presetSubtype="0" fill="hold" grpId="0" nodeType="afterEffect">
                                  <p:stCondLst>
                                    <p:cond delay="25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750"/>
                                        <p:tgtEl>
                                          <p:spTgt spid="8"/>
                                        </p:tgtEl>
                                      </p:cBhvr>
                                    </p:animEffect>
                                    <p:anim calcmode="lin" valueType="num">
                                      <p:cBhvr>
                                        <p:cTn id="51" dur="750" fill="hold"/>
                                        <p:tgtEl>
                                          <p:spTgt spid="8"/>
                                        </p:tgtEl>
                                        <p:attrNameLst>
                                          <p:attrName>ppt_x</p:attrName>
                                        </p:attrNameLst>
                                      </p:cBhvr>
                                      <p:tavLst>
                                        <p:tav tm="0">
                                          <p:val>
                                            <p:strVal val="#ppt_x"/>
                                          </p:val>
                                        </p:tav>
                                        <p:tav tm="100000">
                                          <p:val>
                                            <p:strVal val="#ppt_x"/>
                                          </p:val>
                                        </p:tav>
                                      </p:tavLst>
                                    </p:anim>
                                    <p:anim calcmode="lin" valueType="num">
                                      <p:cBhvr>
                                        <p:cTn id="52" dur="750" fill="hold"/>
                                        <p:tgtEl>
                                          <p:spTgt spid="8"/>
                                        </p:tgtEl>
                                        <p:attrNameLst>
                                          <p:attrName>ppt_y</p:attrName>
                                        </p:attrNameLst>
                                      </p:cBhvr>
                                      <p:tavLst>
                                        <p:tav tm="0">
                                          <p:val>
                                            <p:strVal val="#ppt_y+.1"/>
                                          </p:val>
                                        </p:tav>
                                        <p:tav tm="100000">
                                          <p:val>
                                            <p:strVal val="#ppt_y"/>
                                          </p:val>
                                        </p:tav>
                                      </p:tavLst>
                                    </p:anim>
                                  </p:childTnLst>
                                </p:cTn>
                              </p:par>
                            </p:childTnLst>
                          </p:cTn>
                        </p:par>
                        <p:par>
                          <p:cTn id="53" fill="hold">
                            <p:stCondLst>
                              <p:cond delay="7750"/>
                            </p:stCondLst>
                            <p:childTnLst>
                              <p:par>
                                <p:cTn id="54" presetID="42" presetClass="entr" presetSubtype="0" fill="hold" grpId="0"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750"/>
                                        <p:tgtEl>
                                          <p:spTgt spid="19"/>
                                        </p:tgtEl>
                                      </p:cBhvr>
                                    </p:animEffect>
                                    <p:anim calcmode="lin" valueType="num">
                                      <p:cBhvr>
                                        <p:cTn id="57" dur="750" fill="hold"/>
                                        <p:tgtEl>
                                          <p:spTgt spid="19"/>
                                        </p:tgtEl>
                                        <p:attrNameLst>
                                          <p:attrName>ppt_x</p:attrName>
                                        </p:attrNameLst>
                                      </p:cBhvr>
                                      <p:tavLst>
                                        <p:tav tm="0">
                                          <p:val>
                                            <p:strVal val="#ppt_x"/>
                                          </p:val>
                                        </p:tav>
                                        <p:tav tm="100000">
                                          <p:val>
                                            <p:strVal val="#ppt_x"/>
                                          </p:val>
                                        </p:tav>
                                      </p:tavLst>
                                    </p:anim>
                                    <p:anim calcmode="lin" valueType="num">
                                      <p:cBhvr>
                                        <p:cTn id="58" dur="750" fill="hold"/>
                                        <p:tgtEl>
                                          <p:spTgt spid="19"/>
                                        </p:tgtEl>
                                        <p:attrNameLst>
                                          <p:attrName>ppt_y</p:attrName>
                                        </p:attrNameLst>
                                      </p:cBhvr>
                                      <p:tavLst>
                                        <p:tav tm="0">
                                          <p:val>
                                            <p:strVal val="#ppt_y+.1"/>
                                          </p:val>
                                        </p:tav>
                                        <p:tav tm="100000">
                                          <p:val>
                                            <p:strVal val="#ppt_y"/>
                                          </p:val>
                                        </p:tav>
                                      </p:tavLst>
                                    </p:anim>
                                  </p:childTnLst>
                                </p:cTn>
                              </p:par>
                            </p:childTnLst>
                          </p:cTn>
                        </p:par>
                        <p:par>
                          <p:cTn id="59" fill="hold">
                            <p:stCondLst>
                              <p:cond delay="8500"/>
                            </p:stCondLst>
                            <p:childTnLst>
                              <p:par>
                                <p:cTn id="60" presetID="42" presetClass="entr" presetSubtype="0" fill="hold" grpId="0" nodeType="afterEffect">
                                  <p:stCondLst>
                                    <p:cond delay="25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750"/>
                                        <p:tgtEl>
                                          <p:spTgt spid="16"/>
                                        </p:tgtEl>
                                      </p:cBhvr>
                                    </p:animEffect>
                                    <p:anim calcmode="lin" valueType="num">
                                      <p:cBhvr>
                                        <p:cTn id="63" dur="750" fill="hold"/>
                                        <p:tgtEl>
                                          <p:spTgt spid="16"/>
                                        </p:tgtEl>
                                        <p:attrNameLst>
                                          <p:attrName>ppt_x</p:attrName>
                                        </p:attrNameLst>
                                      </p:cBhvr>
                                      <p:tavLst>
                                        <p:tav tm="0">
                                          <p:val>
                                            <p:strVal val="#ppt_x"/>
                                          </p:val>
                                        </p:tav>
                                        <p:tav tm="100000">
                                          <p:val>
                                            <p:strVal val="#ppt_x"/>
                                          </p:val>
                                        </p:tav>
                                      </p:tavLst>
                                    </p:anim>
                                    <p:anim calcmode="lin" valueType="num">
                                      <p:cBhvr>
                                        <p:cTn id="64" dur="75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4" grpId="0"/>
      <p:bldP spid="15" grpId="0" animBg="1"/>
      <p:bldP spid="6" grpId="0" animBg="1"/>
      <p:bldP spid="12" grpId="0" animBg="1"/>
      <p:bldP spid="19" grpId="0" animBg="1"/>
      <p:bldP spid="3" grpId="0" animBg="1"/>
      <p:bldP spid="5" grpId="0" animBg="1"/>
      <p:bldP spid="8" grpId="0" animBg="1"/>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18B07EE-A45E-4446-A223-5B883B13E13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Box 12">
            <a:extLst>
              <a:ext uri="{FF2B5EF4-FFF2-40B4-BE49-F238E27FC236}">
                <a16:creationId xmlns:a16="http://schemas.microsoft.com/office/drawing/2014/main" id="{F69ABF98-BAA4-46BE-8C6D-496C915595E2}"/>
              </a:ext>
            </a:extLst>
          </p:cNvPr>
          <p:cNvSpPr txBox="1"/>
          <p:nvPr/>
        </p:nvSpPr>
        <p:spPr>
          <a:xfrm>
            <a:off x="1330452" y="61014"/>
            <a:ext cx="5420703" cy="615553"/>
          </a:xfrm>
          <a:prstGeom prst="rect">
            <a:avLst/>
          </a:prstGeom>
          <a:noFill/>
        </p:spPr>
        <p:txBody>
          <a:bodyPr wrap="square" lIns="0" tIns="0" rIns="0" bIns="0" numCol="1" rtlCol="0">
            <a:spAutoFit/>
          </a:bodyPr>
          <a:lstStyle/>
          <a:p>
            <a:r>
              <a:rPr lang="en-US" sz="2000" b="1" i="1" dirty="0">
                <a:solidFill>
                  <a:srgbClr val="8F5CD3"/>
                </a:solidFill>
                <a:effectLst>
                  <a:outerShdw blurRad="38100" dist="38100" dir="2700000" algn="tl">
                    <a:srgbClr val="000000">
                      <a:alpha val="43137"/>
                    </a:srgbClr>
                  </a:outerShdw>
                </a:effectLst>
                <a:latin typeface="Roboto" pitchFamily="2" charset="0"/>
                <a:ea typeface="Roboto" pitchFamily="2" charset="0"/>
              </a:rPr>
              <a:t>Méthodologie et </a:t>
            </a:r>
          </a:p>
          <a:p>
            <a:r>
              <a:rPr lang="en-US" sz="2000" b="1" i="1" dirty="0">
                <a:solidFill>
                  <a:srgbClr val="8F5CD3"/>
                </a:solidFill>
                <a:effectLst>
                  <a:outerShdw blurRad="38100" dist="38100" dir="2700000" algn="tl">
                    <a:srgbClr val="000000">
                      <a:alpha val="43137"/>
                    </a:srgbClr>
                  </a:outerShdw>
                </a:effectLst>
                <a:latin typeface="Roboto" pitchFamily="2" charset="0"/>
                <a:ea typeface="Roboto" pitchFamily="2" charset="0"/>
              </a:rPr>
              <a:t>Analyse de Besoin</a:t>
            </a:r>
          </a:p>
        </p:txBody>
      </p:sp>
      <p:sp>
        <p:nvSpPr>
          <p:cNvPr id="14" name="ZoneTexte 10">
            <a:extLst>
              <a:ext uri="{FF2B5EF4-FFF2-40B4-BE49-F238E27FC236}">
                <a16:creationId xmlns:a16="http://schemas.microsoft.com/office/drawing/2014/main" id="{64E04A14-C223-4E7B-967B-26E32D08CBDA}"/>
              </a:ext>
            </a:extLst>
          </p:cNvPr>
          <p:cNvSpPr txBox="1"/>
          <p:nvPr/>
        </p:nvSpPr>
        <p:spPr>
          <a:xfrm>
            <a:off x="0" y="-203200"/>
            <a:ext cx="2038470" cy="1446550"/>
          </a:xfrm>
          <a:prstGeom prst="rect">
            <a:avLst/>
          </a:prstGeom>
          <a:noFill/>
        </p:spPr>
        <p:txBody>
          <a:bodyPr wrap="square">
            <a:spAutoFit/>
          </a:bodyPr>
          <a:lstStyle/>
          <a:p>
            <a:r>
              <a:rPr lang="en-US" sz="8800" dirty="0">
                <a:ln w="15875">
                  <a:solidFill>
                    <a:schemeClr val="bg1"/>
                  </a:solidFill>
                </a:ln>
                <a:noFill/>
                <a:latin typeface="Archivo Black" panose="020B0A03020202020B04" pitchFamily="34" charset="0"/>
              </a:rPr>
              <a:t>03</a:t>
            </a:r>
            <a:endParaRPr lang="en-US" sz="23900" dirty="0"/>
          </a:p>
        </p:txBody>
      </p:sp>
      <p:sp>
        <p:nvSpPr>
          <p:cNvPr id="15" name="Rectangle 14">
            <a:extLst>
              <a:ext uri="{FF2B5EF4-FFF2-40B4-BE49-F238E27FC236}">
                <a16:creationId xmlns:a16="http://schemas.microsoft.com/office/drawing/2014/main" id="{96D235E1-BB6A-40C8-BE3C-79336DC5E34D}"/>
              </a:ext>
            </a:extLst>
          </p:cNvPr>
          <p:cNvSpPr/>
          <p:nvPr/>
        </p:nvSpPr>
        <p:spPr>
          <a:xfrm>
            <a:off x="1228135" y="57371"/>
            <a:ext cx="45719" cy="925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11" name="Google Shape;273;p6">
            <a:extLst>
              <a:ext uri="{FF2B5EF4-FFF2-40B4-BE49-F238E27FC236}">
                <a16:creationId xmlns:a16="http://schemas.microsoft.com/office/drawing/2014/main" id="{F4827F4E-A505-43D3-B011-AF3ADD4B0D3A}"/>
              </a:ext>
            </a:extLst>
          </p:cNvPr>
          <p:cNvSpPr txBox="1"/>
          <p:nvPr/>
        </p:nvSpPr>
        <p:spPr>
          <a:xfrm>
            <a:off x="11310470" y="6334820"/>
            <a:ext cx="598245"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11</a:t>
            </a:r>
            <a:endParaRPr sz="2800" b="1" dirty="0">
              <a:solidFill>
                <a:schemeClr val="lt1"/>
              </a:solidFill>
              <a:latin typeface="Arial"/>
              <a:ea typeface="Arial"/>
              <a:cs typeface="Arial"/>
              <a:sym typeface="Arial"/>
            </a:endParaRPr>
          </a:p>
        </p:txBody>
      </p:sp>
      <p:sp>
        <p:nvSpPr>
          <p:cNvPr id="2" name="ZoneTexte 1">
            <a:extLst>
              <a:ext uri="{FF2B5EF4-FFF2-40B4-BE49-F238E27FC236}">
                <a16:creationId xmlns:a16="http://schemas.microsoft.com/office/drawing/2014/main" id="{3AFF25DD-2909-227E-CC91-007007103887}"/>
              </a:ext>
            </a:extLst>
          </p:cNvPr>
          <p:cNvSpPr txBox="1"/>
          <p:nvPr/>
        </p:nvSpPr>
        <p:spPr>
          <a:xfrm>
            <a:off x="3357469" y="982779"/>
            <a:ext cx="5420703" cy="584775"/>
          </a:xfrm>
          <a:prstGeom prst="rect">
            <a:avLst/>
          </a:prstGeom>
          <a:noFill/>
        </p:spPr>
        <p:txBody>
          <a:bodyPr wrap="square">
            <a:spAutoFit/>
          </a:bodyPr>
          <a:lstStyle/>
          <a:p>
            <a:pPr algn="ctr"/>
            <a:r>
              <a:rPr lang="fr-FR" sz="3200" b="1" i="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Les besoins non fonctionnels</a:t>
            </a:r>
          </a:p>
        </p:txBody>
      </p:sp>
      <p:sp>
        <p:nvSpPr>
          <p:cNvPr id="3" name="Google Shape;385;p12">
            <a:extLst>
              <a:ext uri="{FF2B5EF4-FFF2-40B4-BE49-F238E27FC236}">
                <a16:creationId xmlns:a16="http://schemas.microsoft.com/office/drawing/2014/main" id="{ADB36856-408D-39A2-F457-3C33E1E00771}"/>
              </a:ext>
            </a:extLst>
          </p:cNvPr>
          <p:cNvSpPr/>
          <p:nvPr/>
        </p:nvSpPr>
        <p:spPr>
          <a:xfrm>
            <a:off x="3104507" y="1990112"/>
            <a:ext cx="5984902" cy="808285"/>
          </a:xfrm>
          <a:prstGeom prst="roundRect">
            <a:avLst>
              <a:gd name="adj" fmla="val 16667"/>
            </a:avLst>
          </a:prstGeom>
          <a:solidFill>
            <a:srgbClr val="9AD3E9"/>
          </a:solidFill>
          <a:ln>
            <a:noFill/>
          </a:ln>
        </p:spPr>
        <p:txBody>
          <a:bodyPr spcFirstLastPara="1" wrap="square" lIns="91425" tIns="45700" rIns="91425" bIns="45700" anchor="ctr" anchorCtr="0">
            <a:noAutofit/>
          </a:bodyPr>
          <a:lstStyle/>
          <a:p>
            <a:pPr lvl="0" algn="ctr"/>
            <a:r>
              <a:rPr lang="fr-FR" sz="1600" u="sng" dirty="0">
                <a:solidFill>
                  <a:schemeClr val="dk1"/>
                </a:solidFill>
                <a:latin typeface="Times New Roman" panose="02020603050405020304" pitchFamily="18" charset="0"/>
                <a:cs typeface="Times New Roman" panose="02020603050405020304" pitchFamily="18" charset="0"/>
                <a:sym typeface="Arial"/>
              </a:rPr>
              <a:t>Sécurité</a:t>
            </a:r>
            <a:r>
              <a:rPr lang="fr-FR" sz="1600" dirty="0">
                <a:solidFill>
                  <a:schemeClr val="dk1"/>
                </a:solidFill>
                <a:latin typeface="Times New Roman" panose="02020603050405020304" pitchFamily="18" charset="0"/>
                <a:cs typeface="Times New Roman" panose="02020603050405020304" pitchFamily="18" charset="0"/>
                <a:sym typeface="Arial"/>
              </a:rPr>
              <a:t>: </a:t>
            </a:r>
            <a:r>
              <a:rPr lang="fr-FR" sz="1600" dirty="0"/>
              <a:t>Protéger les données sensibles et garantir un accès contrôlé à l'application. Cela inclut : </a:t>
            </a:r>
            <a:r>
              <a:rPr lang="fr-FR" sz="1600" b="1" dirty="0"/>
              <a:t>Authentification robuste,</a:t>
            </a:r>
            <a:r>
              <a:rPr lang="fr-FR" sz="1600" dirty="0"/>
              <a:t> </a:t>
            </a:r>
            <a:r>
              <a:rPr lang="fr-FR" sz="1600" b="1" dirty="0"/>
              <a:t>Protection des communications,</a:t>
            </a:r>
            <a:r>
              <a:rPr lang="fr-FR" sz="1600" dirty="0"/>
              <a:t> </a:t>
            </a:r>
            <a:r>
              <a:rPr lang="fr-FR" sz="1600" b="1" dirty="0"/>
              <a:t>Contrôle des accès.</a:t>
            </a:r>
            <a:endParaRPr sz="1600" b="1" dirty="0">
              <a:latin typeface="Times New Roman" panose="02020603050405020304" pitchFamily="18" charset="0"/>
              <a:cs typeface="Times New Roman" panose="02020603050405020304" pitchFamily="18" charset="0"/>
            </a:endParaRPr>
          </a:p>
        </p:txBody>
      </p:sp>
      <p:sp>
        <p:nvSpPr>
          <p:cNvPr id="4" name="Google Shape;386;p12">
            <a:extLst>
              <a:ext uri="{FF2B5EF4-FFF2-40B4-BE49-F238E27FC236}">
                <a16:creationId xmlns:a16="http://schemas.microsoft.com/office/drawing/2014/main" id="{7A7E4A41-81B4-8AEA-409E-EEF62C8929CC}"/>
              </a:ext>
            </a:extLst>
          </p:cNvPr>
          <p:cNvSpPr/>
          <p:nvPr/>
        </p:nvSpPr>
        <p:spPr>
          <a:xfrm>
            <a:off x="3104506" y="3139519"/>
            <a:ext cx="5984904" cy="779726"/>
          </a:xfrm>
          <a:prstGeom prst="roundRect">
            <a:avLst>
              <a:gd name="adj" fmla="val 16667"/>
            </a:avLst>
          </a:prstGeom>
          <a:solidFill>
            <a:srgbClr val="9AD3E9"/>
          </a:solidFill>
          <a:ln>
            <a:noFill/>
          </a:ln>
        </p:spPr>
        <p:txBody>
          <a:bodyPr spcFirstLastPara="1" wrap="square" lIns="91425" tIns="45700" rIns="91425" bIns="45700" anchor="ctr" anchorCtr="0">
            <a:noAutofit/>
          </a:bodyPr>
          <a:lstStyle/>
          <a:p>
            <a:pPr lvl="0"/>
            <a:r>
              <a:rPr lang="fr-FR" sz="1600" u="sng" dirty="0">
                <a:solidFill>
                  <a:schemeClr val="dk1"/>
                </a:solidFill>
                <a:latin typeface="Times New Roman" panose="02020603050405020304" pitchFamily="18" charset="0"/>
                <a:ea typeface="Arial"/>
                <a:cs typeface="Times New Roman" panose="02020603050405020304" pitchFamily="18" charset="0"/>
                <a:sym typeface="Arial"/>
              </a:rPr>
              <a:t>Disponibilité</a:t>
            </a:r>
            <a:r>
              <a:rPr lang="fr-FR" sz="1600" dirty="0">
                <a:solidFill>
                  <a:schemeClr val="dk1"/>
                </a:solidFill>
                <a:latin typeface="Times New Roman" panose="02020603050405020304" pitchFamily="18" charset="0"/>
                <a:ea typeface="Arial"/>
                <a:cs typeface="Times New Roman" panose="02020603050405020304" pitchFamily="18" charset="0"/>
                <a:sym typeface="Arial"/>
              </a:rPr>
              <a:t>:</a:t>
            </a:r>
            <a:r>
              <a:rPr lang="fr-FR" sz="1600" dirty="0">
                <a:latin typeface="Times New Roman" panose="02020603050405020304" pitchFamily="18" charset="0"/>
                <a:cs typeface="Times New Roman" panose="02020603050405020304" pitchFamily="18" charset="0"/>
              </a:rPr>
              <a:t> Accessibilité de l'application en tout temps avec des temps d'arrêt limités.</a:t>
            </a:r>
            <a:endParaRPr dirty="0">
              <a:latin typeface="Times New Roman" panose="02020603050405020304" pitchFamily="18" charset="0"/>
              <a:cs typeface="Times New Roman" panose="02020603050405020304" pitchFamily="18" charset="0"/>
            </a:endParaRPr>
          </a:p>
        </p:txBody>
      </p:sp>
      <p:sp>
        <p:nvSpPr>
          <p:cNvPr id="5" name="Google Shape;387;p12">
            <a:extLst>
              <a:ext uri="{FF2B5EF4-FFF2-40B4-BE49-F238E27FC236}">
                <a16:creationId xmlns:a16="http://schemas.microsoft.com/office/drawing/2014/main" id="{2FE24ACB-A294-F4EF-0FB8-8F69A975C185}"/>
              </a:ext>
            </a:extLst>
          </p:cNvPr>
          <p:cNvSpPr/>
          <p:nvPr/>
        </p:nvSpPr>
        <p:spPr>
          <a:xfrm>
            <a:off x="3104508" y="4238974"/>
            <a:ext cx="5984902" cy="779726"/>
          </a:xfrm>
          <a:prstGeom prst="roundRect">
            <a:avLst>
              <a:gd name="adj" fmla="val 16667"/>
            </a:avLst>
          </a:prstGeom>
          <a:solidFill>
            <a:srgbClr val="9AD3E9"/>
          </a:solidFill>
          <a:ln>
            <a:noFill/>
          </a:ln>
        </p:spPr>
        <p:txBody>
          <a:bodyPr spcFirstLastPara="1" wrap="square" lIns="91425" tIns="45700" rIns="91425" bIns="45700" anchor="ctr" anchorCtr="0">
            <a:noAutofit/>
          </a:bodyPr>
          <a:lstStyle/>
          <a:p>
            <a:pPr lvl="0"/>
            <a:r>
              <a:rPr lang="fr-FR" sz="1600" u="sng" dirty="0">
                <a:latin typeface="Times New Roman" panose="02020603050405020304" pitchFamily="18" charset="0"/>
                <a:cs typeface="Times New Roman" panose="02020603050405020304" pitchFamily="18" charset="0"/>
              </a:rPr>
              <a:t>Extensibilité</a:t>
            </a:r>
            <a:r>
              <a:rPr lang="fr-FR" sz="1600" dirty="0">
                <a:solidFill>
                  <a:schemeClr val="dk1"/>
                </a:solidFill>
                <a:latin typeface="Times New Roman" panose="02020603050405020304" pitchFamily="18" charset="0"/>
                <a:ea typeface="Arial"/>
                <a:cs typeface="Times New Roman" panose="02020603050405020304" pitchFamily="18" charset="0"/>
                <a:sym typeface="Arial"/>
              </a:rPr>
              <a:t>: </a:t>
            </a:r>
            <a:r>
              <a:rPr lang="fr-FR" sz="1600" dirty="0"/>
              <a:t>Capacité d'ajouter de nouvelles fonctionnalités ou modules sans affecter l'existant.</a:t>
            </a:r>
            <a:endParaRPr sz="1800" dirty="0">
              <a:solidFill>
                <a:schemeClr val="lt1"/>
              </a:solidFill>
              <a:latin typeface="Times New Roman" panose="02020603050405020304" pitchFamily="18" charset="0"/>
              <a:ea typeface="Arial"/>
              <a:cs typeface="Times New Roman" panose="02020603050405020304" pitchFamily="18" charset="0"/>
              <a:sym typeface="Arial"/>
            </a:endParaRPr>
          </a:p>
        </p:txBody>
      </p:sp>
      <p:sp>
        <p:nvSpPr>
          <p:cNvPr id="6" name="Google Shape;388;p12">
            <a:extLst>
              <a:ext uri="{FF2B5EF4-FFF2-40B4-BE49-F238E27FC236}">
                <a16:creationId xmlns:a16="http://schemas.microsoft.com/office/drawing/2014/main" id="{89F825BC-44D0-144B-C04A-B4F98ED6CC39}"/>
              </a:ext>
            </a:extLst>
          </p:cNvPr>
          <p:cNvSpPr/>
          <p:nvPr/>
        </p:nvSpPr>
        <p:spPr>
          <a:xfrm>
            <a:off x="3104506" y="5409775"/>
            <a:ext cx="5984902" cy="730373"/>
          </a:xfrm>
          <a:prstGeom prst="roundRect">
            <a:avLst>
              <a:gd name="adj" fmla="val 16667"/>
            </a:avLst>
          </a:prstGeom>
          <a:solidFill>
            <a:srgbClr val="9AD3E9"/>
          </a:solidFill>
          <a:ln>
            <a:noFill/>
          </a:ln>
        </p:spPr>
        <p:txBody>
          <a:bodyPr spcFirstLastPara="1" wrap="square" lIns="91425" tIns="45700" rIns="91425" bIns="45700" anchor="ctr" anchorCtr="0">
            <a:noAutofit/>
          </a:bodyPr>
          <a:lstStyle/>
          <a:p>
            <a:pPr lvl="0"/>
            <a:r>
              <a:rPr lang="fr-FR" sz="1600" u="sng" dirty="0">
                <a:latin typeface="Times New Roman" panose="02020603050405020304" pitchFamily="18" charset="0"/>
                <a:cs typeface="Times New Roman" panose="02020603050405020304" pitchFamily="18" charset="0"/>
              </a:rPr>
              <a:t>Performance</a:t>
            </a:r>
            <a:r>
              <a:rPr lang="fr-FR" sz="1600" dirty="0">
                <a:latin typeface="Times New Roman" panose="02020603050405020304" pitchFamily="18" charset="0"/>
                <a:cs typeface="Times New Roman" panose="02020603050405020304" pitchFamily="18" charset="0"/>
              </a:rPr>
              <a:t>: Une application rapide, fluide et capable de traiter un grand volume de requêtes avec un temps de réponse optimal.</a:t>
            </a:r>
            <a:endParaRPr sz="1800" dirty="0">
              <a:solidFill>
                <a:schemeClr val="lt1"/>
              </a:solidFill>
              <a:latin typeface="Times New Roman" panose="02020603050405020304" pitchFamily="18" charset="0"/>
              <a:ea typeface="Arial"/>
              <a:cs typeface="Times New Roman" panose="02020603050405020304" pitchFamily="18" charset="0"/>
              <a:sym typeface="Arial"/>
            </a:endParaRPr>
          </a:p>
        </p:txBody>
      </p:sp>
      <p:pic>
        <p:nvPicPr>
          <p:cNvPr id="7" name="Google Shape;389;p12" descr="Related image">
            <a:extLst>
              <a:ext uri="{FF2B5EF4-FFF2-40B4-BE49-F238E27FC236}">
                <a16:creationId xmlns:a16="http://schemas.microsoft.com/office/drawing/2014/main" id="{23A5FDD3-5FD9-3353-1E6C-60A07C80EFA2}"/>
              </a:ext>
            </a:extLst>
          </p:cNvPr>
          <p:cNvPicPr preferRelativeResize="0"/>
          <p:nvPr/>
        </p:nvPicPr>
        <p:blipFill rotWithShape="1">
          <a:blip r:embed="rId7">
            <a:alphaModFix/>
          </a:blip>
          <a:srcRect/>
          <a:stretch/>
        </p:blipFill>
        <p:spPr>
          <a:xfrm>
            <a:off x="1860834" y="1965147"/>
            <a:ext cx="861769" cy="766138"/>
          </a:xfrm>
          <a:prstGeom prst="rect">
            <a:avLst/>
          </a:prstGeom>
          <a:noFill/>
          <a:ln>
            <a:noFill/>
          </a:ln>
        </p:spPr>
      </p:pic>
      <p:pic>
        <p:nvPicPr>
          <p:cNvPr id="8" name="Google Shape;392;p12" descr="Image result for rapiditÃ©">
            <a:extLst>
              <a:ext uri="{FF2B5EF4-FFF2-40B4-BE49-F238E27FC236}">
                <a16:creationId xmlns:a16="http://schemas.microsoft.com/office/drawing/2014/main" id="{877D07B5-4B50-148F-6C0E-2EB7D242B8C1}"/>
              </a:ext>
            </a:extLst>
          </p:cNvPr>
          <p:cNvPicPr preferRelativeResize="0"/>
          <p:nvPr/>
        </p:nvPicPr>
        <p:blipFill rotWithShape="1">
          <a:blip r:embed="rId8">
            <a:alphaModFix/>
          </a:blip>
          <a:srcRect/>
          <a:stretch/>
        </p:blipFill>
        <p:spPr>
          <a:xfrm>
            <a:off x="1857810" y="5257035"/>
            <a:ext cx="889332" cy="884679"/>
          </a:xfrm>
          <a:prstGeom prst="rect">
            <a:avLst/>
          </a:prstGeom>
          <a:noFill/>
          <a:ln>
            <a:noFill/>
          </a:ln>
        </p:spPr>
      </p:pic>
      <p:pic>
        <p:nvPicPr>
          <p:cNvPr id="9" name="Picture 2" descr="C:\Users\hamza\Desktop\6116418.png">
            <a:extLst>
              <a:ext uri="{FF2B5EF4-FFF2-40B4-BE49-F238E27FC236}">
                <a16:creationId xmlns:a16="http://schemas.microsoft.com/office/drawing/2014/main" id="{F45E471C-B774-AF3D-EB7E-EDF91773D9C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71794" y="3103022"/>
            <a:ext cx="661364" cy="66136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 descr="C:\Users\hamza\Desktop\download.png">
            <a:extLst>
              <a:ext uri="{FF2B5EF4-FFF2-40B4-BE49-F238E27FC236}">
                <a16:creationId xmlns:a16="http://schemas.microsoft.com/office/drawing/2014/main" id="{FC6CF722-CC97-5B1D-040B-02800D5AA80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30361" y="4222301"/>
            <a:ext cx="802999" cy="60457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132544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250" fill="hold"/>
                                        <p:tgtEl>
                                          <p:spTgt spid="14"/>
                                        </p:tgtEl>
                                        <p:attrNameLst>
                                          <p:attrName>ppt_x</p:attrName>
                                        </p:attrNameLst>
                                      </p:cBhvr>
                                      <p:tavLst>
                                        <p:tav tm="0">
                                          <p:val>
                                            <p:strVal val="0-#ppt_w/2"/>
                                          </p:val>
                                        </p:tav>
                                        <p:tav tm="100000">
                                          <p:val>
                                            <p:strVal val="#ppt_x"/>
                                          </p:val>
                                        </p:tav>
                                      </p:tavLst>
                                    </p:anim>
                                    <p:anim calcmode="lin" valueType="num">
                                      <p:cBhvr additive="base">
                                        <p:cTn id="8" dur="250" fill="hold"/>
                                        <p:tgtEl>
                                          <p:spTgt spid="14"/>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2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2" presetClass="entr" presetSubtype="8"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500" fill="hold"/>
                                        <p:tgtEl>
                                          <p:spTgt spid="15"/>
                                        </p:tgtEl>
                                        <p:attrNameLst>
                                          <p:attrName>ppt_x</p:attrName>
                                        </p:attrNameLst>
                                      </p:cBhvr>
                                      <p:tavLst>
                                        <p:tav tm="0">
                                          <p:val>
                                            <p:strVal val="0-#ppt_w/2"/>
                                          </p:val>
                                        </p:tav>
                                        <p:tav tm="100000">
                                          <p:val>
                                            <p:strVal val="#ppt_x"/>
                                          </p:val>
                                        </p:tav>
                                      </p:tavLst>
                                    </p:anim>
                                    <p:anim calcmode="lin" valueType="num">
                                      <p:cBhvr additive="base">
                                        <p:cTn id="15" dur="500" fill="hold"/>
                                        <p:tgtEl>
                                          <p:spTgt spid="15"/>
                                        </p:tgtEl>
                                        <p:attrNameLst>
                                          <p:attrName>ppt_y</p:attrName>
                                        </p:attrNameLst>
                                      </p:cBhvr>
                                      <p:tavLst>
                                        <p:tav tm="0">
                                          <p:val>
                                            <p:strVal val="#ppt_y"/>
                                          </p:val>
                                        </p:tav>
                                        <p:tav tm="100000">
                                          <p:val>
                                            <p:strVal val="#ppt_y"/>
                                          </p:val>
                                        </p:tav>
                                      </p:tavLst>
                                    </p:anim>
                                  </p:childTnLst>
                                </p:cTn>
                              </p:par>
                              <p:par>
                                <p:cTn id="16" presetID="10" presetClass="entr" presetSubtype="0" fill="hold" grpId="0" nodeType="withEffect">
                                  <p:stCondLst>
                                    <p:cond delay="25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par>
                          <p:cTn id="19" fill="hold">
                            <p:stCondLst>
                              <p:cond delay="750"/>
                            </p:stCondLst>
                            <p:childTnLst>
                              <p:par>
                                <p:cTn id="20" presetID="10" presetClass="entr" presetSubtype="0" fill="hold" nodeType="afterEffect">
                                  <p:stCondLst>
                                    <p:cond delay="5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childTnLst>
                                </p:cTn>
                              </p:par>
                            </p:childTnLst>
                          </p:cTn>
                        </p:par>
                        <p:par>
                          <p:cTn id="23" fill="hold">
                            <p:stCondLst>
                              <p:cond delay="2250"/>
                            </p:stCondLst>
                            <p:childTnLst>
                              <p:par>
                                <p:cTn id="24" presetID="10" presetClass="entr" presetSubtype="0" fill="hold" grpId="0"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1000"/>
                                        <p:tgtEl>
                                          <p:spTgt spid="3"/>
                                        </p:tgtEl>
                                      </p:cBhvr>
                                    </p:animEffect>
                                  </p:childTnLst>
                                </p:cTn>
                              </p:par>
                            </p:childTnLst>
                          </p:cTn>
                        </p:par>
                        <p:par>
                          <p:cTn id="27" fill="hold">
                            <p:stCondLst>
                              <p:cond delay="3250"/>
                            </p:stCondLst>
                            <p:childTnLst>
                              <p:par>
                                <p:cTn id="28" presetID="10" presetClass="entr" presetSubtype="0" fill="hold" nodeType="afterEffect">
                                  <p:stCondLst>
                                    <p:cond delay="5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childTnLst>
                                </p:cTn>
                              </p:par>
                            </p:childTnLst>
                          </p:cTn>
                        </p:par>
                        <p:par>
                          <p:cTn id="31" fill="hold">
                            <p:stCondLst>
                              <p:cond delay="4750"/>
                            </p:stCondLst>
                            <p:childTnLst>
                              <p:par>
                                <p:cTn id="32" presetID="10" presetClass="entr" presetSubtype="0"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1000"/>
                                        <p:tgtEl>
                                          <p:spTgt spid="4"/>
                                        </p:tgtEl>
                                      </p:cBhvr>
                                    </p:animEffect>
                                  </p:childTnLst>
                                </p:cTn>
                              </p:par>
                            </p:childTnLst>
                          </p:cTn>
                        </p:par>
                        <p:par>
                          <p:cTn id="35" fill="hold">
                            <p:stCondLst>
                              <p:cond delay="5750"/>
                            </p:stCondLst>
                            <p:childTnLst>
                              <p:par>
                                <p:cTn id="36" presetID="10" presetClass="entr" presetSubtype="0" fill="hold" nodeType="afterEffect">
                                  <p:stCondLst>
                                    <p:cond delay="50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1000"/>
                                        <p:tgtEl>
                                          <p:spTgt spid="16"/>
                                        </p:tgtEl>
                                      </p:cBhvr>
                                    </p:animEffect>
                                  </p:childTnLst>
                                </p:cTn>
                              </p:par>
                            </p:childTnLst>
                          </p:cTn>
                        </p:par>
                        <p:par>
                          <p:cTn id="39" fill="hold">
                            <p:stCondLst>
                              <p:cond delay="7250"/>
                            </p:stCondLst>
                            <p:childTnLst>
                              <p:par>
                                <p:cTn id="40" presetID="10" presetClass="entr" presetSubtype="0" fill="hold" grpId="0" nodeType="after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1000"/>
                                        <p:tgtEl>
                                          <p:spTgt spid="5"/>
                                        </p:tgtEl>
                                      </p:cBhvr>
                                    </p:animEffect>
                                  </p:childTnLst>
                                </p:cTn>
                              </p:par>
                            </p:childTnLst>
                          </p:cTn>
                        </p:par>
                        <p:par>
                          <p:cTn id="43" fill="hold">
                            <p:stCondLst>
                              <p:cond delay="8250"/>
                            </p:stCondLst>
                            <p:childTnLst>
                              <p:par>
                                <p:cTn id="44" presetID="10" presetClass="entr" presetSubtype="0" fill="hold" nodeType="afterEffect">
                                  <p:stCondLst>
                                    <p:cond delay="500"/>
                                  </p:stCondLst>
                                  <p:childTnLst>
                                    <p:set>
                                      <p:cBhvr>
                                        <p:cTn id="45" dur="1" fill="hold">
                                          <p:stCondLst>
                                            <p:cond delay="0"/>
                                          </p:stCondLst>
                                        </p:cTn>
                                        <p:tgtEl>
                                          <p:spTgt spid="8"/>
                                        </p:tgtEl>
                                        <p:attrNameLst>
                                          <p:attrName>style.visibility</p:attrName>
                                        </p:attrNameLst>
                                      </p:cBhvr>
                                      <p:to>
                                        <p:strVal val="visible"/>
                                      </p:to>
                                    </p:set>
                                    <p:animEffect transition="in" filter="fade">
                                      <p:cBhvr>
                                        <p:cTn id="46" dur="1000"/>
                                        <p:tgtEl>
                                          <p:spTgt spid="8"/>
                                        </p:tgtEl>
                                      </p:cBhvr>
                                    </p:animEffect>
                                  </p:childTnLst>
                                </p:cTn>
                              </p:par>
                            </p:childTnLst>
                          </p:cTn>
                        </p:par>
                        <p:par>
                          <p:cTn id="47" fill="hold">
                            <p:stCondLst>
                              <p:cond delay="9750"/>
                            </p:stCondLst>
                            <p:childTnLst>
                              <p:par>
                                <p:cTn id="48" presetID="10" presetClass="entr" presetSubtype="0" fill="hold" grpId="0" nodeType="after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P spid="2" grpId="0"/>
      <p:bldP spid="3" grpId="0" animBg="1"/>
      <p:bldP spid="4" grpId="0" animBg="1"/>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18B07EE-A45E-4446-A223-5B883B13E13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a:extLst>
              <a:ext uri="{FF2B5EF4-FFF2-40B4-BE49-F238E27FC236}">
                <a16:creationId xmlns:a16="http://schemas.microsoft.com/office/drawing/2014/main" id="{CA8813BB-D448-4521-9F33-B74EFDC2BCD9}"/>
              </a:ext>
            </a:extLst>
          </p:cNvPr>
          <p:cNvSpPr/>
          <p:nvPr/>
        </p:nvSpPr>
        <p:spPr>
          <a:xfrm>
            <a:off x="5393227" y="2166484"/>
            <a:ext cx="5524168" cy="259805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2" name="Rectangle 1">
            <a:extLst>
              <a:ext uri="{FF2B5EF4-FFF2-40B4-BE49-F238E27FC236}">
                <a16:creationId xmlns:a16="http://schemas.microsoft.com/office/drawing/2014/main" id="{226F08B3-37B7-4D5C-80DD-85ECEA54CD23}"/>
              </a:ext>
            </a:extLst>
          </p:cNvPr>
          <p:cNvSpPr/>
          <p:nvPr/>
        </p:nvSpPr>
        <p:spPr>
          <a:xfrm>
            <a:off x="5500914" y="1236087"/>
            <a:ext cx="6691086" cy="40333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8" name="TextBox 7">
            <a:extLst>
              <a:ext uri="{FF2B5EF4-FFF2-40B4-BE49-F238E27FC236}">
                <a16:creationId xmlns:a16="http://schemas.microsoft.com/office/drawing/2014/main" id="{DF7833B0-BA71-4453-853F-974C3C7535A2}"/>
              </a:ext>
            </a:extLst>
          </p:cNvPr>
          <p:cNvSpPr txBox="1"/>
          <p:nvPr/>
        </p:nvSpPr>
        <p:spPr>
          <a:xfrm>
            <a:off x="5778620" y="2166484"/>
            <a:ext cx="6808376" cy="738664"/>
          </a:xfrm>
          <a:prstGeom prst="rect">
            <a:avLst/>
          </a:prstGeom>
          <a:noFill/>
        </p:spPr>
        <p:txBody>
          <a:bodyPr wrap="square" lIns="0" tIns="0" rIns="0" bIns="0" numCol="1" rtlCol="0">
            <a:spAutoFit/>
          </a:bodyPr>
          <a:lstStyle/>
          <a:p>
            <a:r>
              <a:rPr lang="fr-FR" sz="4800" b="1" i="1" dirty="0">
                <a:solidFill>
                  <a:srgbClr val="77CE61"/>
                </a:solidFill>
                <a:effectLst>
                  <a:outerShdw blurRad="38100" dist="38100" dir="2700000" algn="tl">
                    <a:srgbClr val="000000">
                      <a:alpha val="43137"/>
                    </a:srgbClr>
                  </a:outerShdw>
                </a:effectLst>
                <a:latin typeface="Roboto" pitchFamily="2" charset="0"/>
                <a:ea typeface="Roboto" pitchFamily="2" charset="0"/>
              </a:rPr>
              <a:t>Etude conceptuelle</a:t>
            </a:r>
          </a:p>
        </p:txBody>
      </p:sp>
      <p:sp>
        <p:nvSpPr>
          <p:cNvPr id="11" name="ZoneTexte 10">
            <a:extLst>
              <a:ext uri="{FF2B5EF4-FFF2-40B4-BE49-F238E27FC236}">
                <a16:creationId xmlns:a16="http://schemas.microsoft.com/office/drawing/2014/main" id="{874A49F3-0002-4629-8953-27B21388CF24}"/>
              </a:ext>
            </a:extLst>
          </p:cNvPr>
          <p:cNvSpPr txBox="1"/>
          <p:nvPr/>
        </p:nvSpPr>
        <p:spPr>
          <a:xfrm>
            <a:off x="1983887" y="1543868"/>
            <a:ext cx="3794733" cy="3770263"/>
          </a:xfrm>
          <a:prstGeom prst="rect">
            <a:avLst/>
          </a:prstGeom>
          <a:noFill/>
        </p:spPr>
        <p:txBody>
          <a:bodyPr wrap="square">
            <a:spAutoFit/>
          </a:bodyPr>
          <a:lstStyle/>
          <a:p>
            <a:r>
              <a:rPr lang="en-US" sz="23900" dirty="0">
                <a:ln w="15875">
                  <a:solidFill>
                    <a:schemeClr val="bg1"/>
                  </a:solidFill>
                </a:ln>
                <a:noFill/>
                <a:latin typeface="Archivo Black" panose="020B0A03020202020B04" pitchFamily="34" charset="0"/>
              </a:rPr>
              <a:t>04</a:t>
            </a:r>
            <a:endParaRPr lang="en-US" sz="23900" dirty="0"/>
          </a:p>
        </p:txBody>
      </p:sp>
      <p:sp>
        <p:nvSpPr>
          <p:cNvPr id="9" name="Google Shape;273;p6">
            <a:extLst>
              <a:ext uri="{FF2B5EF4-FFF2-40B4-BE49-F238E27FC236}">
                <a16:creationId xmlns:a16="http://schemas.microsoft.com/office/drawing/2014/main" id="{190F8FF0-3F6A-4DA5-AE00-53FB9C0AC3C2}"/>
              </a:ext>
            </a:extLst>
          </p:cNvPr>
          <p:cNvSpPr txBox="1"/>
          <p:nvPr/>
        </p:nvSpPr>
        <p:spPr>
          <a:xfrm>
            <a:off x="11310470" y="6334820"/>
            <a:ext cx="598245"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12</a:t>
            </a:r>
            <a:endParaRPr sz="2800" b="1" dirty="0">
              <a:solidFill>
                <a:schemeClr val="lt1"/>
              </a:solidFill>
              <a:latin typeface="Arial"/>
              <a:ea typeface="Arial"/>
              <a:cs typeface="Arial"/>
              <a:sym typeface="Arial"/>
            </a:endParaRPr>
          </a:p>
        </p:txBody>
      </p:sp>
    </p:spTree>
    <p:custDataLst>
      <p:tags r:id="rId1"/>
    </p:custDataLst>
    <p:extLst>
      <p:ext uri="{BB962C8B-B14F-4D97-AF65-F5344CB8AC3E}">
        <p14:creationId xmlns:p14="http://schemas.microsoft.com/office/powerpoint/2010/main" val="3844886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50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84C4C78F-8EB1-5EFD-D4A9-A6D3E641646C}"/>
            </a:ext>
          </a:extLst>
        </p:cNvPr>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16BF09F9-BDED-6E9C-359B-D5C6A0D4772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Google Shape;273;p6">
            <a:extLst>
              <a:ext uri="{FF2B5EF4-FFF2-40B4-BE49-F238E27FC236}">
                <a16:creationId xmlns:a16="http://schemas.microsoft.com/office/drawing/2014/main" id="{903C06F7-5926-ED81-2479-DC4D18BB2557}"/>
              </a:ext>
            </a:extLst>
          </p:cNvPr>
          <p:cNvSpPr txBox="1"/>
          <p:nvPr/>
        </p:nvSpPr>
        <p:spPr>
          <a:xfrm>
            <a:off x="11310470" y="6334820"/>
            <a:ext cx="598245"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13</a:t>
            </a:r>
            <a:endParaRPr sz="2800" b="1" dirty="0">
              <a:solidFill>
                <a:schemeClr val="lt1"/>
              </a:solidFill>
              <a:latin typeface="Arial"/>
              <a:ea typeface="Arial"/>
              <a:cs typeface="Arial"/>
              <a:sym typeface="Arial"/>
            </a:endParaRPr>
          </a:p>
        </p:txBody>
      </p:sp>
      <p:sp>
        <p:nvSpPr>
          <p:cNvPr id="13" name="TextBox 12">
            <a:extLst>
              <a:ext uri="{FF2B5EF4-FFF2-40B4-BE49-F238E27FC236}">
                <a16:creationId xmlns:a16="http://schemas.microsoft.com/office/drawing/2014/main" id="{D6A7EC7D-6E94-DB3A-0930-5FEA51183702}"/>
              </a:ext>
            </a:extLst>
          </p:cNvPr>
          <p:cNvSpPr txBox="1"/>
          <p:nvPr/>
        </p:nvSpPr>
        <p:spPr>
          <a:xfrm>
            <a:off x="1330452" y="61014"/>
            <a:ext cx="5420703" cy="307777"/>
          </a:xfrm>
          <a:prstGeom prst="rect">
            <a:avLst/>
          </a:prstGeom>
          <a:noFill/>
        </p:spPr>
        <p:txBody>
          <a:bodyPr wrap="square" lIns="0" tIns="0" rIns="0" bIns="0" numCol="1" rtlCol="0">
            <a:spAutoFit/>
          </a:bodyPr>
          <a:lstStyle/>
          <a:p>
            <a:r>
              <a:rPr lang="fr-FR" sz="2000" b="1" i="1" dirty="0">
                <a:solidFill>
                  <a:srgbClr val="77CE61"/>
                </a:solidFill>
                <a:effectLst>
                  <a:outerShdw blurRad="38100" dist="38100" dir="2700000" algn="tl">
                    <a:srgbClr val="000000">
                      <a:alpha val="43137"/>
                    </a:srgbClr>
                  </a:outerShdw>
                </a:effectLst>
                <a:latin typeface="Roboto" pitchFamily="2" charset="0"/>
                <a:ea typeface="Roboto" pitchFamily="2" charset="0"/>
              </a:rPr>
              <a:t>Etude conceptuelle</a:t>
            </a:r>
          </a:p>
        </p:txBody>
      </p:sp>
      <p:sp>
        <p:nvSpPr>
          <p:cNvPr id="14" name="ZoneTexte 10">
            <a:extLst>
              <a:ext uri="{FF2B5EF4-FFF2-40B4-BE49-F238E27FC236}">
                <a16:creationId xmlns:a16="http://schemas.microsoft.com/office/drawing/2014/main" id="{6908E79E-8C47-6F72-038F-44EE94C28326}"/>
              </a:ext>
            </a:extLst>
          </p:cNvPr>
          <p:cNvSpPr txBox="1"/>
          <p:nvPr/>
        </p:nvSpPr>
        <p:spPr>
          <a:xfrm>
            <a:off x="0" y="-203200"/>
            <a:ext cx="2038470" cy="1446550"/>
          </a:xfrm>
          <a:prstGeom prst="rect">
            <a:avLst/>
          </a:prstGeom>
          <a:noFill/>
        </p:spPr>
        <p:txBody>
          <a:bodyPr wrap="square">
            <a:spAutoFit/>
          </a:bodyPr>
          <a:lstStyle/>
          <a:p>
            <a:r>
              <a:rPr lang="en-US" sz="8800" dirty="0">
                <a:ln w="15875">
                  <a:solidFill>
                    <a:schemeClr val="bg1"/>
                  </a:solidFill>
                </a:ln>
                <a:noFill/>
                <a:latin typeface="Archivo Black" panose="020B0A03020202020B04" pitchFamily="34" charset="0"/>
              </a:rPr>
              <a:t>04</a:t>
            </a:r>
            <a:endParaRPr lang="en-US" sz="23900" dirty="0"/>
          </a:p>
        </p:txBody>
      </p:sp>
      <p:sp>
        <p:nvSpPr>
          <p:cNvPr id="15" name="Rectangle 14">
            <a:extLst>
              <a:ext uri="{FF2B5EF4-FFF2-40B4-BE49-F238E27FC236}">
                <a16:creationId xmlns:a16="http://schemas.microsoft.com/office/drawing/2014/main" id="{826D3023-A689-B92C-BAC9-B06FDFC35D65}"/>
              </a:ext>
            </a:extLst>
          </p:cNvPr>
          <p:cNvSpPr/>
          <p:nvPr/>
        </p:nvSpPr>
        <p:spPr>
          <a:xfrm>
            <a:off x="1228135" y="57371"/>
            <a:ext cx="45719" cy="925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2" name="ZoneTexte 1">
            <a:extLst>
              <a:ext uri="{FF2B5EF4-FFF2-40B4-BE49-F238E27FC236}">
                <a16:creationId xmlns:a16="http://schemas.microsoft.com/office/drawing/2014/main" id="{4FBCCE2D-F153-353B-4C78-5F59E74E3950}"/>
              </a:ext>
            </a:extLst>
          </p:cNvPr>
          <p:cNvSpPr txBox="1"/>
          <p:nvPr/>
        </p:nvSpPr>
        <p:spPr>
          <a:xfrm>
            <a:off x="4040803" y="950962"/>
            <a:ext cx="4317403" cy="584775"/>
          </a:xfrm>
          <a:prstGeom prst="rect">
            <a:avLst/>
          </a:prstGeom>
          <a:noFill/>
        </p:spPr>
        <p:txBody>
          <a:bodyPr wrap="square" rtlCol="0">
            <a:spAutoFit/>
          </a:bodyPr>
          <a:lstStyle/>
          <a:p>
            <a:pPr algn="ctr"/>
            <a:r>
              <a:rPr lang="fr-FR" sz="3200" b="1" i="1" dirty="0">
                <a:solidFill>
                  <a:schemeClr val="bg1"/>
                </a:solidFill>
                <a:latin typeface="Times New Roman" panose="02020603050405020304" pitchFamily="18" charset="0"/>
                <a:cs typeface="Times New Roman" panose="02020603050405020304" pitchFamily="18" charset="0"/>
              </a:rPr>
              <a:t>Architecture Technique</a:t>
            </a:r>
          </a:p>
        </p:txBody>
      </p:sp>
      <p:sp>
        <p:nvSpPr>
          <p:cNvPr id="5" name="ZoneTexte 4">
            <a:extLst>
              <a:ext uri="{FF2B5EF4-FFF2-40B4-BE49-F238E27FC236}">
                <a16:creationId xmlns:a16="http://schemas.microsoft.com/office/drawing/2014/main" id="{C658B0B3-B428-BD1F-4751-15C6096CAE66}"/>
              </a:ext>
            </a:extLst>
          </p:cNvPr>
          <p:cNvSpPr txBox="1"/>
          <p:nvPr/>
        </p:nvSpPr>
        <p:spPr>
          <a:xfrm>
            <a:off x="76455" y="1693586"/>
            <a:ext cx="12402416" cy="5028556"/>
          </a:xfrm>
          <a:prstGeom prst="rect">
            <a:avLst/>
          </a:prstGeom>
          <a:noFill/>
        </p:spPr>
        <p:txBody>
          <a:bodyPr wrap="square" rtlCol="0">
            <a:spAutoFit/>
          </a:bodyPr>
          <a:lstStyle/>
          <a:p>
            <a:pPr marL="342900" indent="-342900">
              <a:lnSpc>
                <a:spcPct val="150000"/>
              </a:lnSpc>
              <a:buFont typeface="+mj-lt"/>
              <a:buAutoNum type="arabicPeriod"/>
            </a:pPr>
            <a:r>
              <a:rPr lang="fr-FR"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Microservices</a:t>
            </a:r>
          </a:p>
          <a:p>
            <a:pPr>
              <a:lnSpc>
                <a:spcPct val="150000"/>
              </a:lnSpc>
              <a:buFont typeface="Arial" panose="020B0604020202020204" pitchFamily="34" charset="0"/>
              <a:buChar char="•"/>
            </a:pPr>
            <a:r>
              <a:rPr lang="fr-FR"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Définition :</a:t>
            </a: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L'application est divisée en plusieurs services indépendants, chacun étant responsable d'une tâche ou d'un domaine fonctionnel précis (par exemple, gestion des utilisateurs, gestion des demandes).</a:t>
            </a:r>
          </a:p>
          <a:p>
            <a:pPr>
              <a:lnSpc>
                <a:spcPct val="150000"/>
              </a:lnSpc>
              <a:buFont typeface="Arial" panose="020B0604020202020204" pitchFamily="34" charset="0"/>
              <a:buChar char="•"/>
            </a:pPr>
            <a:r>
              <a:rPr lang="fr-FR"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Avantages :</a:t>
            </a:r>
            <a:endPar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Modularité : Chaque service peut être développé, testé, déployé, et mis à jour indépendamment.</a:t>
            </a:r>
          </a:p>
          <a:p>
            <a:pPr marL="742950" lvl="1" indent="-285750">
              <a:lnSpc>
                <a:spcPct val="150000"/>
              </a:lnSpc>
              <a:buFont typeface="Arial" panose="020B0604020202020204" pitchFamily="34" charset="0"/>
              <a:buChar char="•"/>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Résilience : Une panne dans un service n'affecte pas les autres.</a:t>
            </a:r>
          </a:p>
          <a:p>
            <a:pPr marL="742950" lvl="1" indent="-285750">
              <a:lnSpc>
                <a:spcPct val="150000"/>
              </a:lnSpc>
              <a:buFont typeface="Arial" panose="020B0604020202020204" pitchFamily="34" charset="0"/>
              <a:buChar char="•"/>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Scalabilité : Possibilité de dimensionner un service spécifique en fonction de sa charge.</a:t>
            </a:r>
          </a:p>
          <a:p>
            <a:pPr>
              <a:lnSpc>
                <a:spcPct val="150000"/>
              </a:lnSpc>
              <a:buFont typeface="Arial" panose="020B0604020202020204" pitchFamily="34" charset="0"/>
              <a:buChar char="•"/>
            </a:pPr>
            <a:r>
              <a:rPr lang="fr-FR"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Exemple dans le projet :</a:t>
            </a:r>
            <a:endPar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Service d'authentification : Utilise </a:t>
            </a:r>
            <a:r>
              <a:rPr lang="fr-FR" dirty="0" err="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Keycloak</a:t>
            </a: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pour la gestion des utilisateurs et des permissions.</a:t>
            </a:r>
          </a:p>
          <a:p>
            <a:pPr marL="742950" lvl="1" indent="-285750">
              <a:lnSpc>
                <a:spcPct val="150000"/>
              </a:lnSpc>
              <a:buFont typeface="Arial" panose="020B0604020202020204" pitchFamily="34" charset="0"/>
              <a:buChar char="•"/>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Service de gestion des demandes : Traite les opérations liées aux domiciliations.</a:t>
            </a:r>
          </a:p>
          <a:p>
            <a:pPr marL="742950" lvl="1" indent="-285750">
              <a:lnSpc>
                <a:spcPct val="150000"/>
              </a:lnSpc>
              <a:buFont typeface="Arial" panose="020B0604020202020204" pitchFamily="34" charset="0"/>
              <a:buChar char="•"/>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Service de référence : Fournit des données partagées, comme la liste des pays ou les configurations.</a:t>
            </a:r>
          </a:p>
          <a:p>
            <a:pPr>
              <a:lnSpc>
                <a:spcPct val="150000"/>
              </a:lnSpc>
            </a:pPr>
            <a:endPar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1906471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250" fill="hold"/>
                                        <p:tgtEl>
                                          <p:spTgt spid="14"/>
                                        </p:tgtEl>
                                        <p:attrNameLst>
                                          <p:attrName>ppt_x</p:attrName>
                                        </p:attrNameLst>
                                      </p:cBhvr>
                                      <p:tavLst>
                                        <p:tav tm="0">
                                          <p:val>
                                            <p:strVal val="0-#ppt_w/2"/>
                                          </p:val>
                                        </p:tav>
                                        <p:tav tm="100000">
                                          <p:val>
                                            <p:strVal val="#ppt_x"/>
                                          </p:val>
                                        </p:tav>
                                      </p:tavLst>
                                    </p:anim>
                                    <p:anim calcmode="lin" valueType="num">
                                      <p:cBhvr additive="base">
                                        <p:cTn id="8" dur="250" fill="hold"/>
                                        <p:tgtEl>
                                          <p:spTgt spid="14"/>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2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2" presetClass="entr" presetSubtype="8"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500" fill="hold"/>
                                        <p:tgtEl>
                                          <p:spTgt spid="15"/>
                                        </p:tgtEl>
                                        <p:attrNameLst>
                                          <p:attrName>ppt_x</p:attrName>
                                        </p:attrNameLst>
                                      </p:cBhvr>
                                      <p:tavLst>
                                        <p:tav tm="0">
                                          <p:val>
                                            <p:strVal val="0-#ppt_w/2"/>
                                          </p:val>
                                        </p:tav>
                                        <p:tav tm="100000">
                                          <p:val>
                                            <p:strVal val="#ppt_x"/>
                                          </p:val>
                                        </p:tav>
                                      </p:tavLst>
                                    </p:anim>
                                    <p:anim calcmode="lin" valueType="num">
                                      <p:cBhvr additive="base">
                                        <p:cTn id="15" dur="500" fill="hold"/>
                                        <p:tgtEl>
                                          <p:spTgt spid="15"/>
                                        </p:tgtEl>
                                        <p:attrNameLst>
                                          <p:attrName>ppt_y</p:attrName>
                                        </p:attrNameLst>
                                      </p:cBhvr>
                                      <p:tavLst>
                                        <p:tav tm="0">
                                          <p:val>
                                            <p:strVal val="#ppt_y"/>
                                          </p:val>
                                        </p:tav>
                                        <p:tav tm="100000">
                                          <p:val>
                                            <p:strVal val="#ppt_y"/>
                                          </p:val>
                                        </p:tav>
                                      </p:tavLst>
                                    </p:anim>
                                  </p:childTnLst>
                                </p:cTn>
                              </p:par>
                            </p:childTnLst>
                          </p:cTn>
                        </p:par>
                        <p:par>
                          <p:cTn id="16" fill="hold">
                            <p:stCondLst>
                              <p:cond delay="600"/>
                            </p:stCondLst>
                            <p:childTnLst>
                              <p:par>
                                <p:cTn id="17" presetID="10" presetClass="entr" presetSubtype="0" fill="hold" nodeType="after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Effect transition="in" filter="fade">
                                      <p:cBhvr>
                                        <p:cTn id="19" dur="500"/>
                                        <p:tgtEl>
                                          <p:spTgt spid="5">
                                            <p:txEl>
                                              <p:pRg st="0" end="0"/>
                                            </p:txEl>
                                          </p:spTgt>
                                        </p:tgtEl>
                                      </p:cBhvr>
                                    </p:animEffect>
                                  </p:childTnLst>
                                </p:cTn>
                              </p:par>
                            </p:childTnLst>
                          </p:cTn>
                        </p:par>
                        <p:par>
                          <p:cTn id="20" fill="hold">
                            <p:stCondLst>
                              <p:cond delay="1100"/>
                            </p:stCondLst>
                            <p:childTnLst>
                              <p:par>
                                <p:cTn id="21" presetID="10" presetClass="entr" presetSubtype="0" fill="hold" nodeType="after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animEffect transition="in" filter="fade">
                                      <p:cBhvr>
                                        <p:cTn id="23" dur="500"/>
                                        <p:tgtEl>
                                          <p:spTgt spid="5">
                                            <p:txEl>
                                              <p:pRg st="1" end="1"/>
                                            </p:txEl>
                                          </p:spTgt>
                                        </p:tgtEl>
                                      </p:cBhvr>
                                    </p:animEffect>
                                  </p:childTnLst>
                                </p:cTn>
                              </p:par>
                            </p:childTnLst>
                          </p:cTn>
                        </p:par>
                        <p:par>
                          <p:cTn id="24" fill="hold">
                            <p:stCondLst>
                              <p:cond delay="1600"/>
                            </p:stCondLst>
                            <p:childTnLst>
                              <p:par>
                                <p:cTn id="25" presetID="10" presetClass="entr" presetSubtype="0" fill="hold" nodeType="after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fade">
                                      <p:cBhvr>
                                        <p:cTn id="27" dur="500"/>
                                        <p:tgtEl>
                                          <p:spTgt spid="5">
                                            <p:txEl>
                                              <p:pRg st="2" end="2"/>
                                            </p:txEl>
                                          </p:spTgt>
                                        </p:tgtEl>
                                      </p:cBhvr>
                                    </p:animEffect>
                                  </p:childTnLst>
                                </p:cTn>
                              </p:par>
                            </p:childTnLst>
                          </p:cTn>
                        </p:par>
                        <p:par>
                          <p:cTn id="28" fill="hold">
                            <p:stCondLst>
                              <p:cond delay="2100"/>
                            </p:stCondLst>
                            <p:childTnLst>
                              <p:par>
                                <p:cTn id="29" presetID="10" presetClass="entr" presetSubtype="0" fill="hold" nodeType="after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animEffect transition="in" filter="fade">
                                      <p:cBhvr>
                                        <p:cTn id="31" dur="500"/>
                                        <p:tgtEl>
                                          <p:spTgt spid="5">
                                            <p:txEl>
                                              <p:pRg st="3" end="3"/>
                                            </p:txEl>
                                          </p:spTgt>
                                        </p:tgtEl>
                                      </p:cBhvr>
                                    </p:animEffect>
                                  </p:childTnLst>
                                </p:cTn>
                              </p:par>
                            </p:childTnLst>
                          </p:cTn>
                        </p:par>
                        <p:par>
                          <p:cTn id="32" fill="hold">
                            <p:stCondLst>
                              <p:cond delay="2600"/>
                            </p:stCondLst>
                            <p:childTnLst>
                              <p:par>
                                <p:cTn id="33" presetID="10" presetClass="entr" presetSubtype="0" fill="hold" nodeType="after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animEffect transition="in" filter="fade">
                                      <p:cBhvr>
                                        <p:cTn id="35" dur="500"/>
                                        <p:tgtEl>
                                          <p:spTgt spid="5">
                                            <p:txEl>
                                              <p:pRg st="4" end="4"/>
                                            </p:txEl>
                                          </p:spTgt>
                                        </p:tgtEl>
                                      </p:cBhvr>
                                    </p:animEffect>
                                  </p:childTnLst>
                                </p:cTn>
                              </p:par>
                            </p:childTnLst>
                          </p:cTn>
                        </p:par>
                        <p:par>
                          <p:cTn id="36" fill="hold">
                            <p:stCondLst>
                              <p:cond delay="3100"/>
                            </p:stCondLst>
                            <p:childTnLst>
                              <p:par>
                                <p:cTn id="37" presetID="10" presetClass="entr" presetSubtype="0" fill="hold" nodeType="afterEffect">
                                  <p:stCondLst>
                                    <p:cond delay="0"/>
                                  </p:stCondLst>
                                  <p:childTnLst>
                                    <p:set>
                                      <p:cBhvr>
                                        <p:cTn id="38" dur="1" fill="hold">
                                          <p:stCondLst>
                                            <p:cond delay="0"/>
                                          </p:stCondLst>
                                        </p:cTn>
                                        <p:tgtEl>
                                          <p:spTgt spid="5">
                                            <p:txEl>
                                              <p:pRg st="5" end="5"/>
                                            </p:txEl>
                                          </p:spTgt>
                                        </p:tgtEl>
                                        <p:attrNameLst>
                                          <p:attrName>style.visibility</p:attrName>
                                        </p:attrNameLst>
                                      </p:cBhvr>
                                      <p:to>
                                        <p:strVal val="visible"/>
                                      </p:to>
                                    </p:set>
                                    <p:animEffect transition="in" filter="fade">
                                      <p:cBhvr>
                                        <p:cTn id="39" dur="500"/>
                                        <p:tgtEl>
                                          <p:spTgt spid="5">
                                            <p:txEl>
                                              <p:pRg st="5" end="5"/>
                                            </p:txEl>
                                          </p:spTgt>
                                        </p:tgtEl>
                                      </p:cBhvr>
                                    </p:animEffect>
                                  </p:childTnLst>
                                </p:cTn>
                              </p:par>
                            </p:childTnLst>
                          </p:cTn>
                        </p:par>
                        <p:par>
                          <p:cTn id="40" fill="hold">
                            <p:stCondLst>
                              <p:cond delay="3600"/>
                            </p:stCondLst>
                            <p:childTnLst>
                              <p:par>
                                <p:cTn id="41" presetID="10" presetClass="entr" presetSubtype="0" fill="hold" nodeType="after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Effect transition="in" filter="fade">
                                      <p:cBhvr>
                                        <p:cTn id="43" dur="500"/>
                                        <p:tgtEl>
                                          <p:spTgt spid="5">
                                            <p:txEl>
                                              <p:pRg st="6" end="6"/>
                                            </p:txEl>
                                          </p:spTgt>
                                        </p:tgtEl>
                                      </p:cBhvr>
                                    </p:animEffect>
                                  </p:childTnLst>
                                </p:cTn>
                              </p:par>
                            </p:childTnLst>
                          </p:cTn>
                        </p:par>
                        <p:par>
                          <p:cTn id="44" fill="hold">
                            <p:stCondLst>
                              <p:cond delay="4100"/>
                            </p:stCondLst>
                            <p:childTnLst>
                              <p:par>
                                <p:cTn id="45" presetID="10" presetClass="entr" presetSubtype="0" fill="hold" nodeType="afterEffect">
                                  <p:stCondLst>
                                    <p:cond delay="0"/>
                                  </p:stCondLst>
                                  <p:childTnLst>
                                    <p:set>
                                      <p:cBhvr>
                                        <p:cTn id="46" dur="1" fill="hold">
                                          <p:stCondLst>
                                            <p:cond delay="0"/>
                                          </p:stCondLst>
                                        </p:cTn>
                                        <p:tgtEl>
                                          <p:spTgt spid="5">
                                            <p:txEl>
                                              <p:pRg st="7" end="7"/>
                                            </p:txEl>
                                          </p:spTgt>
                                        </p:tgtEl>
                                        <p:attrNameLst>
                                          <p:attrName>style.visibility</p:attrName>
                                        </p:attrNameLst>
                                      </p:cBhvr>
                                      <p:to>
                                        <p:strVal val="visible"/>
                                      </p:to>
                                    </p:set>
                                    <p:animEffect transition="in" filter="fade">
                                      <p:cBhvr>
                                        <p:cTn id="47" dur="500"/>
                                        <p:tgtEl>
                                          <p:spTgt spid="5">
                                            <p:txEl>
                                              <p:pRg st="7" end="7"/>
                                            </p:txEl>
                                          </p:spTgt>
                                        </p:tgtEl>
                                      </p:cBhvr>
                                    </p:animEffect>
                                  </p:childTnLst>
                                </p:cTn>
                              </p:par>
                            </p:childTnLst>
                          </p:cTn>
                        </p:par>
                        <p:par>
                          <p:cTn id="48" fill="hold">
                            <p:stCondLst>
                              <p:cond delay="4600"/>
                            </p:stCondLst>
                            <p:childTnLst>
                              <p:par>
                                <p:cTn id="49" presetID="10" presetClass="entr" presetSubtype="0" fill="hold" nodeType="afterEffect">
                                  <p:stCondLst>
                                    <p:cond delay="0"/>
                                  </p:stCondLst>
                                  <p:childTnLst>
                                    <p:set>
                                      <p:cBhvr>
                                        <p:cTn id="50" dur="1" fill="hold">
                                          <p:stCondLst>
                                            <p:cond delay="0"/>
                                          </p:stCondLst>
                                        </p:cTn>
                                        <p:tgtEl>
                                          <p:spTgt spid="5">
                                            <p:txEl>
                                              <p:pRg st="8" end="8"/>
                                            </p:txEl>
                                          </p:spTgt>
                                        </p:tgtEl>
                                        <p:attrNameLst>
                                          <p:attrName>style.visibility</p:attrName>
                                        </p:attrNameLst>
                                      </p:cBhvr>
                                      <p:to>
                                        <p:strVal val="visible"/>
                                      </p:to>
                                    </p:set>
                                    <p:animEffect transition="in" filter="fade">
                                      <p:cBhvr>
                                        <p:cTn id="51" dur="500"/>
                                        <p:tgtEl>
                                          <p:spTgt spid="5">
                                            <p:txEl>
                                              <p:pRg st="8" end="8"/>
                                            </p:txEl>
                                          </p:spTgt>
                                        </p:tgtEl>
                                      </p:cBhvr>
                                    </p:animEffect>
                                  </p:childTnLst>
                                </p:cTn>
                              </p:par>
                            </p:childTnLst>
                          </p:cTn>
                        </p:par>
                        <p:par>
                          <p:cTn id="52" fill="hold">
                            <p:stCondLst>
                              <p:cond delay="5100"/>
                            </p:stCondLst>
                            <p:childTnLst>
                              <p:par>
                                <p:cTn id="53" presetID="10" presetClass="entr" presetSubtype="0" fill="hold" nodeType="afterEffect">
                                  <p:stCondLst>
                                    <p:cond delay="0"/>
                                  </p:stCondLst>
                                  <p:childTnLst>
                                    <p:set>
                                      <p:cBhvr>
                                        <p:cTn id="54" dur="1" fill="hold">
                                          <p:stCondLst>
                                            <p:cond delay="0"/>
                                          </p:stCondLst>
                                        </p:cTn>
                                        <p:tgtEl>
                                          <p:spTgt spid="5">
                                            <p:txEl>
                                              <p:pRg st="9" end="9"/>
                                            </p:txEl>
                                          </p:spTgt>
                                        </p:tgtEl>
                                        <p:attrNameLst>
                                          <p:attrName>style.visibility</p:attrName>
                                        </p:attrNameLst>
                                      </p:cBhvr>
                                      <p:to>
                                        <p:strVal val="visible"/>
                                      </p:to>
                                    </p:set>
                                    <p:animEffect transition="in" filter="fade">
                                      <p:cBhvr>
                                        <p:cTn id="55"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418FE1BC-DF49-25C6-C279-425C9FD0944E}"/>
            </a:ext>
          </a:extLst>
        </p:cNvPr>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6E67A82E-3B7E-6BAC-06E2-2DFCBB4B035B}"/>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16BF09F9-BDED-6E9C-359B-D5C6A0D4772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Google Shape;273;p6">
            <a:extLst>
              <a:ext uri="{FF2B5EF4-FFF2-40B4-BE49-F238E27FC236}">
                <a16:creationId xmlns:a16="http://schemas.microsoft.com/office/drawing/2014/main" id="{5209E7FA-358B-D4D5-D80F-21E7344CFAF4}"/>
              </a:ext>
            </a:extLst>
          </p:cNvPr>
          <p:cNvSpPr txBox="1"/>
          <p:nvPr/>
        </p:nvSpPr>
        <p:spPr>
          <a:xfrm>
            <a:off x="11310470" y="6334820"/>
            <a:ext cx="598245"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14</a:t>
            </a:r>
            <a:endParaRPr sz="2800" b="1" dirty="0">
              <a:solidFill>
                <a:schemeClr val="lt1"/>
              </a:solidFill>
              <a:latin typeface="Arial"/>
              <a:ea typeface="Arial"/>
              <a:cs typeface="Arial"/>
              <a:sym typeface="Arial"/>
            </a:endParaRPr>
          </a:p>
        </p:txBody>
      </p:sp>
      <p:sp>
        <p:nvSpPr>
          <p:cNvPr id="13" name="TextBox 12">
            <a:extLst>
              <a:ext uri="{FF2B5EF4-FFF2-40B4-BE49-F238E27FC236}">
                <a16:creationId xmlns:a16="http://schemas.microsoft.com/office/drawing/2014/main" id="{2A3967D9-E250-59FA-AD35-2AD0609D73C7}"/>
              </a:ext>
            </a:extLst>
          </p:cNvPr>
          <p:cNvSpPr txBox="1"/>
          <p:nvPr/>
        </p:nvSpPr>
        <p:spPr>
          <a:xfrm>
            <a:off x="1330452" y="61014"/>
            <a:ext cx="5420703" cy="307777"/>
          </a:xfrm>
          <a:prstGeom prst="rect">
            <a:avLst/>
          </a:prstGeom>
          <a:noFill/>
        </p:spPr>
        <p:txBody>
          <a:bodyPr wrap="square" lIns="0" tIns="0" rIns="0" bIns="0" numCol="1" rtlCol="0">
            <a:spAutoFit/>
          </a:bodyPr>
          <a:lstStyle/>
          <a:p>
            <a:r>
              <a:rPr lang="fr-FR" sz="2000" b="1" i="1" dirty="0">
                <a:solidFill>
                  <a:srgbClr val="77CE61"/>
                </a:solidFill>
                <a:effectLst>
                  <a:outerShdw blurRad="38100" dist="38100" dir="2700000" algn="tl">
                    <a:srgbClr val="000000">
                      <a:alpha val="43137"/>
                    </a:srgbClr>
                  </a:outerShdw>
                </a:effectLst>
                <a:latin typeface="Roboto" pitchFamily="2" charset="0"/>
                <a:ea typeface="Roboto" pitchFamily="2" charset="0"/>
              </a:rPr>
              <a:t>Etude conceptuelle</a:t>
            </a:r>
          </a:p>
        </p:txBody>
      </p:sp>
      <p:sp>
        <p:nvSpPr>
          <p:cNvPr id="14" name="ZoneTexte 10">
            <a:extLst>
              <a:ext uri="{FF2B5EF4-FFF2-40B4-BE49-F238E27FC236}">
                <a16:creationId xmlns:a16="http://schemas.microsoft.com/office/drawing/2014/main" id="{4C5085BE-EDD9-C5E3-2FEB-4C0688A0C1F5}"/>
              </a:ext>
            </a:extLst>
          </p:cNvPr>
          <p:cNvSpPr txBox="1"/>
          <p:nvPr/>
        </p:nvSpPr>
        <p:spPr>
          <a:xfrm>
            <a:off x="0" y="-203200"/>
            <a:ext cx="2038470" cy="1446550"/>
          </a:xfrm>
          <a:prstGeom prst="rect">
            <a:avLst/>
          </a:prstGeom>
          <a:noFill/>
        </p:spPr>
        <p:txBody>
          <a:bodyPr wrap="square">
            <a:spAutoFit/>
          </a:bodyPr>
          <a:lstStyle/>
          <a:p>
            <a:r>
              <a:rPr lang="en-US" sz="8800" dirty="0">
                <a:ln w="15875">
                  <a:solidFill>
                    <a:schemeClr val="bg1"/>
                  </a:solidFill>
                </a:ln>
                <a:noFill/>
                <a:latin typeface="Archivo Black" panose="020B0A03020202020B04" pitchFamily="34" charset="0"/>
              </a:rPr>
              <a:t>04</a:t>
            </a:r>
            <a:endParaRPr lang="en-US" sz="23900" dirty="0"/>
          </a:p>
        </p:txBody>
      </p:sp>
      <p:sp>
        <p:nvSpPr>
          <p:cNvPr id="15" name="Rectangle 14">
            <a:extLst>
              <a:ext uri="{FF2B5EF4-FFF2-40B4-BE49-F238E27FC236}">
                <a16:creationId xmlns:a16="http://schemas.microsoft.com/office/drawing/2014/main" id="{46134989-155A-D871-3AED-72C89001FA58}"/>
              </a:ext>
            </a:extLst>
          </p:cNvPr>
          <p:cNvSpPr/>
          <p:nvPr/>
        </p:nvSpPr>
        <p:spPr>
          <a:xfrm>
            <a:off x="1228135" y="57371"/>
            <a:ext cx="45719" cy="925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2" name="ZoneTexte 1">
            <a:extLst>
              <a:ext uri="{FF2B5EF4-FFF2-40B4-BE49-F238E27FC236}">
                <a16:creationId xmlns:a16="http://schemas.microsoft.com/office/drawing/2014/main" id="{7551C899-35DF-0FB6-BADF-58100B0F9D40}"/>
              </a:ext>
            </a:extLst>
          </p:cNvPr>
          <p:cNvSpPr txBox="1"/>
          <p:nvPr/>
        </p:nvSpPr>
        <p:spPr>
          <a:xfrm>
            <a:off x="4040803" y="595004"/>
            <a:ext cx="4264101" cy="584775"/>
          </a:xfrm>
          <a:prstGeom prst="rect">
            <a:avLst/>
          </a:prstGeom>
          <a:noFill/>
        </p:spPr>
        <p:txBody>
          <a:bodyPr wrap="square" rtlCol="0">
            <a:spAutoFit/>
          </a:bodyPr>
          <a:lstStyle/>
          <a:p>
            <a:pPr algn="ctr"/>
            <a:r>
              <a:rPr lang="fr-FR" sz="3200" b="1" i="1" dirty="0">
                <a:solidFill>
                  <a:schemeClr val="bg1"/>
                </a:solidFill>
                <a:latin typeface="Times New Roman" panose="02020603050405020304" pitchFamily="18" charset="0"/>
                <a:cs typeface="Times New Roman" panose="02020603050405020304" pitchFamily="18" charset="0"/>
              </a:rPr>
              <a:t>Architecture Technique</a:t>
            </a:r>
          </a:p>
        </p:txBody>
      </p:sp>
      <p:sp>
        <p:nvSpPr>
          <p:cNvPr id="5" name="ZoneTexte 4">
            <a:extLst>
              <a:ext uri="{FF2B5EF4-FFF2-40B4-BE49-F238E27FC236}">
                <a16:creationId xmlns:a16="http://schemas.microsoft.com/office/drawing/2014/main" id="{8414C40C-B664-9FC1-C826-FCCF7D958457}"/>
              </a:ext>
            </a:extLst>
          </p:cNvPr>
          <p:cNvSpPr txBox="1"/>
          <p:nvPr/>
        </p:nvSpPr>
        <p:spPr>
          <a:xfrm>
            <a:off x="187332" y="1503921"/>
            <a:ext cx="6403039" cy="4613058"/>
          </a:xfrm>
          <a:prstGeom prst="rect">
            <a:avLst/>
          </a:prstGeom>
          <a:noFill/>
        </p:spPr>
        <p:txBody>
          <a:bodyPr wrap="square" rtlCol="0">
            <a:spAutoFit/>
          </a:bodyPr>
          <a:lstStyle/>
          <a:p>
            <a:pPr marL="342900" indent="-342900">
              <a:lnSpc>
                <a:spcPct val="150000"/>
              </a:lnSpc>
              <a:buFont typeface="+mj-lt"/>
              <a:buAutoNum type="arabicPeriod" startAt="2"/>
            </a:pPr>
            <a:r>
              <a:rPr lang="fr-FR"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Modèle MVC (Model-View-Controller)</a:t>
            </a:r>
          </a:p>
          <a:p>
            <a:pPr>
              <a:lnSpc>
                <a:spcPct val="150000"/>
              </a:lnSpc>
              <a:buFont typeface="Arial" panose="020B0604020202020204" pitchFamily="34" charset="0"/>
              <a:buChar char="•"/>
            </a:pPr>
            <a:r>
              <a:rPr lang="fr-FR"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Avantages :</a:t>
            </a:r>
            <a:endPar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Séparation des responsabilités, facilitant la maintenance et les évolutions.</a:t>
            </a:r>
          </a:p>
          <a:p>
            <a:pPr marL="742950" lvl="1" indent="-285750">
              <a:lnSpc>
                <a:spcPct val="150000"/>
              </a:lnSpc>
              <a:buFont typeface="Arial" panose="020B0604020202020204" pitchFamily="34" charset="0"/>
              <a:buChar char="•"/>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Réutilisation du code entre différentes parties de l'application.</a:t>
            </a:r>
          </a:p>
          <a:p>
            <a:pPr>
              <a:lnSpc>
                <a:spcPct val="150000"/>
              </a:lnSpc>
              <a:buFont typeface="Arial" panose="020B0604020202020204" pitchFamily="34" charset="0"/>
              <a:buChar char="•"/>
            </a:pPr>
            <a:r>
              <a:rPr lang="fr-FR"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Exemple dans le projet :</a:t>
            </a:r>
            <a:endPar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Vue : Interface Angular pour les formulaires et les tableaux.</a:t>
            </a:r>
          </a:p>
          <a:p>
            <a:pPr marL="742950" lvl="1" indent="-285750">
              <a:lnSpc>
                <a:spcPct val="150000"/>
              </a:lnSpc>
              <a:buFont typeface="Arial" panose="020B0604020202020204" pitchFamily="34" charset="0"/>
              <a:buChar char="•"/>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Contrôleur : Services REST exposés par Spring Boot.</a:t>
            </a:r>
          </a:p>
          <a:p>
            <a:pPr marL="742950" lvl="1" indent="-285750">
              <a:lnSpc>
                <a:spcPct val="150000"/>
              </a:lnSpc>
              <a:buFont typeface="Arial" panose="020B0604020202020204" pitchFamily="34" charset="0"/>
              <a:buChar char="•"/>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Modèle : Entités JPA (Java </a:t>
            </a:r>
            <a:r>
              <a:rPr lang="fr-FR" dirty="0" err="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Persistence</a:t>
            </a: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API) pour interagir avec la base de données Oracle.</a:t>
            </a:r>
          </a:p>
        </p:txBody>
      </p:sp>
      <p:pic>
        <p:nvPicPr>
          <p:cNvPr id="9" name="Image 8">
            <a:extLst>
              <a:ext uri="{FF2B5EF4-FFF2-40B4-BE49-F238E27FC236}">
                <a16:creationId xmlns:a16="http://schemas.microsoft.com/office/drawing/2014/main" id="{4D2C241B-C612-8509-2D96-3FF592166DB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51155" y="1898435"/>
            <a:ext cx="5253513" cy="4218544"/>
          </a:xfrm>
          <a:prstGeom prst="rect">
            <a:avLst/>
          </a:prstGeom>
        </p:spPr>
      </p:pic>
    </p:spTree>
    <p:custDataLst>
      <p:tags r:id="rId1"/>
    </p:custDataLst>
    <p:extLst>
      <p:ext uri="{BB962C8B-B14F-4D97-AF65-F5344CB8AC3E}">
        <p14:creationId xmlns:p14="http://schemas.microsoft.com/office/powerpoint/2010/main" val="1539453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250" fill="hold"/>
                                        <p:tgtEl>
                                          <p:spTgt spid="14"/>
                                        </p:tgtEl>
                                        <p:attrNameLst>
                                          <p:attrName>ppt_x</p:attrName>
                                        </p:attrNameLst>
                                      </p:cBhvr>
                                      <p:tavLst>
                                        <p:tav tm="0">
                                          <p:val>
                                            <p:strVal val="0-#ppt_w/2"/>
                                          </p:val>
                                        </p:tav>
                                        <p:tav tm="100000">
                                          <p:val>
                                            <p:strVal val="#ppt_x"/>
                                          </p:val>
                                        </p:tav>
                                      </p:tavLst>
                                    </p:anim>
                                    <p:anim calcmode="lin" valueType="num">
                                      <p:cBhvr additive="base">
                                        <p:cTn id="8" dur="250" fill="hold"/>
                                        <p:tgtEl>
                                          <p:spTgt spid="14"/>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2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2" presetClass="entr" presetSubtype="8"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500" fill="hold"/>
                                        <p:tgtEl>
                                          <p:spTgt spid="15"/>
                                        </p:tgtEl>
                                        <p:attrNameLst>
                                          <p:attrName>ppt_x</p:attrName>
                                        </p:attrNameLst>
                                      </p:cBhvr>
                                      <p:tavLst>
                                        <p:tav tm="0">
                                          <p:val>
                                            <p:strVal val="0-#ppt_w/2"/>
                                          </p:val>
                                        </p:tav>
                                        <p:tav tm="100000">
                                          <p:val>
                                            <p:strVal val="#ppt_x"/>
                                          </p:val>
                                        </p:tav>
                                      </p:tavLst>
                                    </p:anim>
                                    <p:anim calcmode="lin" valueType="num">
                                      <p:cBhvr additive="base">
                                        <p:cTn id="15" dur="500" fill="hold"/>
                                        <p:tgtEl>
                                          <p:spTgt spid="15"/>
                                        </p:tgtEl>
                                        <p:attrNameLst>
                                          <p:attrName>ppt_y</p:attrName>
                                        </p:attrNameLst>
                                      </p:cBhvr>
                                      <p:tavLst>
                                        <p:tav tm="0">
                                          <p:val>
                                            <p:strVal val="#ppt_y"/>
                                          </p:val>
                                        </p:tav>
                                        <p:tav tm="100000">
                                          <p:val>
                                            <p:strVal val="#ppt_y"/>
                                          </p:val>
                                        </p:tav>
                                      </p:tavLst>
                                    </p:anim>
                                  </p:childTnLst>
                                </p:cTn>
                              </p:par>
                            </p:childTnLst>
                          </p:cTn>
                        </p:par>
                        <p:par>
                          <p:cTn id="16" fill="hold">
                            <p:stCondLst>
                              <p:cond delay="600"/>
                            </p:stCondLst>
                            <p:childTnLst>
                              <p:par>
                                <p:cTn id="17" presetID="10" presetClass="entr" presetSubtype="0" fill="hold" nodeType="afterEffect">
                                  <p:stCondLst>
                                    <p:cond delay="5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1600"/>
                            </p:stCondLst>
                            <p:childTnLst>
                              <p:par>
                                <p:cTn id="21" presetID="10" presetClass="entr" presetSubtype="0" fill="hold" nodeType="after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animEffect transition="in" filter="fade">
                                      <p:cBhvr>
                                        <p:cTn id="23" dur="500"/>
                                        <p:tgtEl>
                                          <p:spTgt spid="5">
                                            <p:txEl>
                                              <p:pRg st="0" end="0"/>
                                            </p:txEl>
                                          </p:spTgt>
                                        </p:tgtEl>
                                      </p:cBhvr>
                                    </p:animEffect>
                                  </p:childTnLst>
                                </p:cTn>
                              </p:par>
                            </p:childTnLst>
                          </p:cTn>
                        </p:par>
                        <p:par>
                          <p:cTn id="24" fill="hold">
                            <p:stCondLst>
                              <p:cond delay="2100"/>
                            </p:stCondLst>
                            <p:childTnLst>
                              <p:par>
                                <p:cTn id="25" presetID="10" presetClass="entr" presetSubtype="0" fill="hold" nodeType="after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animEffect transition="in" filter="fade">
                                      <p:cBhvr>
                                        <p:cTn id="27" dur="500"/>
                                        <p:tgtEl>
                                          <p:spTgt spid="5">
                                            <p:txEl>
                                              <p:pRg st="1" end="1"/>
                                            </p:txEl>
                                          </p:spTgt>
                                        </p:tgtEl>
                                      </p:cBhvr>
                                    </p:animEffect>
                                  </p:childTnLst>
                                </p:cTn>
                              </p:par>
                            </p:childTnLst>
                          </p:cTn>
                        </p:par>
                        <p:par>
                          <p:cTn id="28" fill="hold">
                            <p:stCondLst>
                              <p:cond delay="2600"/>
                            </p:stCondLst>
                            <p:childTnLst>
                              <p:par>
                                <p:cTn id="29" presetID="10" presetClass="entr" presetSubtype="0" fill="hold" nodeType="after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animEffect transition="in" filter="fade">
                                      <p:cBhvr>
                                        <p:cTn id="31" dur="500"/>
                                        <p:tgtEl>
                                          <p:spTgt spid="5">
                                            <p:txEl>
                                              <p:pRg st="2" end="2"/>
                                            </p:txEl>
                                          </p:spTgt>
                                        </p:tgtEl>
                                      </p:cBhvr>
                                    </p:animEffect>
                                  </p:childTnLst>
                                </p:cTn>
                              </p:par>
                            </p:childTnLst>
                          </p:cTn>
                        </p:par>
                        <p:par>
                          <p:cTn id="32" fill="hold">
                            <p:stCondLst>
                              <p:cond delay="3100"/>
                            </p:stCondLst>
                            <p:childTnLst>
                              <p:par>
                                <p:cTn id="33" presetID="10" presetClass="entr" presetSubtype="0" fill="hold" nodeType="after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animEffect transition="in" filter="fade">
                                      <p:cBhvr>
                                        <p:cTn id="35" dur="500"/>
                                        <p:tgtEl>
                                          <p:spTgt spid="5">
                                            <p:txEl>
                                              <p:pRg st="3" end="3"/>
                                            </p:txEl>
                                          </p:spTgt>
                                        </p:tgtEl>
                                      </p:cBhvr>
                                    </p:animEffect>
                                  </p:childTnLst>
                                </p:cTn>
                              </p:par>
                            </p:childTnLst>
                          </p:cTn>
                        </p:par>
                        <p:par>
                          <p:cTn id="36" fill="hold">
                            <p:stCondLst>
                              <p:cond delay="3600"/>
                            </p:stCondLst>
                            <p:childTnLst>
                              <p:par>
                                <p:cTn id="37" presetID="10" presetClass="entr" presetSubtype="0" fill="hold" nodeType="afterEffect">
                                  <p:stCondLst>
                                    <p:cond delay="0"/>
                                  </p:stCondLst>
                                  <p:childTnLst>
                                    <p:set>
                                      <p:cBhvr>
                                        <p:cTn id="38" dur="1" fill="hold">
                                          <p:stCondLst>
                                            <p:cond delay="0"/>
                                          </p:stCondLst>
                                        </p:cTn>
                                        <p:tgtEl>
                                          <p:spTgt spid="5">
                                            <p:txEl>
                                              <p:pRg st="4" end="4"/>
                                            </p:txEl>
                                          </p:spTgt>
                                        </p:tgtEl>
                                        <p:attrNameLst>
                                          <p:attrName>style.visibility</p:attrName>
                                        </p:attrNameLst>
                                      </p:cBhvr>
                                      <p:to>
                                        <p:strVal val="visible"/>
                                      </p:to>
                                    </p:set>
                                    <p:animEffect transition="in" filter="fade">
                                      <p:cBhvr>
                                        <p:cTn id="39" dur="500"/>
                                        <p:tgtEl>
                                          <p:spTgt spid="5">
                                            <p:txEl>
                                              <p:pRg st="4" end="4"/>
                                            </p:txEl>
                                          </p:spTgt>
                                        </p:tgtEl>
                                      </p:cBhvr>
                                    </p:animEffect>
                                  </p:childTnLst>
                                </p:cTn>
                              </p:par>
                            </p:childTnLst>
                          </p:cTn>
                        </p:par>
                        <p:par>
                          <p:cTn id="40" fill="hold">
                            <p:stCondLst>
                              <p:cond delay="4100"/>
                            </p:stCondLst>
                            <p:childTnLst>
                              <p:par>
                                <p:cTn id="41" presetID="10" presetClass="entr" presetSubtype="0" fill="hold" nodeType="afterEffect">
                                  <p:stCondLst>
                                    <p:cond delay="0"/>
                                  </p:stCondLst>
                                  <p:childTnLst>
                                    <p:set>
                                      <p:cBhvr>
                                        <p:cTn id="42" dur="1" fill="hold">
                                          <p:stCondLst>
                                            <p:cond delay="0"/>
                                          </p:stCondLst>
                                        </p:cTn>
                                        <p:tgtEl>
                                          <p:spTgt spid="5">
                                            <p:txEl>
                                              <p:pRg st="5" end="5"/>
                                            </p:txEl>
                                          </p:spTgt>
                                        </p:tgtEl>
                                        <p:attrNameLst>
                                          <p:attrName>style.visibility</p:attrName>
                                        </p:attrNameLst>
                                      </p:cBhvr>
                                      <p:to>
                                        <p:strVal val="visible"/>
                                      </p:to>
                                    </p:set>
                                    <p:animEffect transition="in" filter="fade">
                                      <p:cBhvr>
                                        <p:cTn id="43" dur="500"/>
                                        <p:tgtEl>
                                          <p:spTgt spid="5">
                                            <p:txEl>
                                              <p:pRg st="5" end="5"/>
                                            </p:txEl>
                                          </p:spTgt>
                                        </p:tgtEl>
                                      </p:cBhvr>
                                    </p:animEffect>
                                  </p:childTnLst>
                                </p:cTn>
                              </p:par>
                            </p:childTnLst>
                          </p:cTn>
                        </p:par>
                        <p:par>
                          <p:cTn id="44" fill="hold">
                            <p:stCondLst>
                              <p:cond delay="4600"/>
                            </p:stCondLst>
                            <p:childTnLst>
                              <p:par>
                                <p:cTn id="45" presetID="10" presetClass="entr" presetSubtype="0" fill="hold" nodeType="afterEffect">
                                  <p:stCondLst>
                                    <p:cond delay="0"/>
                                  </p:stCondLst>
                                  <p:childTnLst>
                                    <p:set>
                                      <p:cBhvr>
                                        <p:cTn id="46" dur="1" fill="hold">
                                          <p:stCondLst>
                                            <p:cond delay="0"/>
                                          </p:stCondLst>
                                        </p:cTn>
                                        <p:tgtEl>
                                          <p:spTgt spid="5">
                                            <p:txEl>
                                              <p:pRg st="6" end="6"/>
                                            </p:txEl>
                                          </p:spTgt>
                                        </p:tgtEl>
                                        <p:attrNameLst>
                                          <p:attrName>style.visibility</p:attrName>
                                        </p:attrNameLst>
                                      </p:cBhvr>
                                      <p:to>
                                        <p:strVal val="visible"/>
                                      </p:to>
                                    </p:set>
                                    <p:animEffect transition="in" filter="fade">
                                      <p:cBhvr>
                                        <p:cTn id="47" dur="500"/>
                                        <p:tgtEl>
                                          <p:spTgt spid="5">
                                            <p:txEl>
                                              <p:pRg st="6" end="6"/>
                                            </p:txEl>
                                          </p:spTgt>
                                        </p:tgtEl>
                                      </p:cBhvr>
                                    </p:animEffect>
                                  </p:childTnLst>
                                </p:cTn>
                              </p:par>
                            </p:childTnLst>
                          </p:cTn>
                        </p:par>
                        <p:par>
                          <p:cTn id="48" fill="hold">
                            <p:stCondLst>
                              <p:cond delay="5100"/>
                            </p:stCondLst>
                            <p:childTnLst>
                              <p:par>
                                <p:cTn id="49" presetID="10" presetClass="entr" presetSubtype="0" fill="hold" nodeType="afterEffect">
                                  <p:stCondLst>
                                    <p:cond delay="0"/>
                                  </p:stCondLst>
                                  <p:childTnLst>
                                    <p:set>
                                      <p:cBhvr>
                                        <p:cTn id="50" dur="1" fill="hold">
                                          <p:stCondLst>
                                            <p:cond delay="0"/>
                                          </p:stCondLst>
                                        </p:cTn>
                                        <p:tgtEl>
                                          <p:spTgt spid="5">
                                            <p:txEl>
                                              <p:pRg st="7" end="7"/>
                                            </p:txEl>
                                          </p:spTgt>
                                        </p:tgtEl>
                                        <p:attrNameLst>
                                          <p:attrName>style.visibility</p:attrName>
                                        </p:attrNameLst>
                                      </p:cBhvr>
                                      <p:to>
                                        <p:strVal val="visible"/>
                                      </p:to>
                                    </p:set>
                                    <p:animEffect transition="in" filter="fade">
                                      <p:cBhvr>
                                        <p:cTn id="51"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18B07EE-A45E-4446-A223-5B883B13E13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Google Shape;273;p6">
            <a:extLst>
              <a:ext uri="{FF2B5EF4-FFF2-40B4-BE49-F238E27FC236}">
                <a16:creationId xmlns:a16="http://schemas.microsoft.com/office/drawing/2014/main" id="{3B7D7F43-B459-4F35-A869-8F2C640AE8D0}"/>
              </a:ext>
            </a:extLst>
          </p:cNvPr>
          <p:cNvSpPr txBox="1"/>
          <p:nvPr/>
        </p:nvSpPr>
        <p:spPr>
          <a:xfrm>
            <a:off x="11310470" y="6334820"/>
            <a:ext cx="598245"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15</a:t>
            </a:r>
            <a:endParaRPr sz="2800" b="1" dirty="0">
              <a:solidFill>
                <a:schemeClr val="lt1"/>
              </a:solidFill>
              <a:latin typeface="Arial"/>
              <a:ea typeface="Arial"/>
              <a:cs typeface="Arial"/>
              <a:sym typeface="Arial"/>
            </a:endParaRPr>
          </a:p>
        </p:txBody>
      </p:sp>
      <p:sp>
        <p:nvSpPr>
          <p:cNvPr id="13" name="TextBox 12">
            <a:extLst>
              <a:ext uri="{FF2B5EF4-FFF2-40B4-BE49-F238E27FC236}">
                <a16:creationId xmlns:a16="http://schemas.microsoft.com/office/drawing/2014/main" id="{0C91BD97-FBCC-4649-AAA5-2D58E0B900DB}"/>
              </a:ext>
            </a:extLst>
          </p:cNvPr>
          <p:cNvSpPr txBox="1"/>
          <p:nvPr/>
        </p:nvSpPr>
        <p:spPr>
          <a:xfrm>
            <a:off x="1330452" y="61014"/>
            <a:ext cx="5420703" cy="307777"/>
          </a:xfrm>
          <a:prstGeom prst="rect">
            <a:avLst/>
          </a:prstGeom>
          <a:noFill/>
        </p:spPr>
        <p:txBody>
          <a:bodyPr wrap="square" lIns="0" tIns="0" rIns="0" bIns="0" numCol="1" rtlCol="0">
            <a:spAutoFit/>
          </a:bodyPr>
          <a:lstStyle/>
          <a:p>
            <a:r>
              <a:rPr lang="fr-FR" sz="2000" b="1" i="1" dirty="0">
                <a:solidFill>
                  <a:srgbClr val="77CE61"/>
                </a:solidFill>
                <a:effectLst>
                  <a:outerShdw blurRad="38100" dist="38100" dir="2700000" algn="tl">
                    <a:srgbClr val="000000">
                      <a:alpha val="43137"/>
                    </a:srgbClr>
                  </a:outerShdw>
                </a:effectLst>
                <a:latin typeface="Roboto" pitchFamily="2" charset="0"/>
                <a:ea typeface="Roboto" pitchFamily="2" charset="0"/>
              </a:rPr>
              <a:t>Etude conceptuelle</a:t>
            </a:r>
          </a:p>
        </p:txBody>
      </p:sp>
      <p:sp>
        <p:nvSpPr>
          <p:cNvPr id="14" name="ZoneTexte 10">
            <a:extLst>
              <a:ext uri="{FF2B5EF4-FFF2-40B4-BE49-F238E27FC236}">
                <a16:creationId xmlns:a16="http://schemas.microsoft.com/office/drawing/2014/main" id="{358EC486-1089-4C6B-BE33-49591C568707}"/>
              </a:ext>
            </a:extLst>
          </p:cNvPr>
          <p:cNvSpPr txBox="1"/>
          <p:nvPr/>
        </p:nvSpPr>
        <p:spPr>
          <a:xfrm>
            <a:off x="0" y="-203200"/>
            <a:ext cx="2038470" cy="1446550"/>
          </a:xfrm>
          <a:prstGeom prst="rect">
            <a:avLst/>
          </a:prstGeom>
          <a:noFill/>
        </p:spPr>
        <p:txBody>
          <a:bodyPr wrap="square">
            <a:spAutoFit/>
          </a:bodyPr>
          <a:lstStyle/>
          <a:p>
            <a:r>
              <a:rPr lang="en-US" sz="8800" dirty="0">
                <a:ln w="15875">
                  <a:solidFill>
                    <a:schemeClr val="bg1"/>
                  </a:solidFill>
                </a:ln>
                <a:noFill/>
                <a:latin typeface="Archivo Black" panose="020B0A03020202020B04" pitchFamily="34" charset="0"/>
              </a:rPr>
              <a:t>04</a:t>
            </a:r>
            <a:endParaRPr lang="en-US" sz="23900" dirty="0"/>
          </a:p>
        </p:txBody>
      </p:sp>
      <p:sp>
        <p:nvSpPr>
          <p:cNvPr id="15" name="Rectangle 14">
            <a:extLst>
              <a:ext uri="{FF2B5EF4-FFF2-40B4-BE49-F238E27FC236}">
                <a16:creationId xmlns:a16="http://schemas.microsoft.com/office/drawing/2014/main" id="{3C1D1C48-3D34-48B3-9F0C-4EBD17A43BB1}"/>
              </a:ext>
            </a:extLst>
          </p:cNvPr>
          <p:cNvSpPr/>
          <p:nvPr/>
        </p:nvSpPr>
        <p:spPr>
          <a:xfrm>
            <a:off x="1228135" y="57371"/>
            <a:ext cx="45719" cy="925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2" name="TextBox 1">
            <a:extLst>
              <a:ext uri="{FF2B5EF4-FFF2-40B4-BE49-F238E27FC236}">
                <a16:creationId xmlns:a16="http://schemas.microsoft.com/office/drawing/2014/main" id="{23A54725-16BD-472E-BB81-0044FDD491F0}"/>
              </a:ext>
            </a:extLst>
          </p:cNvPr>
          <p:cNvSpPr txBox="1"/>
          <p:nvPr/>
        </p:nvSpPr>
        <p:spPr>
          <a:xfrm>
            <a:off x="3266605" y="488567"/>
            <a:ext cx="6196405" cy="584775"/>
          </a:xfrm>
          <a:prstGeom prst="rect">
            <a:avLst/>
          </a:prstGeom>
          <a:noFill/>
        </p:spPr>
        <p:txBody>
          <a:bodyPr wrap="square" rtlCol="0">
            <a:spAutoFit/>
          </a:bodyPr>
          <a:lstStyle/>
          <a:p>
            <a:pPr algn="ctr"/>
            <a:r>
              <a:rPr lang="fr-FR" sz="3200" b="1" i="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Diagrammes Clés</a:t>
            </a:r>
          </a:p>
        </p:txBody>
      </p:sp>
      <p:pic>
        <p:nvPicPr>
          <p:cNvPr id="5" name="Image 4">
            <a:extLst>
              <a:ext uri="{FF2B5EF4-FFF2-40B4-BE49-F238E27FC236}">
                <a16:creationId xmlns:a16="http://schemas.microsoft.com/office/drawing/2014/main" id="{9274F710-CDBD-D07D-DD2A-66A12069711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52507" y="1773966"/>
            <a:ext cx="6886985" cy="4878068"/>
          </a:xfrm>
          <a:prstGeom prst="rect">
            <a:avLst/>
          </a:prstGeom>
        </p:spPr>
      </p:pic>
      <p:sp>
        <p:nvSpPr>
          <p:cNvPr id="7" name="ZoneTexte 6">
            <a:extLst>
              <a:ext uri="{FF2B5EF4-FFF2-40B4-BE49-F238E27FC236}">
                <a16:creationId xmlns:a16="http://schemas.microsoft.com/office/drawing/2014/main" id="{C0C80C66-DD43-B5E0-B90A-9AA957AB8426}"/>
              </a:ext>
            </a:extLst>
          </p:cNvPr>
          <p:cNvSpPr txBox="1"/>
          <p:nvPr/>
        </p:nvSpPr>
        <p:spPr>
          <a:xfrm>
            <a:off x="623943" y="1230781"/>
            <a:ext cx="2183803" cy="369332"/>
          </a:xfrm>
          <a:prstGeom prst="rect">
            <a:avLst/>
          </a:prstGeom>
          <a:noFill/>
        </p:spPr>
        <p:txBody>
          <a:bodyPr wrap="square" rtlCol="0">
            <a:spAutoFit/>
          </a:bodyPr>
          <a:lstStyle/>
          <a:p>
            <a:pPr marL="342900" indent="-342900">
              <a:buFont typeface="+mj-lt"/>
              <a:buAutoNum type="arabicPeriod"/>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Cas d’utilisation</a:t>
            </a:r>
          </a:p>
        </p:txBody>
      </p:sp>
    </p:spTree>
    <p:custDataLst>
      <p:tags r:id="rId1"/>
    </p:custDataLst>
    <p:extLst>
      <p:ext uri="{BB962C8B-B14F-4D97-AF65-F5344CB8AC3E}">
        <p14:creationId xmlns:p14="http://schemas.microsoft.com/office/powerpoint/2010/main" val="645260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250" fill="hold"/>
                                        <p:tgtEl>
                                          <p:spTgt spid="14"/>
                                        </p:tgtEl>
                                        <p:attrNameLst>
                                          <p:attrName>ppt_x</p:attrName>
                                        </p:attrNameLst>
                                      </p:cBhvr>
                                      <p:tavLst>
                                        <p:tav tm="0">
                                          <p:val>
                                            <p:strVal val="0-#ppt_w/2"/>
                                          </p:val>
                                        </p:tav>
                                        <p:tav tm="100000">
                                          <p:val>
                                            <p:strVal val="#ppt_x"/>
                                          </p:val>
                                        </p:tav>
                                      </p:tavLst>
                                    </p:anim>
                                    <p:anim calcmode="lin" valueType="num">
                                      <p:cBhvr additive="base">
                                        <p:cTn id="8" dur="250" fill="hold"/>
                                        <p:tgtEl>
                                          <p:spTgt spid="14"/>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2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2" presetClass="entr" presetSubtype="8"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500" fill="hold"/>
                                        <p:tgtEl>
                                          <p:spTgt spid="15"/>
                                        </p:tgtEl>
                                        <p:attrNameLst>
                                          <p:attrName>ppt_x</p:attrName>
                                        </p:attrNameLst>
                                      </p:cBhvr>
                                      <p:tavLst>
                                        <p:tav tm="0">
                                          <p:val>
                                            <p:strVal val="0-#ppt_w/2"/>
                                          </p:val>
                                        </p:tav>
                                        <p:tav tm="100000">
                                          <p:val>
                                            <p:strVal val="#ppt_x"/>
                                          </p:val>
                                        </p:tav>
                                      </p:tavLst>
                                    </p:anim>
                                    <p:anim calcmode="lin" valueType="num">
                                      <p:cBhvr additive="base">
                                        <p:cTn id="15"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18B07EE-A45E-4446-A223-5B883B13E13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Google Shape;273;p6">
            <a:extLst>
              <a:ext uri="{FF2B5EF4-FFF2-40B4-BE49-F238E27FC236}">
                <a16:creationId xmlns:a16="http://schemas.microsoft.com/office/drawing/2014/main" id="{3B7D7F43-B459-4F35-A869-8F2C640AE8D0}"/>
              </a:ext>
            </a:extLst>
          </p:cNvPr>
          <p:cNvSpPr txBox="1"/>
          <p:nvPr/>
        </p:nvSpPr>
        <p:spPr>
          <a:xfrm>
            <a:off x="11310470" y="6334820"/>
            <a:ext cx="598245"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16</a:t>
            </a:r>
            <a:endParaRPr sz="2800" b="1" dirty="0">
              <a:solidFill>
                <a:schemeClr val="lt1"/>
              </a:solidFill>
              <a:latin typeface="Arial"/>
              <a:ea typeface="Arial"/>
              <a:cs typeface="Arial"/>
              <a:sym typeface="Arial"/>
            </a:endParaRPr>
          </a:p>
        </p:txBody>
      </p:sp>
      <p:sp>
        <p:nvSpPr>
          <p:cNvPr id="13" name="TextBox 12">
            <a:extLst>
              <a:ext uri="{FF2B5EF4-FFF2-40B4-BE49-F238E27FC236}">
                <a16:creationId xmlns:a16="http://schemas.microsoft.com/office/drawing/2014/main" id="{0C91BD97-FBCC-4649-AAA5-2D58E0B900DB}"/>
              </a:ext>
            </a:extLst>
          </p:cNvPr>
          <p:cNvSpPr txBox="1"/>
          <p:nvPr/>
        </p:nvSpPr>
        <p:spPr>
          <a:xfrm>
            <a:off x="1330452" y="61014"/>
            <a:ext cx="5420703" cy="307777"/>
          </a:xfrm>
          <a:prstGeom prst="rect">
            <a:avLst/>
          </a:prstGeom>
          <a:noFill/>
        </p:spPr>
        <p:txBody>
          <a:bodyPr wrap="square" lIns="0" tIns="0" rIns="0" bIns="0" numCol="1" rtlCol="0">
            <a:spAutoFit/>
          </a:bodyPr>
          <a:lstStyle/>
          <a:p>
            <a:r>
              <a:rPr lang="fr-FR" sz="2000" b="1" i="1" dirty="0">
                <a:solidFill>
                  <a:srgbClr val="77CE61"/>
                </a:solidFill>
                <a:effectLst>
                  <a:outerShdw blurRad="38100" dist="38100" dir="2700000" algn="tl">
                    <a:srgbClr val="000000">
                      <a:alpha val="43137"/>
                    </a:srgbClr>
                  </a:outerShdw>
                </a:effectLst>
                <a:latin typeface="Roboto" pitchFamily="2" charset="0"/>
                <a:ea typeface="Roboto" pitchFamily="2" charset="0"/>
              </a:rPr>
              <a:t>Etude conceptuelle</a:t>
            </a:r>
          </a:p>
        </p:txBody>
      </p:sp>
      <p:sp>
        <p:nvSpPr>
          <p:cNvPr id="14" name="ZoneTexte 10">
            <a:extLst>
              <a:ext uri="{FF2B5EF4-FFF2-40B4-BE49-F238E27FC236}">
                <a16:creationId xmlns:a16="http://schemas.microsoft.com/office/drawing/2014/main" id="{358EC486-1089-4C6B-BE33-49591C568707}"/>
              </a:ext>
            </a:extLst>
          </p:cNvPr>
          <p:cNvSpPr txBox="1"/>
          <p:nvPr/>
        </p:nvSpPr>
        <p:spPr>
          <a:xfrm>
            <a:off x="0" y="-203200"/>
            <a:ext cx="2038470" cy="1446550"/>
          </a:xfrm>
          <a:prstGeom prst="rect">
            <a:avLst/>
          </a:prstGeom>
          <a:noFill/>
        </p:spPr>
        <p:txBody>
          <a:bodyPr wrap="square">
            <a:spAutoFit/>
          </a:bodyPr>
          <a:lstStyle/>
          <a:p>
            <a:r>
              <a:rPr lang="en-US" sz="8800" dirty="0">
                <a:ln w="15875">
                  <a:solidFill>
                    <a:schemeClr val="bg1"/>
                  </a:solidFill>
                </a:ln>
                <a:noFill/>
                <a:latin typeface="Archivo Black" panose="020B0A03020202020B04" pitchFamily="34" charset="0"/>
              </a:rPr>
              <a:t>04</a:t>
            </a:r>
            <a:endParaRPr lang="en-US" sz="23900" dirty="0"/>
          </a:p>
        </p:txBody>
      </p:sp>
      <p:sp>
        <p:nvSpPr>
          <p:cNvPr id="15" name="Rectangle 14">
            <a:extLst>
              <a:ext uri="{FF2B5EF4-FFF2-40B4-BE49-F238E27FC236}">
                <a16:creationId xmlns:a16="http://schemas.microsoft.com/office/drawing/2014/main" id="{3C1D1C48-3D34-48B3-9F0C-4EBD17A43BB1}"/>
              </a:ext>
            </a:extLst>
          </p:cNvPr>
          <p:cNvSpPr/>
          <p:nvPr/>
        </p:nvSpPr>
        <p:spPr>
          <a:xfrm>
            <a:off x="1228135" y="57371"/>
            <a:ext cx="45719" cy="925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2" name="TextBox 1">
            <a:extLst>
              <a:ext uri="{FF2B5EF4-FFF2-40B4-BE49-F238E27FC236}">
                <a16:creationId xmlns:a16="http://schemas.microsoft.com/office/drawing/2014/main" id="{23A54725-16BD-472E-BB81-0044FDD491F0}"/>
              </a:ext>
            </a:extLst>
          </p:cNvPr>
          <p:cNvSpPr txBox="1"/>
          <p:nvPr/>
        </p:nvSpPr>
        <p:spPr>
          <a:xfrm>
            <a:off x="2997796" y="706740"/>
            <a:ext cx="6196405" cy="584775"/>
          </a:xfrm>
          <a:prstGeom prst="rect">
            <a:avLst/>
          </a:prstGeom>
          <a:noFill/>
        </p:spPr>
        <p:txBody>
          <a:bodyPr wrap="square" rtlCol="0">
            <a:spAutoFit/>
          </a:bodyPr>
          <a:lstStyle/>
          <a:p>
            <a:pPr algn="ctr"/>
            <a:r>
              <a:rPr lang="fr-FR" sz="3200" b="1" i="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Diagrammes Clés</a:t>
            </a:r>
          </a:p>
        </p:txBody>
      </p:sp>
      <p:sp>
        <p:nvSpPr>
          <p:cNvPr id="3" name="ZoneTexte 2">
            <a:extLst>
              <a:ext uri="{FF2B5EF4-FFF2-40B4-BE49-F238E27FC236}">
                <a16:creationId xmlns:a16="http://schemas.microsoft.com/office/drawing/2014/main" id="{FB149F1D-11C1-F145-D36F-E55BAB7CDD70}"/>
              </a:ext>
            </a:extLst>
          </p:cNvPr>
          <p:cNvSpPr txBox="1"/>
          <p:nvPr/>
        </p:nvSpPr>
        <p:spPr>
          <a:xfrm>
            <a:off x="623943" y="1230781"/>
            <a:ext cx="3173506" cy="369332"/>
          </a:xfrm>
          <a:prstGeom prst="rect">
            <a:avLst/>
          </a:prstGeom>
          <a:noFill/>
        </p:spPr>
        <p:txBody>
          <a:bodyPr wrap="square" rtlCol="0">
            <a:spAutoFit/>
          </a:bodyPr>
          <a:lstStyle/>
          <a:p>
            <a:pPr marL="342900" indent="-342900">
              <a:buFont typeface="+mj-lt"/>
              <a:buAutoNum type="arabicPeriod" startAt="2"/>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Architecture Microservices</a:t>
            </a:r>
          </a:p>
        </p:txBody>
      </p:sp>
      <p:pic>
        <p:nvPicPr>
          <p:cNvPr id="6" name="Image 5">
            <a:extLst>
              <a:ext uri="{FF2B5EF4-FFF2-40B4-BE49-F238E27FC236}">
                <a16:creationId xmlns:a16="http://schemas.microsoft.com/office/drawing/2014/main" id="{3EA4909B-461F-9AC4-6A5A-E8174AE15E1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00360" y="1815556"/>
            <a:ext cx="9054105" cy="4700552"/>
          </a:xfrm>
          <a:prstGeom prst="rect">
            <a:avLst/>
          </a:prstGeom>
        </p:spPr>
      </p:pic>
    </p:spTree>
    <p:custDataLst>
      <p:tags r:id="rId1"/>
    </p:custDataLst>
    <p:extLst>
      <p:ext uri="{BB962C8B-B14F-4D97-AF65-F5344CB8AC3E}">
        <p14:creationId xmlns:p14="http://schemas.microsoft.com/office/powerpoint/2010/main" val="899920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250" fill="hold"/>
                                        <p:tgtEl>
                                          <p:spTgt spid="14"/>
                                        </p:tgtEl>
                                        <p:attrNameLst>
                                          <p:attrName>ppt_x</p:attrName>
                                        </p:attrNameLst>
                                      </p:cBhvr>
                                      <p:tavLst>
                                        <p:tav tm="0">
                                          <p:val>
                                            <p:strVal val="0-#ppt_w/2"/>
                                          </p:val>
                                        </p:tav>
                                        <p:tav tm="100000">
                                          <p:val>
                                            <p:strVal val="#ppt_x"/>
                                          </p:val>
                                        </p:tav>
                                      </p:tavLst>
                                    </p:anim>
                                    <p:anim calcmode="lin" valueType="num">
                                      <p:cBhvr additive="base">
                                        <p:cTn id="8" dur="250" fill="hold"/>
                                        <p:tgtEl>
                                          <p:spTgt spid="14"/>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2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2" presetClass="entr" presetSubtype="8"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500" fill="hold"/>
                                        <p:tgtEl>
                                          <p:spTgt spid="15"/>
                                        </p:tgtEl>
                                        <p:attrNameLst>
                                          <p:attrName>ppt_x</p:attrName>
                                        </p:attrNameLst>
                                      </p:cBhvr>
                                      <p:tavLst>
                                        <p:tav tm="0">
                                          <p:val>
                                            <p:strVal val="0-#ppt_w/2"/>
                                          </p:val>
                                        </p:tav>
                                        <p:tav tm="100000">
                                          <p:val>
                                            <p:strVal val="#ppt_x"/>
                                          </p:val>
                                        </p:tav>
                                      </p:tavLst>
                                    </p:anim>
                                    <p:anim calcmode="lin" valueType="num">
                                      <p:cBhvr additive="base">
                                        <p:cTn id="15"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18B07EE-A45E-4446-A223-5B883B13E13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a:extLst>
              <a:ext uri="{FF2B5EF4-FFF2-40B4-BE49-F238E27FC236}">
                <a16:creationId xmlns:a16="http://schemas.microsoft.com/office/drawing/2014/main" id="{CA8813BB-D448-4521-9F33-B74EFDC2BCD9}"/>
              </a:ext>
            </a:extLst>
          </p:cNvPr>
          <p:cNvSpPr/>
          <p:nvPr/>
        </p:nvSpPr>
        <p:spPr>
          <a:xfrm>
            <a:off x="5393227" y="2166484"/>
            <a:ext cx="5524168" cy="259805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a:p>
        </p:txBody>
      </p:sp>
      <p:sp>
        <p:nvSpPr>
          <p:cNvPr id="2" name="Rectangle 1">
            <a:extLst>
              <a:ext uri="{FF2B5EF4-FFF2-40B4-BE49-F238E27FC236}">
                <a16:creationId xmlns:a16="http://schemas.microsoft.com/office/drawing/2014/main" id="{226F08B3-37B7-4D5C-80DD-85ECEA54CD23}"/>
              </a:ext>
            </a:extLst>
          </p:cNvPr>
          <p:cNvSpPr/>
          <p:nvPr/>
        </p:nvSpPr>
        <p:spPr>
          <a:xfrm>
            <a:off x="5500914" y="1236087"/>
            <a:ext cx="6691086" cy="40333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a:p>
        </p:txBody>
      </p:sp>
      <p:sp>
        <p:nvSpPr>
          <p:cNvPr id="8" name="TextBox 7">
            <a:extLst>
              <a:ext uri="{FF2B5EF4-FFF2-40B4-BE49-F238E27FC236}">
                <a16:creationId xmlns:a16="http://schemas.microsoft.com/office/drawing/2014/main" id="{DF7833B0-BA71-4453-853F-974C3C7535A2}"/>
              </a:ext>
            </a:extLst>
          </p:cNvPr>
          <p:cNvSpPr txBox="1"/>
          <p:nvPr/>
        </p:nvSpPr>
        <p:spPr>
          <a:xfrm>
            <a:off x="5778620" y="2166484"/>
            <a:ext cx="6808376" cy="738664"/>
          </a:xfrm>
          <a:prstGeom prst="rect">
            <a:avLst/>
          </a:prstGeom>
          <a:noFill/>
        </p:spPr>
        <p:txBody>
          <a:bodyPr wrap="square" lIns="0" tIns="0" rIns="0" bIns="0" numCol="1" rtlCol="0">
            <a:spAutoFit/>
          </a:bodyPr>
          <a:lstStyle/>
          <a:p>
            <a:r>
              <a:rPr lang="fr-FR" sz="4800" b="1" i="1" dirty="0">
                <a:solidFill>
                  <a:schemeClr val="accent4">
                    <a:lumMod val="60000"/>
                    <a:lumOff val="40000"/>
                  </a:schemeClr>
                </a:solidFill>
                <a:effectLst>
                  <a:outerShdw blurRad="38100" dist="38100" dir="2700000" algn="tl">
                    <a:srgbClr val="000000">
                      <a:alpha val="43137"/>
                    </a:srgbClr>
                  </a:outerShdw>
                </a:effectLst>
                <a:latin typeface="Roboto" pitchFamily="2" charset="0"/>
                <a:ea typeface="Roboto" pitchFamily="2" charset="0"/>
              </a:rPr>
              <a:t>Réalisation</a:t>
            </a:r>
          </a:p>
        </p:txBody>
      </p:sp>
      <p:sp>
        <p:nvSpPr>
          <p:cNvPr id="11" name="ZoneTexte 10">
            <a:extLst>
              <a:ext uri="{FF2B5EF4-FFF2-40B4-BE49-F238E27FC236}">
                <a16:creationId xmlns:a16="http://schemas.microsoft.com/office/drawing/2014/main" id="{874A49F3-0002-4629-8953-27B21388CF24}"/>
              </a:ext>
            </a:extLst>
          </p:cNvPr>
          <p:cNvSpPr txBox="1"/>
          <p:nvPr/>
        </p:nvSpPr>
        <p:spPr>
          <a:xfrm>
            <a:off x="1983887" y="1543868"/>
            <a:ext cx="3794733" cy="3770263"/>
          </a:xfrm>
          <a:prstGeom prst="rect">
            <a:avLst/>
          </a:prstGeom>
          <a:noFill/>
        </p:spPr>
        <p:txBody>
          <a:bodyPr wrap="square">
            <a:spAutoFit/>
          </a:bodyPr>
          <a:lstStyle/>
          <a:p>
            <a:r>
              <a:rPr lang="en-US" sz="23900" dirty="0">
                <a:ln w="15875">
                  <a:solidFill>
                    <a:schemeClr val="bg1"/>
                  </a:solidFill>
                </a:ln>
                <a:noFill/>
                <a:latin typeface="Archivo Black" panose="020B0A03020202020B04" pitchFamily="34" charset="0"/>
              </a:rPr>
              <a:t>05</a:t>
            </a:r>
            <a:endParaRPr lang="en-US" sz="23900" dirty="0"/>
          </a:p>
        </p:txBody>
      </p:sp>
      <p:sp>
        <p:nvSpPr>
          <p:cNvPr id="9" name="Google Shape;273;p6">
            <a:extLst>
              <a:ext uri="{FF2B5EF4-FFF2-40B4-BE49-F238E27FC236}">
                <a16:creationId xmlns:a16="http://schemas.microsoft.com/office/drawing/2014/main" id="{43439022-977C-4DDC-B929-7F48B8BB83B5}"/>
              </a:ext>
            </a:extLst>
          </p:cNvPr>
          <p:cNvSpPr txBox="1"/>
          <p:nvPr/>
        </p:nvSpPr>
        <p:spPr>
          <a:xfrm>
            <a:off x="11310470" y="6334820"/>
            <a:ext cx="598245"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17</a:t>
            </a:r>
            <a:endParaRPr sz="2800" b="1" dirty="0">
              <a:solidFill>
                <a:schemeClr val="lt1"/>
              </a:solidFill>
              <a:latin typeface="Arial"/>
              <a:ea typeface="Arial"/>
              <a:cs typeface="Arial"/>
              <a:sym typeface="Arial"/>
            </a:endParaRPr>
          </a:p>
        </p:txBody>
      </p:sp>
    </p:spTree>
    <p:custDataLst>
      <p:tags r:id="rId1"/>
    </p:custDataLst>
    <p:extLst>
      <p:ext uri="{BB962C8B-B14F-4D97-AF65-F5344CB8AC3E}">
        <p14:creationId xmlns:p14="http://schemas.microsoft.com/office/powerpoint/2010/main" val="600238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50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18B07EE-A45E-4446-A223-5B883B13E13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Google Shape;273;p6">
            <a:extLst>
              <a:ext uri="{FF2B5EF4-FFF2-40B4-BE49-F238E27FC236}">
                <a16:creationId xmlns:a16="http://schemas.microsoft.com/office/drawing/2014/main" id="{D4DF5742-A40F-4219-8FB0-561CEC3E3199}"/>
              </a:ext>
            </a:extLst>
          </p:cNvPr>
          <p:cNvSpPr txBox="1"/>
          <p:nvPr/>
        </p:nvSpPr>
        <p:spPr>
          <a:xfrm>
            <a:off x="11310470" y="6334820"/>
            <a:ext cx="598245"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18</a:t>
            </a:r>
            <a:endParaRPr sz="2800" b="1" dirty="0">
              <a:solidFill>
                <a:schemeClr val="lt1"/>
              </a:solidFill>
              <a:latin typeface="Arial"/>
              <a:ea typeface="Arial"/>
              <a:cs typeface="Arial"/>
              <a:sym typeface="Arial"/>
            </a:endParaRPr>
          </a:p>
        </p:txBody>
      </p:sp>
      <p:sp>
        <p:nvSpPr>
          <p:cNvPr id="13" name="TextBox 12">
            <a:extLst>
              <a:ext uri="{FF2B5EF4-FFF2-40B4-BE49-F238E27FC236}">
                <a16:creationId xmlns:a16="http://schemas.microsoft.com/office/drawing/2014/main" id="{D526B032-EE87-4709-96B1-55F42ADD5531}"/>
              </a:ext>
            </a:extLst>
          </p:cNvPr>
          <p:cNvSpPr txBox="1"/>
          <p:nvPr/>
        </p:nvSpPr>
        <p:spPr>
          <a:xfrm>
            <a:off x="1330452" y="61014"/>
            <a:ext cx="5420703" cy="307777"/>
          </a:xfrm>
          <a:prstGeom prst="rect">
            <a:avLst/>
          </a:prstGeom>
          <a:noFill/>
        </p:spPr>
        <p:txBody>
          <a:bodyPr wrap="square" lIns="0" tIns="0" rIns="0" bIns="0" numCol="1" rtlCol="0">
            <a:spAutoFit/>
          </a:bodyPr>
          <a:lstStyle/>
          <a:p>
            <a:r>
              <a:rPr lang="fr-FR" sz="2000" b="1" i="1" dirty="0">
                <a:solidFill>
                  <a:schemeClr val="accent4">
                    <a:lumMod val="60000"/>
                    <a:lumOff val="40000"/>
                  </a:schemeClr>
                </a:solidFill>
                <a:effectLst>
                  <a:outerShdw blurRad="38100" dist="38100" dir="2700000" algn="tl">
                    <a:srgbClr val="000000">
                      <a:alpha val="43137"/>
                    </a:srgbClr>
                  </a:outerShdw>
                </a:effectLst>
                <a:latin typeface="Roboto" pitchFamily="2" charset="0"/>
                <a:ea typeface="Roboto" pitchFamily="2" charset="0"/>
              </a:rPr>
              <a:t>Réalisation</a:t>
            </a:r>
          </a:p>
        </p:txBody>
      </p:sp>
      <p:sp>
        <p:nvSpPr>
          <p:cNvPr id="14" name="ZoneTexte 10">
            <a:extLst>
              <a:ext uri="{FF2B5EF4-FFF2-40B4-BE49-F238E27FC236}">
                <a16:creationId xmlns:a16="http://schemas.microsoft.com/office/drawing/2014/main" id="{C9A7B543-F26A-4403-A1A4-92316912185B}"/>
              </a:ext>
            </a:extLst>
          </p:cNvPr>
          <p:cNvSpPr txBox="1"/>
          <p:nvPr/>
        </p:nvSpPr>
        <p:spPr>
          <a:xfrm>
            <a:off x="0" y="-203200"/>
            <a:ext cx="2038470" cy="1446550"/>
          </a:xfrm>
          <a:prstGeom prst="rect">
            <a:avLst/>
          </a:prstGeom>
          <a:noFill/>
        </p:spPr>
        <p:txBody>
          <a:bodyPr wrap="square">
            <a:spAutoFit/>
          </a:bodyPr>
          <a:lstStyle/>
          <a:p>
            <a:r>
              <a:rPr lang="en-US" sz="8800" dirty="0">
                <a:ln w="15875">
                  <a:solidFill>
                    <a:schemeClr val="bg1"/>
                  </a:solidFill>
                </a:ln>
                <a:noFill/>
                <a:latin typeface="Archivo Black" panose="020B0A03020202020B04" pitchFamily="34" charset="0"/>
              </a:rPr>
              <a:t>05</a:t>
            </a:r>
            <a:endParaRPr lang="en-US" sz="23900" dirty="0"/>
          </a:p>
        </p:txBody>
      </p:sp>
      <p:sp>
        <p:nvSpPr>
          <p:cNvPr id="15" name="Rectangle 14">
            <a:extLst>
              <a:ext uri="{FF2B5EF4-FFF2-40B4-BE49-F238E27FC236}">
                <a16:creationId xmlns:a16="http://schemas.microsoft.com/office/drawing/2014/main" id="{B516878E-39CB-4806-8B49-B79793E4AEEB}"/>
              </a:ext>
            </a:extLst>
          </p:cNvPr>
          <p:cNvSpPr/>
          <p:nvPr/>
        </p:nvSpPr>
        <p:spPr>
          <a:xfrm>
            <a:off x="1228135" y="57371"/>
            <a:ext cx="45719" cy="925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3" name="TextBox 2">
            <a:extLst>
              <a:ext uri="{FF2B5EF4-FFF2-40B4-BE49-F238E27FC236}">
                <a16:creationId xmlns:a16="http://schemas.microsoft.com/office/drawing/2014/main" id="{0AAFB164-E8C3-4276-8B4F-48C75895563A}"/>
              </a:ext>
            </a:extLst>
          </p:cNvPr>
          <p:cNvSpPr txBox="1"/>
          <p:nvPr/>
        </p:nvSpPr>
        <p:spPr>
          <a:xfrm>
            <a:off x="2422263" y="982779"/>
            <a:ext cx="7347473" cy="584775"/>
          </a:xfrm>
          <a:prstGeom prst="rect">
            <a:avLst/>
          </a:prstGeom>
          <a:noFill/>
        </p:spPr>
        <p:txBody>
          <a:bodyPr wrap="square" rtlCol="0">
            <a:spAutoFit/>
          </a:bodyPr>
          <a:lstStyle/>
          <a:p>
            <a:pPr algn="ctr"/>
            <a:r>
              <a:rPr lang="en-GB" sz="3200" b="1" i="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Interface Utilisateur</a:t>
            </a:r>
          </a:p>
        </p:txBody>
      </p:sp>
      <p:pic>
        <p:nvPicPr>
          <p:cNvPr id="4" name="Image 3">
            <a:extLst>
              <a:ext uri="{FF2B5EF4-FFF2-40B4-BE49-F238E27FC236}">
                <a16:creationId xmlns:a16="http://schemas.microsoft.com/office/drawing/2014/main" id="{9CF42827-EF42-8738-A31F-3C93A5BB441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82410" y="2318222"/>
            <a:ext cx="7627177" cy="4122151"/>
          </a:xfrm>
          <a:prstGeom prst="rect">
            <a:avLst/>
          </a:prstGeom>
        </p:spPr>
      </p:pic>
      <p:sp>
        <p:nvSpPr>
          <p:cNvPr id="5" name="ZoneTexte 4">
            <a:extLst>
              <a:ext uri="{FF2B5EF4-FFF2-40B4-BE49-F238E27FC236}">
                <a16:creationId xmlns:a16="http://schemas.microsoft.com/office/drawing/2014/main" id="{05F47C3A-0D3E-81B4-1B74-9D30BBE340E2}"/>
              </a:ext>
            </a:extLst>
          </p:cNvPr>
          <p:cNvSpPr txBox="1"/>
          <p:nvPr/>
        </p:nvSpPr>
        <p:spPr>
          <a:xfrm>
            <a:off x="440959" y="1758222"/>
            <a:ext cx="3195021" cy="369332"/>
          </a:xfrm>
          <a:prstGeom prst="rect">
            <a:avLst/>
          </a:prstGeom>
          <a:noFill/>
        </p:spPr>
        <p:txBody>
          <a:bodyPr wrap="square" rtlCol="0">
            <a:spAutoFit/>
          </a:bodyPr>
          <a:lstStyle/>
          <a:p>
            <a:pPr marL="342900" indent="-342900">
              <a:buFont typeface="+mj-lt"/>
              <a:buAutoNum type="arabicPeriod"/>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Page de connexion</a:t>
            </a:r>
          </a:p>
        </p:txBody>
      </p:sp>
    </p:spTree>
    <p:custDataLst>
      <p:tags r:id="rId1"/>
    </p:custDataLst>
    <p:extLst>
      <p:ext uri="{BB962C8B-B14F-4D97-AF65-F5344CB8AC3E}">
        <p14:creationId xmlns:p14="http://schemas.microsoft.com/office/powerpoint/2010/main" val="867803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250" fill="hold"/>
                                        <p:tgtEl>
                                          <p:spTgt spid="14"/>
                                        </p:tgtEl>
                                        <p:attrNameLst>
                                          <p:attrName>ppt_x</p:attrName>
                                        </p:attrNameLst>
                                      </p:cBhvr>
                                      <p:tavLst>
                                        <p:tav tm="0">
                                          <p:val>
                                            <p:strVal val="0-#ppt_w/2"/>
                                          </p:val>
                                        </p:tav>
                                        <p:tav tm="100000">
                                          <p:val>
                                            <p:strVal val="#ppt_x"/>
                                          </p:val>
                                        </p:tav>
                                      </p:tavLst>
                                    </p:anim>
                                    <p:anim calcmode="lin" valueType="num">
                                      <p:cBhvr additive="base">
                                        <p:cTn id="8" dur="250" fill="hold"/>
                                        <p:tgtEl>
                                          <p:spTgt spid="14"/>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2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2" presetClass="entr" presetSubtype="8"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500" fill="hold"/>
                                        <p:tgtEl>
                                          <p:spTgt spid="15"/>
                                        </p:tgtEl>
                                        <p:attrNameLst>
                                          <p:attrName>ppt_x</p:attrName>
                                        </p:attrNameLst>
                                      </p:cBhvr>
                                      <p:tavLst>
                                        <p:tav tm="0">
                                          <p:val>
                                            <p:strVal val="0-#ppt_w/2"/>
                                          </p:val>
                                        </p:tav>
                                        <p:tav tm="100000">
                                          <p:val>
                                            <p:strVal val="#ppt_x"/>
                                          </p:val>
                                        </p:tav>
                                      </p:tavLst>
                                    </p:anim>
                                    <p:anim calcmode="lin" valueType="num">
                                      <p:cBhvr additive="base">
                                        <p:cTn id="15"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76D0901D-0B68-F371-6D86-CCF6FA20C46D}"/>
            </a:ext>
          </a:extLst>
        </p:cNvPr>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4DFB0604-63FE-4502-A19D-D999B7E2AF1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Google Shape;273;p6">
            <a:extLst>
              <a:ext uri="{FF2B5EF4-FFF2-40B4-BE49-F238E27FC236}">
                <a16:creationId xmlns:a16="http://schemas.microsoft.com/office/drawing/2014/main" id="{1DE90721-EF90-9CA9-EDC4-D22EBDAAD573}"/>
              </a:ext>
            </a:extLst>
          </p:cNvPr>
          <p:cNvSpPr txBox="1"/>
          <p:nvPr/>
        </p:nvSpPr>
        <p:spPr>
          <a:xfrm>
            <a:off x="11310470" y="6334820"/>
            <a:ext cx="598245"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19</a:t>
            </a:r>
            <a:endParaRPr sz="2800" b="1" dirty="0">
              <a:solidFill>
                <a:schemeClr val="lt1"/>
              </a:solidFill>
              <a:latin typeface="Arial"/>
              <a:ea typeface="Arial"/>
              <a:cs typeface="Arial"/>
              <a:sym typeface="Arial"/>
            </a:endParaRPr>
          </a:p>
        </p:txBody>
      </p:sp>
      <p:sp>
        <p:nvSpPr>
          <p:cNvPr id="13" name="TextBox 12">
            <a:extLst>
              <a:ext uri="{FF2B5EF4-FFF2-40B4-BE49-F238E27FC236}">
                <a16:creationId xmlns:a16="http://schemas.microsoft.com/office/drawing/2014/main" id="{E711A735-1DFF-4F5B-7106-83DE7873C251}"/>
              </a:ext>
            </a:extLst>
          </p:cNvPr>
          <p:cNvSpPr txBox="1"/>
          <p:nvPr/>
        </p:nvSpPr>
        <p:spPr>
          <a:xfrm>
            <a:off x="1330452" y="61014"/>
            <a:ext cx="5420703" cy="307777"/>
          </a:xfrm>
          <a:prstGeom prst="rect">
            <a:avLst/>
          </a:prstGeom>
          <a:noFill/>
        </p:spPr>
        <p:txBody>
          <a:bodyPr wrap="square" lIns="0" tIns="0" rIns="0" bIns="0" numCol="1" rtlCol="0">
            <a:spAutoFit/>
          </a:bodyPr>
          <a:lstStyle/>
          <a:p>
            <a:r>
              <a:rPr lang="fr-FR" sz="2000" b="1" i="1" dirty="0">
                <a:solidFill>
                  <a:schemeClr val="accent4">
                    <a:lumMod val="60000"/>
                    <a:lumOff val="40000"/>
                  </a:schemeClr>
                </a:solidFill>
                <a:effectLst>
                  <a:outerShdw blurRad="38100" dist="38100" dir="2700000" algn="tl">
                    <a:srgbClr val="000000">
                      <a:alpha val="43137"/>
                    </a:srgbClr>
                  </a:outerShdw>
                </a:effectLst>
                <a:latin typeface="Roboto" pitchFamily="2" charset="0"/>
                <a:ea typeface="Roboto" pitchFamily="2" charset="0"/>
              </a:rPr>
              <a:t>Réalisation</a:t>
            </a:r>
          </a:p>
        </p:txBody>
      </p:sp>
      <p:sp>
        <p:nvSpPr>
          <p:cNvPr id="14" name="ZoneTexte 10">
            <a:extLst>
              <a:ext uri="{FF2B5EF4-FFF2-40B4-BE49-F238E27FC236}">
                <a16:creationId xmlns:a16="http://schemas.microsoft.com/office/drawing/2014/main" id="{0A720DD7-61F9-8818-A00E-7EAC0FF635DE}"/>
              </a:ext>
            </a:extLst>
          </p:cNvPr>
          <p:cNvSpPr txBox="1"/>
          <p:nvPr/>
        </p:nvSpPr>
        <p:spPr>
          <a:xfrm>
            <a:off x="0" y="-203200"/>
            <a:ext cx="2038470" cy="1446550"/>
          </a:xfrm>
          <a:prstGeom prst="rect">
            <a:avLst/>
          </a:prstGeom>
          <a:noFill/>
        </p:spPr>
        <p:txBody>
          <a:bodyPr wrap="square">
            <a:spAutoFit/>
          </a:bodyPr>
          <a:lstStyle/>
          <a:p>
            <a:r>
              <a:rPr lang="en-US" sz="8800" dirty="0">
                <a:ln w="15875">
                  <a:solidFill>
                    <a:schemeClr val="bg1"/>
                  </a:solidFill>
                </a:ln>
                <a:noFill/>
                <a:latin typeface="Archivo Black" panose="020B0A03020202020B04" pitchFamily="34" charset="0"/>
              </a:rPr>
              <a:t>05</a:t>
            </a:r>
            <a:endParaRPr lang="en-US" sz="23900" dirty="0"/>
          </a:p>
        </p:txBody>
      </p:sp>
      <p:sp>
        <p:nvSpPr>
          <p:cNvPr id="15" name="Rectangle 14">
            <a:extLst>
              <a:ext uri="{FF2B5EF4-FFF2-40B4-BE49-F238E27FC236}">
                <a16:creationId xmlns:a16="http://schemas.microsoft.com/office/drawing/2014/main" id="{226E90FE-9EF1-C043-55E0-3F96A590420F}"/>
              </a:ext>
            </a:extLst>
          </p:cNvPr>
          <p:cNvSpPr/>
          <p:nvPr/>
        </p:nvSpPr>
        <p:spPr>
          <a:xfrm>
            <a:off x="1228135" y="57371"/>
            <a:ext cx="45719" cy="925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3" name="TextBox 2">
            <a:extLst>
              <a:ext uri="{FF2B5EF4-FFF2-40B4-BE49-F238E27FC236}">
                <a16:creationId xmlns:a16="http://schemas.microsoft.com/office/drawing/2014/main" id="{FE1E420E-3B57-DF8A-93C4-90D31203E889}"/>
              </a:ext>
            </a:extLst>
          </p:cNvPr>
          <p:cNvSpPr txBox="1"/>
          <p:nvPr/>
        </p:nvSpPr>
        <p:spPr>
          <a:xfrm>
            <a:off x="2501989" y="722208"/>
            <a:ext cx="7347473" cy="584775"/>
          </a:xfrm>
          <a:prstGeom prst="rect">
            <a:avLst/>
          </a:prstGeom>
          <a:noFill/>
        </p:spPr>
        <p:txBody>
          <a:bodyPr wrap="square" rtlCol="0">
            <a:spAutoFit/>
          </a:bodyPr>
          <a:lstStyle/>
          <a:p>
            <a:pPr algn="ctr"/>
            <a:r>
              <a:rPr lang="en-GB" sz="3200" b="1" i="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Interface Utilisateur</a:t>
            </a:r>
          </a:p>
        </p:txBody>
      </p:sp>
      <p:sp>
        <p:nvSpPr>
          <p:cNvPr id="5" name="ZoneTexte 4">
            <a:extLst>
              <a:ext uri="{FF2B5EF4-FFF2-40B4-BE49-F238E27FC236}">
                <a16:creationId xmlns:a16="http://schemas.microsoft.com/office/drawing/2014/main" id="{A290D6A3-3DDD-9CF2-B81E-9BCAFB9D6D56}"/>
              </a:ext>
            </a:extLst>
          </p:cNvPr>
          <p:cNvSpPr txBox="1"/>
          <p:nvPr/>
        </p:nvSpPr>
        <p:spPr>
          <a:xfrm>
            <a:off x="440959" y="1596767"/>
            <a:ext cx="4131041" cy="369332"/>
          </a:xfrm>
          <a:prstGeom prst="rect">
            <a:avLst/>
          </a:prstGeom>
          <a:noFill/>
        </p:spPr>
        <p:txBody>
          <a:bodyPr wrap="square" rtlCol="0">
            <a:spAutoFit/>
          </a:bodyPr>
          <a:lstStyle/>
          <a:p>
            <a:pPr marL="342900" indent="-342900">
              <a:buFont typeface="+mj-lt"/>
              <a:buAutoNum type="arabicPeriod" startAt="2"/>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Page de Prise en charge Accord BCT</a:t>
            </a:r>
          </a:p>
        </p:txBody>
      </p:sp>
      <p:pic>
        <p:nvPicPr>
          <p:cNvPr id="8" name="Image 7">
            <a:extLst>
              <a:ext uri="{FF2B5EF4-FFF2-40B4-BE49-F238E27FC236}">
                <a16:creationId xmlns:a16="http://schemas.microsoft.com/office/drawing/2014/main" id="{276A9B7C-8A8D-B564-DAB5-A0F67BACC26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27816" y="2138038"/>
            <a:ext cx="8136367" cy="4576706"/>
          </a:xfrm>
          <a:prstGeom prst="rect">
            <a:avLst/>
          </a:prstGeom>
        </p:spPr>
      </p:pic>
    </p:spTree>
    <p:custDataLst>
      <p:tags r:id="rId1"/>
    </p:custDataLst>
    <p:extLst>
      <p:ext uri="{BB962C8B-B14F-4D97-AF65-F5344CB8AC3E}">
        <p14:creationId xmlns:p14="http://schemas.microsoft.com/office/powerpoint/2010/main" val="3836849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250" fill="hold"/>
                                        <p:tgtEl>
                                          <p:spTgt spid="14"/>
                                        </p:tgtEl>
                                        <p:attrNameLst>
                                          <p:attrName>ppt_x</p:attrName>
                                        </p:attrNameLst>
                                      </p:cBhvr>
                                      <p:tavLst>
                                        <p:tav tm="0">
                                          <p:val>
                                            <p:strVal val="0-#ppt_w/2"/>
                                          </p:val>
                                        </p:tav>
                                        <p:tav tm="100000">
                                          <p:val>
                                            <p:strVal val="#ppt_x"/>
                                          </p:val>
                                        </p:tav>
                                      </p:tavLst>
                                    </p:anim>
                                    <p:anim calcmode="lin" valueType="num">
                                      <p:cBhvr additive="base">
                                        <p:cTn id="8" dur="250" fill="hold"/>
                                        <p:tgtEl>
                                          <p:spTgt spid="14"/>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2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2" presetClass="entr" presetSubtype="8"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500" fill="hold"/>
                                        <p:tgtEl>
                                          <p:spTgt spid="15"/>
                                        </p:tgtEl>
                                        <p:attrNameLst>
                                          <p:attrName>ppt_x</p:attrName>
                                        </p:attrNameLst>
                                      </p:cBhvr>
                                      <p:tavLst>
                                        <p:tav tm="0">
                                          <p:val>
                                            <p:strVal val="0-#ppt_w/2"/>
                                          </p:val>
                                        </p:tav>
                                        <p:tav tm="100000">
                                          <p:val>
                                            <p:strVal val="#ppt_x"/>
                                          </p:val>
                                        </p:tav>
                                      </p:tavLst>
                                    </p:anim>
                                    <p:anim calcmode="lin" valueType="num">
                                      <p:cBhvr additive="base">
                                        <p:cTn id="15"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78725AE0-AD19-9793-BAB4-A9BEE1B3EB57}"/>
            </a:ext>
          </a:extLst>
        </p:cNvPr>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39953597-5AA3-038D-8169-4D3D191B55E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4DFB0604-63FE-4502-A19D-D999B7E2AF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Google Shape;273;p6">
            <a:extLst>
              <a:ext uri="{FF2B5EF4-FFF2-40B4-BE49-F238E27FC236}">
                <a16:creationId xmlns:a16="http://schemas.microsoft.com/office/drawing/2014/main" id="{E65B7BA8-1A61-05EE-9752-2747FFDE2333}"/>
              </a:ext>
            </a:extLst>
          </p:cNvPr>
          <p:cNvSpPr txBox="1"/>
          <p:nvPr/>
        </p:nvSpPr>
        <p:spPr>
          <a:xfrm>
            <a:off x="11310470" y="6334820"/>
            <a:ext cx="598245"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20</a:t>
            </a:r>
            <a:endParaRPr sz="2800" b="1" dirty="0">
              <a:solidFill>
                <a:schemeClr val="lt1"/>
              </a:solidFill>
              <a:latin typeface="Arial"/>
              <a:ea typeface="Arial"/>
              <a:cs typeface="Arial"/>
              <a:sym typeface="Arial"/>
            </a:endParaRPr>
          </a:p>
        </p:txBody>
      </p:sp>
      <p:sp>
        <p:nvSpPr>
          <p:cNvPr id="13" name="TextBox 12">
            <a:extLst>
              <a:ext uri="{FF2B5EF4-FFF2-40B4-BE49-F238E27FC236}">
                <a16:creationId xmlns:a16="http://schemas.microsoft.com/office/drawing/2014/main" id="{C7A9E707-D0C3-8DC9-0687-280E92747F64}"/>
              </a:ext>
            </a:extLst>
          </p:cNvPr>
          <p:cNvSpPr txBox="1"/>
          <p:nvPr/>
        </p:nvSpPr>
        <p:spPr>
          <a:xfrm>
            <a:off x="1330452" y="61014"/>
            <a:ext cx="5420703" cy="307777"/>
          </a:xfrm>
          <a:prstGeom prst="rect">
            <a:avLst/>
          </a:prstGeom>
          <a:noFill/>
        </p:spPr>
        <p:txBody>
          <a:bodyPr wrap="square" lIns="0" tIns="0" rIns="0" bIns="0" numCol="1" rtlCol="0">
            <a:spAutoFit/>
          </a:bodyPr>
          <a:lstStyle/>
          <a:p>
            <a:r>
              <a:rPr lang="fr-FR" sz="2000" b="1" i="1" dirty="0">
                <a:solidFill>
                  <a:schemeClr val="accent4">
                    <a:lumMod val="60000"/>
                    <a:lumOff val="40000"/>
                  </a:schemeClr>
                </a:solidFill>
                <a:effectLst>
                  <a:outerShdw blurRad="38100" dist="38100" dir="2700000" algn="tl">
                    <a:srgbClr val="000000">
                      <a:alpha val="43137"/>
                    </a:srgbClr>
                  </a:outerShdw>
                </a:effectLst>
                <a:latin typeface="Roboto" pitchFamily="2" charset="0"/>
                <a:ea typeface="Roboto" pitchFamily="2" charset="0"/>
              </a:rPr>
              <a:t>Réalisation</a:t>
            </a:r>
          </a:p>
        </p:txBody>
      </p:sp>
      <p:sp>
        <p:nvSpPr>
          <p:cNvPr id="14" name="ZoneTexte 10">
            <a:extLst>
              <a:ext uri="{FF2B5EF4-FFF2-40B4-BE49-F238E27FC236}">
                <a16:creationId xmlns:a16="http://schemas.microsoft.com/office/drawing/2014/main" id="{B04F91CB-F451-0AC4-EE0A-D415145CDFA4}"/>
              </a:ext>
            </a:extLst>
          </p:cNvPr>
          <p:cNvSpPr txBox="1"/>
          <p:nvPr/>
        </p:nvSpPr>
        <p:spPr>
          <a:xfrm>
            <a:off x="0" y="-203200"/>
            <a:ext cx="2038470" cy="1446550"/>
          </a:xfrm>
          <a:prstGeom prst="rect">
            <a:avLst/>
          </a:prstGeom>
          <a:noFill/>
        </p:spPr>
        <p:txBody>
          <a:bodyPr wrap="square">
            <a:spAutoFit/>
          </a:bodyPr>
          <a:lstStyle/>
          <a:p>
            <a:r>
              <a:rPr lang="en-US" sz="8800" dirty="0">
                <a:ln w="15875">
                  <a:solidFill>
                    <a:schemeClr val="bg1"/>
                  </a:solidFill>
                </a:ln>
                <a:noFill/>
                <a:latin typeface="Archivo Black" panose="020B0A03020202020B04" pitchFamily="34" charset="0"/>
              </a:rPr>
              <a:t>05</a:t>
            </a:r>
            <a:endParaRPr lang="en-US" sz="23900" dirty="0"/>
          </a:p>
        </p:txBody>
      </p:sp>
      <p:sp>
        <p:nvSpPr>
          <p:cNvPr id="15" name="Rectangle 14">
            <a:extLst>
              <a:ext uri="{FF2B5EF4-FFF2-40B4-BE49-F238E27FC236}">
                <a16:creationId xmlns:a16="http://schemas.microsoft.com/office/drawing/2014/main" id="{E446DD4A-7E84-BADF-D03D-7D3E877ECCEE}"/>
              </a:ext>
            </a:extLst>
          </p:cNvPr>
          <p:cNvSpPr/>
          <p:nvPr/>
        </p:nvSpPr>
        <p:spPr>
          <a:xfrm>
            <a:off x="1228135" y="57371"/>
            <a:ext cx="45719" cy="925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3" name="TextBox 2">
            <a:extLst>
              <a:ext uri="{FF2B5EF4-FFF2-40B4-BE49-F238E27FC236}">
                <a16:creationId xmlns:a16="http://schemas.microsoft.com/office/drawing/2014/main" id="{537D73D2-3F3C-9316-8E1C-FC438F9C3AA7}"/>
              </a:ext>
            </a:extLst>
          </p:cNvPr>
          <p:cNvSpPr txBox="1"/>
          <p:nvPr/>
        </p:nvSpPr>
        <p:spPr>
          <a:xfrm>
            <a:off x="2501989" y="722208"/>
            <a:ext cx="7347473" cy="584775"/>
          </a:xfrm>
          <a:prstGeom prst="rect">
            <a:avLst/>
          </a:prstGeom>
          <a:noFill/>
        </p:spPr>
        <p:txBody>
          <a:bodyPr wrap="square" rtlCol="0">
            <a:spAutoFit/>
          </a:bodyPr>
          <a:lstStyle/>
          <a:p>
            <a:pPr algn="ctr"/>
            <a:r>
              <a:rPr lang="en-GB" sz="3200" b="1" i="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Interface Utilisateur</a:t>
            </a:r>
          </a:p>
        </p:txBody>
      </p:sp>
      <p:sp>
        <p:nvSpPr>
          <p:cNvPr id="5" name="ZoneTexte 4">
            <a:extLst>
              <a:ext uri="{FF2B5EF4-FFF2-40B4-BE49-F238E27FC236}">
                <a16:creationId xmlns:a16="http://schemas.microsoft.com/office/drawing/2014/main" id="{07BDA629-819D-EFFA-3D4E-2DBF862E2D74}"/>
              </a:ext>
            </a:extLst>
          </p:cNvPr>
          <p:cNvSpPr txBox="1"/>
          <p:nvPr/>
        </p:nvSpPr>
        <p:spPr>
          <a:xfrm>
            <a:off x="440959" y="1596767"/>
            <a:ext cx="4131041" cy="369332"/>
          </a:xfrm>
          <a:prstGeom prst="rect">
            <a:avLst/>
          </a:prstGeom>
          <a:noFill/>
        </p:spPr>
        <p:txBody>
          <a:bodyPr wrap="square" rtlCol="0">
            <a:spAutoFit/>
          </a:bodyPr>
          <a:lstStyle/>
          <a:p>
            <a:pPr marL="342900" indent="-342900">
              <a:buFont typeface="+mj-lt"/>
              <a:buAutoNum type="arabicPeriod" startAt="3"/>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Page Opération Agence (Vérification)</a:t>
            </a:r>
          </a:p>
        </p:txBody>
      </p:sp>
      <p:pic>
        <p:nvPicPr>
          <p:cNvPr id="7" name="Image 6">
            <a:extLst>
              <a:ext uri="{FF2B5EF4-FFF2-40B4-BE49-F238E27FC236}">
                <a16:creationId xmlns:a16="http://schemas.microsoft.com/office/drawing/2014/main" id="{7344931F-079A-4847-6001-020DFAF8DC5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82845" y="2319516"/>
            <a:ext cx="8359649" cy="4101752"/>
          </a:xfrm>
          <a:prstGeom prst="rect">
            <a:avLst/>
          </a:prstGeom>
        </p:spPr>
      </p:pic>
    </p:spTree>
    <p:custDataLst>
      <p:tags r:id="rId1"/>
    </p:custDataLst>
    <p:extLst>
      <p:ext uri="{BB962C8B-B14F-4D97-AF65-F5344CB8AC3E}">
        <p14:creationId xmlns:p14="http://schemas.microsoft.com/office/powerpoint/2010/main" val="473881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250" fill="hold"/>
                                        <p:tgtEl>
                                          <p:spTgt spid="14"/>
                                        </p:tgtEl>
                                        <p:attrNameLst>
                                          <p:attrName>ppt_x</p:attrName>
                                        </p:attrNameLst>
                                      </p:cBhvr>
                                      <p:tavLst>
                                        <p:tav tm="0">
                                          <p:val>
                                            <p:strVal val="0-#ppt_w/2"/>
                                          </p:val>
                                        </p:tav>
                                        <p:tav tm="100000">
                                          <p:val>
                                            <p:strVal val="#ppt_x"/>
                                          </p:val>
                                        </p:tav>
                                      </p:tavLst>
                                    </p:anim>
                                    <p:anim calcmode="lin" valueType="num">
                                      <p:cBhvr additive="base">
                                        <p:cTn id="8" dur="250" fill="hold"/>
                                        <p:tgtEl>
                                          <p:spTgt spid="14"/>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2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2" presetClass="entr" presetSubtype="8"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500" fill="hold"/>
                                        <p:tgtEl>
                                          <p:spTgt spid="15"/>
                                        </p:tgtEl>
                                        <p:attrNameLst>
                                          <p:attrName>ppt_x</p:attrName>
                                        </p:attrNameLst>
                                      </p:cBhvr>
                                      <p:tavLst>
                                        <p:tav tm="0">
                                          <p:val>
                                            <p:strVal val="0-#ppt_w/2"/>
                                          </p:val>
                                        </p:tav>
                                        <p:tav tm="100000">
                                          <p:val>
                                            <p:strVal val="#ppt_x"/>
                                          </p:val>
                                        </p:tav>
                                      </p:tavLst>
                                    </p:anim>
                                    <p:anim calcmode="lin" valueType="num">
                                      <p:cBhvr additive="base">
                                        <p:cTn id="15"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553C797C-00D3-29D3-DA5B-CAAA06140B32}"/>
            </a:ext>
          </a:extLst>
        </p:cNvPr>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3F40C82F-0342-7B8C-8E30-50902B615D0B}"/>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39953597-5AA3-038D-8169-4D3D191B55E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Google Shape;273;p6">
            <a:extLst>
              <a:ext uri="{FF2B5EF4-FFF2-40B4-BE49-F238E27FC236}">
                <a16:creationId xmlns:a16="http://schemas.microsoft.com/office/drawing/2014/main" id="{BF58D34E-CBCF-47EF-B6F1-D2AEAB14F812}"/>
              </a:ext>
            </a:extLst>
          </p:cNvPr>
          <p:cNvSpPr txBox="1"/>
          <p:nvPr/>
        </p:nvSpPr>
        <p:spPr>
          <a:xfrm>
            <a:off x="11310470" y="6334820"/>
            <a:ext cx="598245"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21</a:t>
            </a:r>
            <a:endParaRPr sz="2800" b="1" dirty="0">
              <a:solidFill>
                <a:schemeClr val="lt1"/>
              </a:solidFill>
              <a:latin typeface="Arial"/>
              <a:ea typeface="Arial"/>
              <a:cs typeface="Arial"/>
              <a:sym typeface="Arial"/>
            </a:endParaRPr>
          </a:p>
        </p:txBody>
      </p:sp>
      <p:sp>
        <p:nvSpPr>
          <p:cNvPr id="13" name="TextBox 12">
            <a:extLst>
              <a:ext uri="{FF2B5EF4-FFF2-40B4-BE49-F238E27FC236}">
                <a16:creationId xmlns:a16="http://schemas.microsoft.com/office/drawing/2014/main" id="{F7CDBCED-AB88-3542-0130-59741894C4EB}"/>
              </a:ext>
            </a:extLst>
          </p:cNvPr>
          <p:cNvSpPr txBox="1"/>
          <p:nvPr/>
        </p:nvSpPr>
        <p:spPr>
          <a:xfrm>
            <a:off x="1330452" y="61014"/>
            <a:ext cx="5420703" cy="307777"/>
          </a:xfrm>
          <a:prstGeom prst="rect">
            <a:avLst/>
          </a:prstGeom>
          <a:noFill/>
        </p:spPr>
        <p:txBody>
          <a:bodyPr wrap="square" lIns="0" tIns="0" rIns="0" bIns="0" numCol="1" rtlCol="0">
            <a:spAutoFit/>
          </a:bodyPr>
          <a:lstStyle/>
          <a:p>
            <a:r>
              <a:rPr lang="fr-FR" sz="2000" b="1" i="1" dirty="0">
                <a:solidFill>
                  <a:schemeClr val="accent4">
                    <a:lumMod val="60000"/>
                    <a:lumOff val="40000"/>
                  </a:schemeClr>
                </a:solidFill>
                <a:effectLst>
                  <a:outerShdw blurRad="38100" dist="38100" dir="2700000" algn="tl">
                    <a:srgbClr val="000000">
                      <a:alpha val="43137"/>
                    </a:srgbClr>
                  </a:outerShdw>
                </a:effectLst>
                <a:latin typeface="Roboto" pitchFamily="2" charset="0"/>
                <a:ea typeface="Roboto" pitchFamily="2" charset="0"/>
              </a:rPr>
              <a:t>Réalisation</a:t>
            </a:r>
          </a:p>
        </p:txBody>
      </p:sp>
      <p:sp>
        <p:nvSpPr>
          <p:cNvPr id="14" name="ZoneTexte 10">
            <a:extLst>
              <a:ext uri="{FF2B5EF4-FFF2-40B4-BE49-F238E27FC236}">
                <a16:creationId xmlns:a16="http://schemas.microsoft.com/office/drawing/2014/main" id="{396792F0-F7AE-B5F5-220D-80F861946FB0}"/>
              </a:ext>
            </a:extLst>
          </p:cNvPr>
          <p:cNvSpPr txBox="1"/>
          <p:nvPr/>
        </p:nvSpPr>
        <p:spPr>
          <a:xfrm>
            <a:off x="0" y="-203200"/>
            <a:ext cx="2038470" cy="1446550"/>
          </a:xfrm>
          <a:prstGeom prst="rect">
            <a:avLst/>
          </a:prstGeom>
          <a:noFill/>
        </p:spPr>
        <p:txBody>
          <a:bodyPr wrap="square">
            <a:spAutoFit/>
          </a:bodyPr>
          <a:lstStyle/>
          <a:p>
            <a:r>
              <a:rPr lang="en-US" sz="8800" dirty="0">
                <a:ln w="15875">
                  <a:solidFill>
                    <a:schemeClr val="bg1"/>
                  </a:solidFill>
                </a:ln>
                <a:noFill/>
                <a:latin typeface="Archivo Black" panose="020B0A03020202020B04" pitchFamily="34" charset="0"/>
              </a:rPr>
              <a:t>05</a:t>
            </a:r>
            <a:endParaRPr lang="en-US" sz="23900" dirty="0"/>
          </a:p>
        </p:txBody>
      </p:sp>
      <p:sp>
        <p:nvSpPr>
          <p:cNvPr id="15" name="Rectangle 14">
            <a:extLst>
              <a:ext uri="{FF2B5EF4-FFF2-40B4-BE49-F238E27FC236}">
                <a16:creationId xmlns:a16="http://schemas.microsoft.com/office/drawing/2014/main" id="{AED1689D-BC2D-DE4F-4E5C-5EC0CE3C378F}"/>
              </a:ext>
            </a:extLst>
          </p:cNvPr>
          <p:cNvSpPr/>
          <p:nvPr/>
        </p:nvSpPr>
        <p:spPr>
          <a:xfrm>
            <a:off x="1228135" y="57371"/>
            <a:ext cx="45719" cy="925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3" name="TextBox 2">
            <a:extLst>
              <a:ext uri="{FF2B5EF4-FFF2-40B4-BE49-F238E27FC236}">
                <a16:creationId xmlns:a16="http://schemas.microsoft.com/office/drawing/2014/main" id="{EEDB5953-7E1B-5EB1-33D9-F238937F0CFD}"/>
              </a:ext>
            </a:extLst>
          </p:cNvPr>
          <p:cNvSpPr txBox="1"/>
          <p:nvPr/>
        </p:nvSpPr>
        <p:spPr>
          <a:xfrm>
            <a:off x="2501989" y="722208"/>
            <a:ext cx="7347473" cy="584775"/>
          </a:xfrm>
          <a:prstGeom prst="rect">
            <a:avLst/>
          </a:prstGeom>
          <a:noFill/>
        </p:spPr>
        <p:txBody>
          <a:bodyPr wrap="square" rtlCol="0">
            <a:spAutoFit/>
          </a:bodyPr>
          <a:lstStyle/>
          <a:p>
            <a:pPr algn="ctr"/>
            <a:r>
              <a:rPr lang="en-GB" sz="3200" b="1" i="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Fonctionnalités principales </a:t>
            </a:r>
          </a:p>
        </p:txBody>
      </p:sp>
      <p:sp>
        <p:nvSpPr>
          <p:cNvPr id="5" name="ZoneTexte 4">
            <a:extLst>
              <a:ext uri="{FF2B5EF4-FFF2-40B4-BE49-F238E27FC236}">
                <a16:creationId xmlns:a16="http://schemas.microsoft.com/office/drawing/2014/main" id="{82C74EC7-A337-517E-7786-A48E234A7F9D}"/>
              </a:ext>
            </a:extLst>
          </p:cNvPr>
          <p:cNvSpPr txBox="1"/>
          <p:nvPr/>
        </p:nvSpPr>
        <p:spPr>
          <a:xfrm>
            <a:off x="440959" y="1596767"/>
            <a:ext cx="5927568" cy="369332"/>
          </a:xfrm>
          <a:prstGeom prst="rect">
            <a:avLst/>
          </a:prstGeom>
          <a:noFill/>
        </p:spPr>
        <p:txBody>
          <a:bodyPr wrap="square" rtlCol="0">
            <a:spAutoFit/>
          </a:bodyPr>
          <a:lstStyle/>
          <a:p>
            <a:pPr marL="342900" indent="-342900">
              <a:buFont typeface="Arial" panose="020B0604020202020204" pitchFamily="34" charset="0"/>
              <a:buChar char="•"/>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Filtrage avancé : Recherche par code, libelle, statu, etc.</a:t>
            </a:r>
          </a:p>
        </p:txBody>
      </p:sp>
      <p:pic>
        <p:nvPicPr>
          <p:cNvPr id="4" name="Image 3">
            <a:extLst>
              <a:ext uri="{FF2B5EF4-FFF2-40B4-BE49-F238E27FC236}">
                <a16:creationId xmlns:a16="http://schemas.microsoft.com/office/drawing/2014/main" id="{65EF240A-FCFA-62C4-14AE-B80A1C8A149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366682" y="2255883"/>
            <a:ext cx="7975498" cy="4278202"/>
          </a:xfrm>
          <a:prstGeom prst="rect">
            <a:avLst/>
          </a:prstGeom>
        </p:spPr>
      </p:pic>
    </p:spTree>
    <p:custDataLst>
      <p:tags r:id="rId1"/>
    </p:custDataLst>
    <p:extLst>
      <p:ext uri="{BB962C8B-B14F-4D97-AF65-F5344CB8AC3E}">
        <p14:creationId xmlns:p14="http://schemas.microsoft.com/office/powerpoint/2010/main" val="3822771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250" fill="hold"/>
                                        <p:tgtEl>
                                          <p:spTgt spid="14"/>
                                        </p:tgtEl>
                                        <p:attrNameLst>
                                          <p:attrName>ppt_x</p:attrName>
                                        </p:attrNameLst>
                                      </p:cBhvr>
                                      <p:tavLst>
                                        <p:tav tm="0">
                                          <p:val>
                                            <p:strVal val="0-#ppt_w/2"/>
                                          </p:val>
                                        </p:tav>
                                        <p:tav tm="100000">
                                          <p:val>
                                            <p:strVal val="#ppt_x"/>
                                          </p:val>
                                        </p:tav>
                                      </p:tavLst>
                                    </p:anim>
                                    <p:anim calcmode="lin" valueType="num">
                                      <p:cBhvr additive="base">
                                        <p:cTn id="8" dur="250" fill="hold"/>
                                        <p:tgtEl>
                                          <p:spTgt spid="14"/>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2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2" presetClass="entr" presetSubtype="8"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500" fill="hold"/>
                                        <p:tgtEl>
                                          <p:spTgt spid="15"/>
                                        </p:tgtEl>
                                        <p:attrNameLst>
                                          <p:attrName>ppt_x</p:attrName>
                                        </p:attrNameLst>
                                      </p:cBhvr>
                                      <p:tavLst>
                                        <p:tav tm="0">
                                          <p:val>
                                            <p:strVal val="0-#ppt_w/2"/>
                                          </p:val>
                                        </p:tav>
                                        <p:tav tm="100000">
                                          <p:val>
                                            <p:strVal val="#ppt_x"/>
                                          </p:val>
                                        </p:tav>
                                      </p:tavLst>
                                    </p:anim>
                                    <p:anim calcmode="lin" valueType="num">
                                      <p:cBhvr additive="base">
                                        <p:cTn id="15"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0634B8A4-FB5C-C58C-BF96-DA3AB7CE8D53}"/>
            </a:ext>
          </a:extLst>
        </p:cNvPr>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0409EA4-C2E2-FE0E-92D1-79B65EEAF716}"/>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3F40C82F-0342-7B8C-8E30-50902B615D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Google Shape;273;p6">
            <a:extLst>
              <a:ext uri="{FF2B5EF4-FFF2-40B4-BE49-F238E27FC236}">
                <a16:creationId xmlns:a16="http://schemas.microsoft.com/office/drawing/2014/main" id="{5FBDA4D9-B351-AE76-7055-CF20CF735564}"/>
              </a:ext>
            </a:extLst>
          </p:cNvPr>
          <p:cNvSpPr txBox="1"/>
          <p:nvPr/>
        </p:nvSpPr>
        <p:spPr>
          <a:xfrm>
            <a:off x="11310470" y="6334820"/>
            <a:ext cx="598245"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22</a:t>
            </a:r>
            <a:endParaRPr sz="2800" b="1" dirty="0">
              <a:solidFill>
                <a:schemeClr val="lt1"/>
              </a:solidFill>
              <a:latin typeface="Arial"/>
              <a:ea typeface="Arial"/>
              <a:cs typeface="Arial"/>
              <a:sym typeface="Arial"/>
            </a:endParaRPr>
          </a:p>
        </p:txBody>
      </p:sp>
      <p:sp>
        <p:nvSpPr>
          <p:cNvPr id="13" name="TextBox 12">
            <a:extLst>
              <a:ext uri="{FF2B5EF4-FFF2-40B4-BE49-F238E27FC236}">
                <a16:creationId xmlns:a16="http://schemas.microsoft.com/office/drawing/2014/main" id="{C63A6F28-2924-08E9-6A87-2280823EDFBB}"/>
              </a:ext>
            </a:extLst>
          </p:cNvPr>
          <p:cNvSpPr txBox="1"/>
          <p:nvPr/>
        </p:nvSpPr>
        <p:spPr>
          <a:xfrm>
            <a:off x="1330452" y="61014"/>
            <a:ext cx="5420703" cy="307777"/>
          </a:xfrm>
          <a:prstGeom prst="rect">
            <a:avLst/>
          </a:prstGeom>
          <a:noFill/>
        </p:spPr>
        <p:txBody>
          <a:bodyPr wrap="square" lIns="0" tIns="0" rIns="0" bIns="0" numCol="1" rtlCol="0">
            <a:spAutoFit/>
          </a:bodyPr>
          <a:lstStyle/>
          <a:p>
            <a:r>
              <a:rPr lang="fr-FR" sz="2000" b="1" i="1" dirty="0">
                <a:solidFill>
                  <a:schemeClr val="accent4">
                    <a:lumMod val="60000"/>
                    <a:lumOff val="40000"/>
                  </a:schemeClr>
                </a:solidFill>
                <a:effectLst>
                  <a:outerShdw blurRad="38100" dist="38100" dir="2700000" algn="tl">
                    <a:srgbClr val="000000">
                      <a:alpha val="43137"/>
                    </a:srgbClr>
                  </a:outerShdw>
                </a:effectLst>
                <a:latin typeface="Roboto" pitchFamily="2" charset="0"/>
                <a:ea typeface="Roboto" pitchFamily="2" charset="0"/>
              </a:rPr>
              <a:t>Réalisation</a:t>
            </a:r>
          </a:p>
        </p:txBody>
      </p:sp>
      <p:sp>
        <p:nvSpPr>
          <p:cNvPr id="14" name="ZoneTexte 10">
            <a:extLst>
              <a:ext uri="{FF2B5EF4-FFF2-40B4-BE49-F238E27FC236}">
                <a16:creationId xmlns:a16="http://schemas.microsoft.com/office/drawing/2014/main" id="{D8A9DCBC-6CED-0DA5-05EA-A9BEE82055CD}"/>
              </a:ext>
            </a:extLst>
          </p:cNvPr>
          <p:cNvSpPr txBox="1"/>
          <p:nvPr/>
        </p:nvSpPr>
        <p:spPr>
          <a:xfrm>
            <a:off x="0" y="-203200"/>
            <a:ext cx="2038470" cy="1446550"/>
          </a:xfrm>
          <a:prstGeom prst="rect">
            <a:avLst/>
          </a:prstGeom>
          <a:noFill/>
        </p:spPr>
        <p:txBody>
          <a:bodyPr wrap="square">
            <a:spAutoFit/>
          </a:bodyPr>
          <a:lstStyle/>
          <a:p>
            <a:r>
              <a:rPr lang="en-US" sz="8800" dirty="0">
                <a:ln w="15875">
                  <a:solidFill>
                    <a:schemeClr val="bg1"/>
                  </a:solidFill>
                </a:ln>
                <a:noFill/>
                <a:latin typeface="Archivo Black" panose="020B0A03020202020B04" pitchFamily="34" charset="0"/>
              </a:rPr>
              <a:t>05</a:t>
            </a:r>
            <a:endParaRPr lang="en-US" sz="23900" dirty="0"/>
          </a:p>
        </p:txBody>
      </p:sp>
      <p:sp>
        <p:nvSpPr>
          <p:cNvPr id="15" name="Rectangle 14">
            <a:extLst>
              <a:ext uri="{FF2B5EF4-FFF2-40B4-BE49-F238E27FC236}">
                <a16:creationId xmlns:a16="http://schemas.microsoft.com/office/drawing/2014/main" id="{E518FA26-F159-14C7-7CB6-F818C7B375E8}"/>
              </a:ext>
            </a:extLst>
          </p:cNvPr>
          <p:cNvSpPr/>
          <p:nvPr/>
        </p:nvSpPr>
        <p:spPr>
          <a:xfrm>
            <a:off x="1228135" y="57371"/>
            <a:ext cx="45719" cy="925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3" name="TextBox 2">
            <a:extLst>
              <a:ext uri="{FF2B5EF4-FFF2-40B4-BE49-F238E27FC236}">
                <a16:creationId xmlns:a16="http://schemas.microsoft.com/office/drawing/2014/main" id="{9C746CC8-6E81-C031-EF94-5DBE80E0E524}"/>
              </a:ext>
            </a:extLst>
          </p:cNvPr>
          <p:cNvSpPr txBox="1"/>
          <p:nvPr/>
        </p:nvSpPr>
        <p:spPr>
          <a:xfrm>
            <a:off x="2501989" y="722208"/>
            <a:ext cx="7347473" cy="584775"/>
          </a:xfrm>
          <a:prstGeom prst="rect">
            <a:avLst/>
          </a:prstGeom>
          <a:noFill/>
        </p:spPr>
        <p:txBody>
          <a:bodyPr wrap="square" rtlCol="0">
            <a:spAutoFit/>
          </a:bodyPr>
          <a:lstStyle/>
          <a:p>
            <a:pPr algn="ctr"/>
            <a:r>
              <a:rPr lang="en-GB" sz="3200" b="1" i="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Fonctionnalités principales </a:t>
            </a:r>
          </a:p>
        </p:txBody>
      </p:sp>
      <p:sp>
        <p:nvSpPr>
          <p:cNvPr id="5" name="ZoneTexte 4">
            <a:extLst>
              <a:ext uri="{FF2B5EF4-FFF2-40B4-BE49-F238E27FC236}">
                <a16:creationId xmlns:a16="http://schemas.microsoft.com/office/drawing/2014/main" id="{78E62519-BC0C-D410-4842-AD6263FC7BB3}"/>
              </a:ext>
            </a:extLst>
          </p:cNvPr>
          <p:cNvSpPr txBox="1"/>
          <p:nvPr/>
        </p:nvSpPr>
        <p:spPr>
          <a:xfrm>
            <a:off x="440958" y="1596767"/>
            <a:ext cx="9875625" cy="923330"/>
          </a:xfrm>
          <a:prstGeom prst="rect">
            <a:avLst/>
          </a:prstGeom>
          <a:noFill/>
        </p:spPr>
        <p:txBody>
          <a:bodyPr wrap="square" rtlCol="0">
            <a:spAutoFit/>
          </a:bodyPr>
          <a:lstStyle/>
          <a:p>
            <a:pPr marL="342900" indent="-342900">
              <a:buFont typeface="Arial" panose="020B0604020202020204" pitchFamily="34" charset="0"/>
              <a:buChar char="•"/>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Barre latérale adaptative :</a:t>
            </a:r>
          </a:p>
          <a:p>
            <a:pPr marL="800100" lvl="1" indent="-342900">
              <a:buFont typeface="Arial" panose="020B0604020202020204" pitchFamily="34" charset="0"/>
              <a:buChar char="•"/>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Affichage dynamique selon l'espace disponible.</a:t>
            </a:r>
          </a:p>
          <a:p>
            <a:pPr marL="800100" lvl="1" indent="-342900">
              <a:buFont typeface="Arial" panose="020B0604020202020204" pitchFamily="34" charset="0"/>
              <a:buChar char="•"/>
            </a:pPr>
            <a:r>
              <a:rPr lang="fr-FR"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Permet de masquer/afficher la navigation pour maximiser l'espace de contenu.</a:t>
            </a:r>
          </a:p>
        </p:txBody>
      </p:sp>
      <p:pic>
        <p:nvPicPr>
          <p:cNvPr id="11" name="Image 10">
            <a:extLst>
              <a:ext uri="{FF2B5EF4-FFF2-40B4-BE49-F238E27FC236}">
                <a16:creationId xmlns:a16="http://schemas.microsoft.com/office/drawing/2014/main" id="{729BBEF1-F8C8-CF80-A1BC-895562FDDA7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323652" y="2809881"/>
            <a:ext cx="7229139" cy="3716767"/>
          </a:xfrm>
          <a:prstGeom prst="rect">
            <a:avLst/>
          </a:prstGeom>
        </p:spPr>
      </p:pic>
    </p:spTree>
    <p:custDataLst>
      <p:tags r:id="rId1"/>
    </p:custDataLst>
    <p:extLst>
      <p:ext uri="{BB962C8B-B14F-4D97-AF65-F5344CB8AC3E}">
        <p14:creationId xmlns:p14="http://schemas.microsoft.com/office/powerpoint/2010/main" val="1052135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250" fill="hold"/>
                                        <p:tgtEl>
                                          <p:spTgt spid="14"/>
                                        </p:tgtEl>
                                        <p:attrNameLst>
                                          <p:attrName>ppt_x</p:attrName>
                                        </p:attrNameLst>
                                      </p:cBhvr>
                                      <p:tavLst>
                                        <p:tav tm="0">
                                          <p:val>
                                            <p:strVal val="0-#ppt_w/2"/>
                                          </p:val>
                                        </p:tav>
                                        <p:tav tm="100000">
                                          <p:val>
                                            <p:strVal val="#ppt_x"/>
                                          </p:val>
                                        </p:tav>
                                      </p:tavLst>
                                    </p:anim>
                                    <p:anim calcmode="lin" valueType="num">
                                      <p:cBhvr additive="base">
                                        <p:cTn id="8" dur="250" fill="hold"/>
                                        <p:tgtEl>
                                          <p:spTgt spid="14"/>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2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2" presetClass="entr" presetSubtype="8"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500" fill="hold"/>
                                        <p:tgtEl>
                                          <p:spTgt spid="15"/>
                                        </p:tgtEl>
                                        <p:attrNameLst>
                                          <p:attrName>ppt_x</p:attrName>
                                        </p:attrNameLst>
                                      </p:cBhvr>
                                      <p:tavLst>
                                        <p:tav tm="0">
                                          <p:val>
                                            <p:strVal val="0-#ppt_w/2"/>
                                          </p:val>
                                        </p:tav>
                                        <p:tav tm="100000">
                                          <p:val>
                                            <p:strVal val="#ppt_x"/>
                                          </p:val>
                                        </p:tav>
                                      </p:tavLst>
                                    </p:anim>
                                    <p:anim calcmode="lin" valueType="num">
                                      <p:cBhvr additive="base">
                                        <p:cTn id="15"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18B07EE-A45E-4446-A223-5B883B13E13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1">
            <a:extLst>
              <a:ext uri="{FF2B5EF4-FFF2-40B4-BE49-F238E27FC236}">
                <a16:creationId xmlns:a16="http://schemas.microsoft.com/office/drawing/2014/main" id="{226F08B3-37B7-4D5C-80DD-85ECEA54CD23}"/>
              </a:ext>
            </a:extLst>
          </p:cNvPr>
          <p:cNvSpPr/>
          <p:nvPr/>
        </p:nvSpPr>
        <p:spPr>
          <a:xfrm>
            <a:off x="1302486" y="106003"/>
            <a:ext cx="4765335" cy="130281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9" name="Google Shape;273;p6">
            <a:extLst>
              <a:ext uri="{FF2B5EF4-FFF2-40B4-BE49-F238E27FC236}">
                <a16:creationId xmlns:a16="http://schemas.microsoft.com/office/drawing/2014/main" id="{DF96BD00-6CD7-4059-8BD7-8941C2BA6F76}"/>
              </a:ext>
            </a:extLst>
          </p:cNvPr>
          <p:cNvSpPr txBox="1"/>
          <p:nvPr/>
        </p:nvSpPr>
        <p:spPr>
          <a:xfrm>
            <a:off x="11310470" y="6334820"/>
            <a:ext cx="598245"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23</a:t>
            </a:r>
            <a:endParaRPr sz="2800" b="1" dirty="0">
              <a:solidFill>
                <a:schemeClr val="lt1"/>
              </a:solidFill>
              <a:latin typeface="Arial"/>
              <a:ea typeface="Arial"/>
              <a:cs typeface="Arial"/>
              <a:sym typeface="Arial"/>
            </a:endParaRPr>
          </a:p>
        </p:txBody>
      </p:sp>
      <p:sp>
        <p:nvSpPr>
          <p:cNvPr id="13" name="TextBox 12">
            <a:extLst>
              <a:ext uri="{FF2B5EF4-FFF2-40B4-BE49-F238E27FC236}">
                <a16:creationId xmlns:a16="http://schemas.microsoft.com/office/drawing/2014/main" id="{DE30A805-FFA4-4D05-B749-50CDCA581BD4}"/>
              </a:ext>
            </a:extLst>
          </p:cNvPr>
          <p:cNvSpPr txBox="1"/>
          <p:nvPr/>
        </p:nvSpPr>
        <p:spPr>
          <a:xfrm>
            <a:off x="1330452" y="61014"/>
            <a:ext cx="5420703" cy="307777"/>
          </a:xfrm>
          <a:prstGeom prst="rect">
            <a:avLst/>
          </a:prstGeom>
          <a:noFill/>
        </p:spPr>
        <p:txBody>
          <a:bodyPr wrap="square" lIns="0" tIns="0" rIns="0" bIns="0" numCol="1" rtlCol="0">
            <a:spAutoFit/>
          </a:bodyPr>
          <a:lstStyle/>
          <a:p>
            <a:r>
              <a:rPr lang="fr-FR" sz="2000" b="1" i="1" dirty="0">
                <a:solidFill>
                  <a:schemeClr val="accent4">
                    <a:lumMod val="60000"/>
                    <a:lumOff val="40000"/>
                  </a:schemeClr>
                </a:solidFill>
                <a:effectLst>
                  <a:outerShdw blurRad="38100" dist="38100" dir="2700000" algn="tl">
                    <a:srgbClr val="000000">
                      <a:alpha val="43137"/>
                    </a:srgbClr>
                  </a:outerShdw>
                </a:effectLst>
                <a:latin typeface="Roboto" pitchFamily="2" charset="0"/>
                <a:ea typeface="Roboto" pitchFamily="2" charset="0"/>
              </a:rPr>
              <a:t>Réalisation</a:t>
            </a:r>
          </a:p>
        </p:txBody>
      </p:sp>
      <p:sp>
        <p:nvSpPr>
          <p:cNvPr id="14" name="ZoneTexte 10">
            <a:extLst>
              <a:ext uri="{FF2B5EF4-FFF2-40B4-BE49-F238E27FC236}">
                <a16:creationId xmlns:a16="http://schemas.microsoft.com/office/drawing/2014/main" id="{4888D239-8937-4BC5-B9B7-40FC25D8535B}"/>
              </a:ext>
            </a:extLst>
          </p:cNvPr>
          <p:cNvSpPr txBox="1"/>
          <p:nvPr/>
        </p:nvSpPr>
        <p:spPr>
          <a:xfrm>
            <a:off x="0" y="-203200"/>
            <a:ext cx="2038470" cy="1446550"/>
          </a:xfrm>
          <a:prstGeom prst="rect">
            <a:avLst/>
          </a:prstGeom>
          <a:noFill/>
        </p:spPr>
        <p:txBody>
          <a:bodyPr wrap="square">
            <a:spAutoFit/>
          </a:bodyPr>
          <a:lstStyle/>
          <a:p>
            <a:r>
              <a:rPr lang="en-US" sz="8800" dirty="0">
                <a:ln w="15875">
                  <a:solidFill>
                    <a:schemeClr val="bg1"/>
                  </a:solidFill>
                </a:ln>
                <a:noFill/>
                <a:latin typeface="Archivo Black" panose="020B0A03020202020B04" pitchFamily="34" charset="0"/>
              </a:rPr>
              <a:t>05</a:t>
            </a:r>
            <a:endParaRPr lang="en-US" sz="23900" dirty="0"/>
          </a:p>
        </p:txBody>
      </p:sp>
      <p:sp>
        <p:nvSpPr>
          <p:cNvPr id="15" name="Rectangle 14">
            <a:extLst>
              <a:ext uri="{FF2B5EF4-FFF2-40B4-BE49-F238E27FC236}">
                <a16:creationId xmlns:a16="http://schemas.microsoft.com/office/drawing/2014/main" id="{74B22BB3-5E5B-40BE-8D7B-1E0E11F4DDCD}"/>
              </a:ext>
            </a:extLst>
          </p:cNvPr>
          <p:cNvSpPr/>
          <p:nvPr/>
        </p:nvSpPr>
        <p:spPr>
          <a:xfrm>
            <a:off x="1228135" y="57371"/>
            <a:ext cx="45719" cy="925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3" name="TextBox 2">
            <a:extLst>
              <a:ext uri="{FF2B5EF4-FFF2-40B4-BE49-F238E27FC236}">
                <a16:creationId xmlns:a16="http://schemas.microsoft.com/office/drawing/2014/main" id="{20E2727E-1AAF-4B3C-9E81-8B58CF72C516}"/>
              </a:ext>
            </a:extLst>
          </p:cNvPr>
          <p:cNvSpPr txBox="1"/>
          <p:nvPr/>
        </p:nvSpPr>
        <p:spPr>
          <a:xfrm>
            <a:off x="3340956" y="750303"/>
            <a:ext cx="5626250" cy="584775"/>
          </a:xfrm>
          <a:prstGeom prst="rect">
            <a:avLst/>
          </a:prstGeom>
          <a:noFill/>
        </p:spPr>
        <p:txBody>
          <a:bodyPr wrap="square" rtlCol="0">
            <a:spAutoFit/>
          </a:bodyPr>
          <a:lstStyle/>
          <a:p>
            <a:pPr algn="ctr"/>
            <a:r>
              <a:rPr lang="en-GB" sz="32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Environnement Technique</a:t>
            </a:r>
          </a:p>
        </p:txBody>
      </p:sp>
      <p:pic>
        <p:nvPicPr>
          <p:cNvPr id="24" name="Picture 14">
            <a:extLst>
              <a:ext uri="{FF2B5EF4-FFF2-40B4-BE49-F238E27FC236}">
                <a16:creationId xmlns:a16="http://schemas.microsoft.com/office/drawing/2014/main" id="{608ECB79-0F30-0E62-73CD-4BE63E1552A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94332" y="4790525"/>
            <a:ext cx="1578773" cy="827460"/>
          </a:xfrm>
          <a:prstGeom prst="rect">
            <a:avLst/>
          </a:prstGeom>
          <a:noFill/>
          <a:extLst>
            <a:ext uri="{909E8E84-426E-40DD-AFC4-6F175D3DCCD1}">
              <a14:hiddenFill xmlns:a14="http://schemas.microsoft.com/office/drawing/2010/main">
                <a:solidFill>
                  <a:srgbClr val="FFFFFF"/>
                </a:solidFill>
              </a14:hiddenFill>
            </a:ext>
          </a:extLst>
        </p:spPr>
      </p:pic>
      <p:pic>
        <p:nvPicPr>
          <p:cNvPr id="26" name="Image 25">
            <a:extLst>
              <a:ext uri="{FF2B5EF4-FFF2-40B4-BE49-F238E27FC236}">
                <a16:creationId xmlns:a16="http://schemas.microsoft.com/office/drawing/2014/main" id="{B8DB5F0F-ED19-FD58-84BF-3169FD45B80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813167" y="4632501"/>
            <a:ext cx="1087812" cy="932809"/>
          </a:xfrm>
          <a:prstGeom prst="rect">
            <a:avLst/>
          </a:prstGeom>
        </p:spPr>
      </p:pic>
      <p:cxnSp>
        <p:nvCxnSpPr>
          <p:cNvPr id="27" name="Connecteur droit 26">
            <a:extLst>
              <a:ext uri="{FF2B5EF4-FFF2-40B4-BE49-F238E27FC236}">
                <a16:creationId xmlns:a16="http://schemas.microsoft.com/office/drawing/2014/main" id="{812C621B-EB4A-4BC3-B91B-130AFFFD2083}"/>
              </a:ext>
            </a:extLst>
          </p:cNvPr>
          <p:cNvCxnSpPr>
            <a:cxnSpLocks/>
          </p:cNvCxnSpPr>
          <p:nvPr/>
        </p:nvCxnSpPr>
        <p:spPr>
          <a:xfrm>
            <a:off x="3357073" y="3151599"/>
            <a:ext cx="5907546" cy="0"/>
          </a:xfrm>
          <a:prstGeom prst="line">
            <a:avLst/>
          </a:prstGeom>
          <a:noFill/>
          <a:ln w="38100" cap="flat" cmpd="sng" algn="ctr">
            <a:solidFill>
              <a:srgbClr val="000000"/>
            </a:solidFill>
            <a:prstDash val="solid"/>
          </a:ln>
          <a:effectLst>
            <a:outerShdw blurRad="40000" dist="23000" dir="5400000" rotWithShape="0">
              <a:srgbClr val="000000">
                <a:alpha val="35000"/>
              </a:srgbClr>
            </a:outerShdw>
          </a:effectLst>
        </p:spPr>
      </p:cxnSp>
      <p:cxnSp>
        <p:nvCxnSpPr>
          <p:cNvPr id="28" name="Connecteur droit 27">
            <a:extLst>
              <a:ext uri="{FF2B5EF4-FFF2-40B4-BE49-F238E27FC236}">
                <a16:creationId xmlns:a16="http://schemas.microsoft.com/office/drawing/2014/main" id="{DA55B14A-89CC-01C4-4897-82873DDBCF54}"/>
              </a:ext>
            </a:extLst>
          </p:cNvPr>
          <p:cNvCxnSpPr>
            <a:cxnSpLocks/>
            <a:endCxn id="26" idx="0"/>
          </p:cNvCxnSpPr>
          <p:nvPr/>
        </p:nvCxnSpPr>
        <p:spPr>
          <a:xfrm>
            <a:off x="3357073" y="3151599"/>
            <a:ext cx="0" cy="1480902"/>
          </a:xfrm>
          <a:prstGeom prst="line">
            <a:avLst/>
          </a:prstGeom>
          <a:noFill/>
          <a:ln w="38100" cap="flat" cmpd="sng" algn="ctr">
            <a:solidFill>
              <a:srgbClr val="000000"/>
            </a:solidFill>
            <a:prstDash val="solid"/>
            <a:tailEnd type="triangle"/>
          </a:ln>
          <a:effectLst>
            <a:outerShdw blurRad="40000" dist="23000" dir="5400000" rotWithShape="0">
              <a:srgbClr val="000000">
                <a:alpha val="35000"/>
              </a:srgbClr>
            </a:outerShdw>
          </a:effectLst>
        </p:spPr>
      </p:cxnSp>
      <p:cxnSp>
        <p:nvCxnSpPr>
          <p:cNvPr id="29" name="Connecteur droit 28">
            <a:extLst>
              <a:ext uri="{FF2B5EF4-FFF2-40B4-BE49-F238E27FC236}">
                <a16:creationId xmlns:a16="http://schemas.microsoft.com/office/drawing/2014/main" id="{CFFDF99D-2506-5520-2486-BE1BE3B416AE}"/>
              </a:ext>
            </a:extLst>
          </p:cNvPr>
          <p:cNvCxnSpPr>
            <a:cxnSpLocks/>
          </p:cNvCxnSpPr>
          <p:nvPr/>
        </p:nvCxnSpPr>
        <p:spPr>
          <a:xfrm>
            <a:off x="5321994" y="3170668"/>
            <a:ext cx="0" cy="1548945"/>
          </a:xfrm>
          <a:prstGeom prst="line">
            <a:avLst/>
          </a:prstGeom>
          <a:noFill/>
          <a:ln w="38100" cap="flat" cmpd="sng" algn="ctr">
            <a:solidFill>
              <a:srgbClr val="000000"/>
            </a:solidFill>
            <a:prstDash val="solid"/>
            <a:tailEnd type="triangle"/>
          </a:ln>
          <a:effectLst>
            <a:outerShdw blurRad="40000" dist="23000" dir="5400000" rotWithShape="0">
              <a:srgbClr val="000000">
                <a:alpha val="35000"/>
              </a:srgbClr>
            </a:outerShdw>
          </a:effectLst>
        </p:spPr>
      </p:cxnSp>
      <p:cxnSp>
        <p:nvCxnSpPr>
          <p:cNvPr id="30" name="Connecteur droit 29">
            <a:extLst>
              <a:ext uri="{FF2B5EF4-FFF2-40B4-BE49-F238E27FC236}">
                <a16:creationId xmlns:a16="http://schemas.microsoft.com/office/drawing/2014/main" id="{097AC6AB-C537-16A3-8828-F027D835C2ED}"/>
              </a:ext>
            </a:extLst>
          </p:cNvPr>
          <p:cNvCxnSpPr/>
          <p:nvPr/>
        </p:nvCxnSpPr>
        <p:spPr>
          <a:xfrm>
            <a:off x="7483303" y="3151599"/>
            <a:ext cx="41671" cy="1568015"/>
          </a:xfrm>
          <a:prstGeom prst="line">
            <a:avLst/>
          </a:prstGeom>
          <a:noFill/>
          <a:ln w="38100" cap="flat" cmpd="sng" algn="ctr">
            <a:solidFill>
              <a:srgbClr val="000000"/>
            </a:solidFill>
            <a:prstDash val="solid"/>
            <a:tailEnd type="triangle"/>
          </a:ln>
          <a:effectLst>
            <a:outerShdw blurRad="40000" dist="23000" dir="5400000" rotWithShape="0">
              <a:srgbClr val="000000">
                <a:alpha val="35000"/>
              </a:srgbClr>
            </a:outerShdw>
          </a:effectLst>
        </p:spPr>
      </p:cxnSp>
      <p:cxnSp>
        <p:nvCxnSpPr>
          <p:cNvPr id="31" name="Connecteur droit 30">
            <a:extLst>
              <a:ext uri="{FF2B5EF4-FFF2-40B4-BE49-F238E27FC236}">
                <a16:creationId xmlns:a16="http://schemas.microsoft.com/office/drawing/2014/main" id="{E3770AEA-D47B-1CFA-5997-9C50D8AC9D9A}"/>
              </a:ext>
            </a:extLst>
          </p:cNvPr>
          <p:cNvCxnSpPr>
            <a:cxnSpLocks/>
          </p:cNvCxnSpPr>
          <p:nvPr/>
        </p:nvCxnSpPr>
        <p:spPr>
          <a:xfrm>
            <a:off x="9264619" y="3151599"/>
            <a:ext cx="0" cy="1568014"/>
          </a:xfrm>
          <a:prstGeom prst="line">
            <a:avLst/>
          </a:prstGeom>
          <a:noFill/>
          <a:ln w="38100" cap="flat" cmpd="sng" algn="ctr">
            <a:solidFill>
              <a:srgbClr val="000000"/>
            </a:solidFill>
            <a:prstDash val="solid"/>
            <a:tailEnd type="triangle"/>
          </a:ln>
          <a:effectLst>
            <a:outerShdw blurRad="40000" dist="23000" dir="5400000" rotWithShape="0">
              <a:srgbClr val="000000">
                <a:alpha val="35000"/>
              </a:srgbClr>
            </a:outerShdw>
          </a:effectLst>
        </p:spPr>
      </p:cxnSp>
      <p:sp>
        <p:nvSpPr>
          <p:cNvPr id="32" name="Google Shape;528;p24">
            <a:extLst>
              <a:ext uri="{FF2B5EF4-FFF2-40B4-BE49-F238E27FC236}">
                <a16:creationId xmlns:a16="http://schemas.microsoft.com/office/drawing/2014/main" id="{1CD77B83-42CA-DE68-ED44-D433B51502A8}"/>
              </a:ext>
            </a:extLst>
          </p:cNvPr>
          <p:cNvSpPr txBox="1">
            <a:spLocks/>
          </p:cNvSpPr>
          <p:nvPr/>
        </p:nvSpPr>
        <p:spPr>
          <a:xfrm>
            <a:off x="225239" y="1670698"/>
            <a:ext cx="3249473" cy="440878"/>
          </a:xfrm>
          <a:prstGeom prst="roundRect">
            <a:avLst/>
          </a:prstGeom>
          <a:solidFill>
            <a:srgbClr val="9AD3E9"/>
          </a:solidFill>
          <a:ln w="38100" cap="flat" cmpd="sng" algn="ctr">
            <a:solidFill>
              <a:srgbClr val="FFFFFF"/>
            </a:solidFill>
            <a:prstDash val="solid"/>
          </a:ln>
          <a:effectLst>
            <a:outerShdw blurRad="40000" dist="20000" dir="5400000" rotWithShape="0">
              <a:srgbClr val="000000">
                <a:alpha val="38000"/>
              </a:srgbClr>
            </a:outerShdw>
          </a:effectLst>
        </p:spPr>
        <p:txBody>
          <a:bodyPr spcFirstLastPara="1" wrap="square" lIns="91425" tIns="45700" rIns="91425" bIns="45700" anchor="b"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lvl="0" indent="0" algn="ctr">
              <a:spcBef>
                <a:spcPts val="0"/>
              </a:spcBef>
              <a:buClr>
                <a:srgbClr val="FFFFFF"/>
              </a:buClr>
              <a:buSzPts val="2200"/>
              <a:buNone/>
            </a:pPr>
            <a:r>
              <a:rPr lang="fr-FR" sz="1800" dirty="0">
                <a:solidFill>
                  <a:srgbClr val="FFFFFF"/>
                </a:solidFill>
                <a:latin typeface="Times New Roman" panose="02020603050405020304" pitchFamily="18" charset="0"/>
                <a:cs typeface="Times New Roman" panose="02020603050405020304" pitchFamily="18" charset="0"/>
              </a:rPr>
              <a:t>Langages de développement </a:t>
            </a:r>
          </a:p>
        </p:txBody>
      </p:sp>
      <p:pic>
        <p:nvPicPr>
          <p:cNvPr id="20" name="Picture 12">
            <a:extLst>
              <a:ext uri="{FF2B5EF4-FFF2-40B4-BE49-F238E27FC236}">
                <a16:creationId xmlns:a16="http://schemas.microsoft.com/office/drawing/2014/main" id="{40D4AC42-E4F2-E731-3D44-77535B4AE6A2}"/>
              </a:ext>
            </a:extLst>
          </p:cNvPr>
          <p:cNvPicPr>
            <a:picLocks noChangeAspect="1" noChangeArrowheads="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a:stretch/>
        </p:blipFill>
        <p:spPr bwMode="auto">
          <a:xfrm>
            <a:off x="4347938" y="4528532"/>
            <a:ext cx="2148629" cy="1305717"/>
          </a:xfrm>
          <a:prstGeom prst="rect">
            <a:avLst/>
          </a:prstGeom>
          <a:noFill/>
          <a:extLst>
            <a:ext uri="{909E8E84-426E-40DD-AFC4-6F175D3DCCD1}">
              <a14:hiddenFill xmlns:a14="http://schemas.microsoft.com/office/drawing/2010/main">
                <a:solidFill>
                  <a:srgbClr val="FFFFFF"/>
                </a:solidFill>
              </a14:hiddenFill>
            </a:ext>
          </a:extLst>
        </p:spPr>
      </p:pic>
      <p:pic>
        <p:nvPicPr>
          <p:cNvPr id="22" name="Image 21">
            <a:extLst>
              <a:ext uri="{FF2B5EF4-FFF2-40B4-BE49-F238E27FC236}">
                <a16:creationId xmlns:a16="http://schemas.microsoft.com/office/drawing/2014/main" id="{6558F4A3-01E9-3F70-8A55-D1BC714F8A5E}"/>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a:stretch/>
        </p:blipFill>
        <p:spPr>
          <a:xfrm>
            <a:off x="7040474" y="4719613"/>
            <a:ext cx="984036" cy="1068000"/>
          </a:xfrm>
          <a:prstGeom prst="rect">
            <a:avLst/>
          </a:prstGeom>
        </p:spPr>
      </p:pic>
    </p:spTree>
    <p:custDataLst>
      <p:tags r:id="rId1"/>
    </p:custDataLst>
    <p:extLst>
      <p:ext uri="{BB962C8B-B14F-4D97-AF65-F5344CB8AC3E}">
        <p14:creationId xmlns:p14="http://schemas.microsoft.com/office/powerpoint/2010/main" val="315237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250" fill="hold"/>
                                        <p:tgtEl>
                                          <p:spTgt spid="14"/>
                                        </p:tgtEl>
                                        <p:attrNameLst>
                                          <p:attrName>ppt_x</p:attrName>
                                        </p:attrNameLst>
                                      </p:cBhvr>
                                      <p:tavLst>
                                        <p:tav tm="0">
                                          <p:val>
                                            <p:strVal val="0-#ppt_w/2"/>
                                          </p:val>
                                        </p:tav>
                                        <p:tav tm="100000">
                                          <p:val>
                                            <p:strVal val="#ppt_x"/>
                                          </p:val>
                                        </p:tav>
                                      </p:tavLst>
                                    </p:anim>
                                    <p:anim calcmode="lin" valueType="num">
                                      <p:cBhvr additive="base">
                                        <p:cTn id="8" dur="250" fill="hold"/>
                                        <p:tgtEl>
                                          <p:spTgt spid="14"/>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2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2" presetClass="entr" presetSubtype="8"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500" fill="hold"/>
                                        <p:tgtEl>
                                          <p:spTgt spid="15"/>
                                        </p:tgtEl>
                                        <p:attrNameLst>
                                          <p:attrName>ppt_x</p:attrName>
                                        </p:attrNameLst>
                                      </p:cBhvr>
                                      <p:tavLst>
                                        <p:tav tm="0">
                                          <p:val>
                                            <p:strVal val="0-#ppt_w/2"/>
                                          </p:val>
                                        </p:tav>
                                        <p:tav tm="100000">
                                          <p:val>
                                            <p:strVal val="#ppt_x"/>
                                          </p:val>
                                        </p:tav>
                                      </p:tavLst>
                                    </p:anim>
                                    <p:anim calcmode="lin" valueType="num">
                                      <p:cBhvr additive="base">
                                        <p:cTn id="15" dur="500" fill="hold"/>
                                        <p:tgtEl>
                                          <p:spTgt spid="15"/>
                                        </p:tgtEl>
                                        <p:attrNameLst>
                                          <p:attrName>ppt_y</p:attrName>
                                        </p:attrNameLst>
                                      </p:cBhvr>
                                      <p:tavLst>
                                        <p:tav tm="0">
                                          <p:val>
                                            <p:strVal val="#ppt_y"/>
                                          </p:val>
                                        </p:tav>
                                        <p:tav tm="100000">
                                          <p:val>
                                            <p:strVal val="#ppt_y"/>
                                          </p:val>
                                        </p:tav>
                                      </p:tavLst>
                                    </p:anim>
                                  </p:childTnLst>
                                </p:cTn>
                              </p:par>
                              <p:par>
                                <p:cTn id="16" presetID="10" presetClass="entr" presetSubtype="0" fill="hold" nodeType="withEffect">
                                  <p:stCondLst>
                                    <p:cond delay="25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500"/>
                                        <p:tgtEl>
                                          <p:spTgt spid="27"/>
                                        </p:tgtEl>
                                      </p:cBhvr>
                                    </p:animEffect>
                                  </p:childTnLst>
                                </p:cTn>
                              </p:par>
                              <p:par>
                                <p:cTn id="19" presetID="10" presetClass="entr" presetSubtype="0" fill="hold" nodeType="withEffect">
                                  <p:stCondLst>
                                    <p:cond delay="25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par>
                                <p:cTn id="22" presetID="10" presetClass="entr" presetSubtype="0" fill="hold" nodeType="withEffect">
                                  <p:stCondLst>
                                    <p:cond delay="25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500"/>
                                        <p:tgtEl>
                                          <p:spTgt spid="29"/>
                                        </p:tgtEl>
                                      </p:cBhvr>
                                    </p:animEffect>
                                  </p:childTnLst>
                                </p:cTn>
                              </p:par>
                              <p:par>
                                <p:cTn id="25" presetID="10" presetClass="entr" presetSubtype="0" fill="hold" nodeType="withEffect">
                                  <p:stCondLst>
                                    <p:cond delay="25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par>
                                <p:cTn id="28" presetID="10" presetClass="entr" presetSubtype="0" fill="hold" nodeType="withEffect">
                                  <p:stCondLst>
                                    <p:cond delay="25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500"/>
                                        <p:tgtEl>
                                          <p:spTgt spid="31"/>
                                        </p:tgtEl>
                                      </p:cBhvr>
                                    </p:animEffect>
                                  </p:childTnLst>
                                </p:cTn>
                              </p:par>
                            </p:childTnLst>
                          </p:cTn>
                        </p:par>
                        <p:par>
                          <p:cTn id="31" fill="hold">
                            <p:stCondLst>
                              <p:cond delay="750"/>
                            </p:stCondLst>
                            <p:childTnLst>
                              <p:par>
                                <p:cTn id="32" presetID="10" presetClass="entr" presetSubtype="0" fill="hold" nodeType="afterEffect">
                                  <p:stCondLst>
                                    <p:cond delay="50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500"/>
                                        <p:tgtEl>
                                          <p:spTgt spid="26"/>
                                        </p:tgtEl>
                                      </p:cBhvr>
                                    </p:animEffect>
                                  </p:childTnLst>
                                </p:cTn>
                              </p:par>
                            </p:childTnLst>
                          </p:cTn>
                        </p:par>
                        <p:par>
                          <p:cTn id="35" fill="hold">
                            <p:stCondLst>
                              <p:cond delay="1750"/>
                            </p:stCondLst>
                            <p:childTnLst>
                              <p:par>
                                <p:cTn id="36" presetID="10" presetClass="entr" presetSubtype="0" fill="hold" nodeType="afterEffect">
                                  <p:stCondLst>
                                    <p:cond delay="50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500"/>
                                        <p:tgtEl>
                                          <p:spTgt spid="24"/>
                                        </p:tgtEl>
                                      </p:cBhvr>
                                    </p:animEffect>
                                  </p:childTnLst>
                                </p:cTn>
                              </p:par>
                            </p:childTnLst>
                          </p:cTn>
                        </p:par>
                        <p:par>
                          <p:cTn id="39" fill="hold">
                            <p:stCondLst>
                              <p:cond delay="2750"/>
                            </p:stCondLst>
                            <p:childTnLst>
                              <p:par>
                                <p:cTn id="40" presetID="16" presetClass="entr" presetSubtype="21" fill="hold" grpId="0" nodeType="afterEffect">
                                  <p:stCondLst>
                                    <p:cond delay="500"/>
                                  </p:stCondLst>
                                  <p:childTnLst>
                                    <p:set>
                                      <p:cBhvr>
                                        <p:cTn id="41" dur="1" fill="hold">
                                          <p:stCondLst>
                                            <p:cond delay="0"/>
                                          </p:stCondLst>
                                        </p:cTn>
                                        <p:tgtEl>
                                          <p:spTgt spid="32">
                                            <p:bg/>
                                          </p:spTgt>
                                        </p:tgtEl>
                                        <p:attrNameLst>
                                          <p:attrName>style.visibility</p:attrName>
                                        </p:attrNameLst>
                                      </p:cBhvr>
                                      <p:to>
                                        <p:strVal val="visible"/>
                                      </p:to>
                                    </p:set>
                                    <p:animEffect transition="in" filter="barn(inVertical)">
                                      <p:cBhvr>
                                        <p:cTn id="42" dur="500"/>
                                        <p:tgtEl>
                                          <p:spTgt spid="32">
                                            <p:bg/>
                                          </p:spTgt>
                                        </p:tgtEl>
                                      </p:cBhvr>
                                    </p:animEffect>
                                  </p:childTnLst>
                                </p:cTn>
                              </p:par>
                            </p:childTnLst>
                          </p:cTn>
                        </p:par>
                        <p:par>
                          <p:cTn id="43" fill="hold">
                            <p:stCondLst>
                              <p:cond delay="3750"/>
                            </p:stCondLst>
                            <p:childTnLst>
                              <p:par>
                                <p:cTn id="44" presetID="16" presetClass="entr" presetSubtype="21" fill="hold" grpId="0" nodeType="afterEffect">
                                  <p:stCondLst>
                                    <p:cond delay="500"/>
                                  </p:stCondLst>
                                  <p:childTnLst>
                                    <p:set>
                                      <p:cBhvr>
                                        <p:cTn id="45" dur="1" fill="hold">
                                          <p:stCondLst>
                                            <p:cond delay="0"/>
                                          </p:stCondLst>
                                        </p:cTn>
                                        <p:tgtEl>
                                          <p:spTgt spid="32">
                                            <p:txEl>
                                              <p:pRg st="0" end="0"/>
                                            </p:txEl>
                                          </p:spTgt>
                                        </p:tgtEl>
                                        <p:attrNameLst>
                                          <p:attrName>style.visibility</p:attrName>
                                        </p:attrNameLst>
                                      </p:cBhvr>
                                      <p:to>
                                        <p:strVal val="visible"/>
                                      </p:to>
                                    </p:set>
                                    <p:animEffect transition="in" filter="barn(inVertical)">
                                      <p:cBhvr>
                                        <p:cTn id="46" dur="500"/>
                                        <p:tgtEl>
                                          <p:spTgt spid="32">
                                            <p:txEl>
                                              <p:pRg st="0" end="0"/>
                                            </p:txEl>
                                          </p:spTgt>
                                        </p:tgtEl>
                                      </p:cBhvr>
                                    </p:animEffect>
                                  </p:childTnLst>
                                </p:cTn>
                              </p:par>
                            </p:childTnLst>
                          </p:cTn>
                        </p:par>
                        <p:par>
                          <p:cTn id="47" fill="hold">
                            <p:stCondLst>
                              <p:cond delay="4750"/>
                            </p:stCondLst>
                            <p:childTnLst>
                              <p:par>
                                <p:cTn id="48" presetID="10" presetClass="entr" presetSubtype="0" fill="hold" nodeType="afterEffect">
                                  <p:stCondLst>
                                    <p:cond delay="50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childTnLst>
                          </p:cTn>
                        </p:par>
                        <p:par>
                          <p:cTn id="51" fill="hold">
                            <p:stCondLst>
                              <p:cond delay="5750"/>
                            </p:stCondLst>
                            <p:childTnLst>
                              <p:par>
                                <p:cTn id="52" presetID="10" presetClass="entr" presetSubtype="0" fill="hold" nodeType="afterEffect">
                                  <p:stCondLst>
                                    <p:cond delay="50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P spid="32" grpId="0" uiExpand="1" build="p"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18B07EE-A45E-4446-A223-5B883B13E13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Google Shape;273;p6">
            <a:extLst>
              <a:ext uri="{FF2B5EF4-FFF2-40B4-BE49-F238E27FC236}">
                <a16:creationId xmlns:a16="http://schemas.microsoft.com/office/drawing/2014/main" id="{D4DF5742-A40F-4219-8FB0-561CEC3E3199}"/>
              </a:ext>
            </a:extLst>
          </p:cNvPr>
          <p:cNvSpPr txBox="1"/>
          <p:nvPr/>
        </p:nvSpPr>
        <p:spPr>
          <a:xfrm>
            <a:off x="11310470" y="6334820"/>
            <a:ext cx="598245"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24</a:t>
            </a:r>
            <a:endParaRPr sz="2800" b="1" dirty="0">
              <a:solidFill>
                <a:schemeClr val="lt1"/>
              </a:solidFill>
              <a:latin typeface="Arial"/>
              <a:ea typeface="Arial"/>
              <a:cs typeface="Arial"/>
              <a:sym typeface="Arial"/>
            </a:endParaRPr>
          </a:p>
        </p:txBody>
      </p:sp>
      <p:sp>
        <p:nvSpPr>
          <p:cNvPr id="13" name="TextBox 12">
            <a:extLst>
              <a:ext uri="{FF2B5EF4-FFF2-40B4-BE49-F238E27FC236}">
                <a16:creationId xmlns:a16="http://schemas.microsoft.com/office/drawing/2014/main" id="{D526B032-EE87-4709-96B1-55F42ADD5531}"/>
              </a:ext>
            </a:extLst>
          </p:cNvPr>
          <p:cNvSpPr txBox="1"/>
          <p:nvPr/>
        </p:nvSpPr>
        <p:spPr>
          <a:xfrm>
            <a:off x="1330452" y="61014"/>
            <a:ext cx="5420703" cy="307777"/>
          </a:xfrm>
          <a:prstGeom prst="rect">
            <a:avLst/>
          </a:prstGeom>
          <a:noFill/>
        </p:spPr>
        <p:txBody>
          <a:bodyPr wrap="square" lIns="0" tIns="0" rIns="0" bIns="0" numCol="1" rtlCol="0">
            <a:spAutoFit/>
          </a:bodyPr>
          <a:lstStyle/>
          <a:p>
            <a:r>
              <a:rPr lang="fr-FR" sz="2000" b="1" i="1" dirty="0">
                <a:solidFill>
                  <a:schemeClr val="accent4">
                    <a:lumMod val="60000"/>
                    <a:lumOff val="40000"/>
                  </a:schemeClr>
                </a:solidFill>
                <a:effectLst>
                  <a:outerShdw blurRad="38100" dist="38100" dir="2700000" algn="tl">
                    <a:srgbClr val="000000">
                      <a:alpha val="43137"/>
                    </a:srgbClr>
                  </a:outerShdw>
                </a:effectLst>
                <a:latin typeface="Roboto" pitchFamily="2" charset="0"/>
                <a:ea typeface="Roboto" pitchFamily="2" charset="0"/>
              </a:rPr>
              <a:t>Réalisation</a:t>
            </a:r>
          </a:p>
        </p:txBody>
      </p:sp>
      <p:sp>
        <p:nvSpPr>
          <p:cNvPr id="14" name="ZoneTexte 10">
            <a:extLst>
              <a:ext uri="{FF2B5EF4-FFF2-40B4-BE49-F238E27FC236}">
                <a16:creationId xmlns:a16="http://schemas.microsoft.com/office/drawing/2014/main" id="{C9A7B543-F26A-4403-A1A4-92316912185B}"/>
              </a:ext>
            </a:extLst>
          </p:cNvPr>
          <p:cNvSpPr txBox="1"/>
          <p:nvPr/>
        </p:nvSpPr>
        <p:spPr>
          <a:xfrm>
            <a:off x="0" y="-203200"/>
            <a:ext cx="2038470" cy="1446550"/>
          </a:xfrm>
          <a:prstGeom prst="rect">
            <a:avLst/>
          </a:prstGeom>
          <a:noFill/>
        </p:spPr>
        <p:txBody>
          <a:bodyPr wrap="square">
            <a:spAutoFit/>
          </a:bodyPr>
          <a:lstStyle/>
          <a:p>
            <a:r>
              <a:rPr lang="en-US" sz="8800" dirty="0">
                <a:ln w="15875">
                  <a:solidFill>
                    <a:schemeClr val="bg1"/>
                  </a:solidFill>
                </a:ln>
                <a:noFill/>
                <a:latin typeface="Archivo Black" panose="020B0A03020202020B04" pitchFamily="34" charset="0"/>
              </a:rPr>
              <a:t>05</a:t>
            </a:r>
            <a:endParaRPr lang="en-US" sz="23900" dirty="0"/>
          </a:p>
        </p:txBody>
      </p:sp>
      <p:sp>
        <p:nvSpPr>
          <p:cNvPr id="15" name="Rectangle 14">
            <a:extLst>
              <a:ext uri="{FF2B5EF4-FFF2-40B4-BE49-F238E27FC236}">
                <a16:creationId xmlns:a16="http://schemas.microsoft.com/office/drawing/2014/main" id="{B516878E-39CB-4806-8B49-B79793E4AEEB}"/>
              </a:ext>
            </a:extLst>
          </p:cNvPr>
          <p:cNvSpPr/>
          <p:nvPr/>
        </p:nvSpPr>
        <p:spPr>
          <a:xfrm>
            <a:off x="1228135" y="57371"/>
            <a:ext cx="45719" cy="925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3" name="TextBox 2">
            <a:extLst>
              <a:ext uri="{FF2B5EF4-FFF2-40B4-BE49-F238E27FC236}">
                <a16:creationId xmlns:a16="http://schemas.microsoft.com/office/drawing/2014/main" id="{0AAFB164-E8C3-4276-8B4F-48C75895563A}"/>
              </a:ext>
            </a:extLst>
          </p:cNvPr>
          <p:cNvSpPr txBox="1"/>
          <p:nvPr/>
        </p:nvSpPr>
        <p:spPr>
          <a:xfrm>
            <a:off x="2422263" y="977262"/>
            <a:ext cx="7347473" cy="584775"/>
          </a:xfrm>
          <a:prstGeom prst="rect">
            <a:avLst/>
          </a:prstGeom>
          <a:noFill/>
        </p:spPr>
        <p:txBody>
          <a:bodyPr wrap="square" rtlCol="0">
            <a:spAutoFit/>
          </a:bodyPr>
          <a:lstStyle/>
          <a:p>
            <a:pPr algn="ctr"/>
            <a:r>
              <a:rPr lang="en-GB" sz="32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Environnement Logiciel</a:t>
            </a:r>
          </a:p>
        </p:txBody>
      </p:sp>
      <p:sp>
        <p:nvSpPr>
          <p:cNvPr id="4" name="Google Shape;528;p24">
            <a:extLst>
              <a:ext uri="{FF2B5EF4-FFF2-40B4-BE49-F238E27FC236}">
                <a16:creationId xmlns:a16="http://schemas.microsoft.com/office/drawing/2014/main" id="{76B9BFEF-D5CE-329D-7A60-8F2D78CD2518}"/>
              </a:ext>
            </a:extLst>
          </p:cNvPr>
          <p:cNvSpPr txBox="1">
            <a:spLocks/>
          </p:cNvSpPr>
          <p:nvPr/>
        </p:nvSpPr>
        <p:spPr>
          <a:xfrm>
            <a:off x="344245" y="1746103"/>
            <a:ext cx="2689404" cy="438113"/>
          </a:xfrm>
          <a:prstGeom prst="roundRect">
            <a:avLst/>
          </a:prstGeom>
          <a:solidFill>
            <a:srgbClr val="9AD3E9"/>
          </a:solidFill>
          <a:ln w="38100" cap="flat" cmpd="sng" algn="ctr">
            <a:solidFill>
              <a:srgbClr val="FFFFFF"/>
            </a:solidFill>
            <a:prstDash val="solid"/>
          </a:ln>
          <a:effectLst>
            <a:outerShdw blurRad="40000" dist="20000" dir="5400000" rotWithShape="0">
              <a:srgbClr val="000000">
                <a:alpha val="38000"/>
              </a:srgbClr>
            </a:outerShdw>
          </a:effectLst>
        </p:spPr>
        <p:txBody>
          <a:bodyPr spcFirstLastPara="1" wrap="square" lIns="91425" tIns="45700" rIns="91425" bIns="45700" anchor="b"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lvl="0" indent="0" algn="ctr">
              <a:spcBef>
                <a:spcPts val="0"/>
              </a:spcBef>
              <a:buClr>
                <a:srgbClr val="FFFFFF"/>
              </a:buClr>
              <a:buSzPts val="2200"/>
              <a:buNone/>
            </a:pPr>
            <a:r>
              <a:rPr lang="fr-FR" sz="1800" dirty="0">
                <a:solidFill>
                  <a:srgbClr val="FFFFFF"/>
                </a:solidFill>
                <a:latin typeface="Times New Roman" panose="02020603050405020304" pitchFamily="18" charset="0"/>
                <a:cs typeface="Times New Roman" panose="02020603050405020304" pitchFamily="18" charset="0"/>
              </a:rPr>
              <a:t>Outils Et Logiciels </a:t>
            </a:r>
          </a:p>
        </p:txBody>
      </p:sp>
      <p:pic>
        <p:nvPicPr>
          <p:cNvPr id="6" name="Image 5">
            <a:extLst>
              <a:ext uri="{FF2B5EF4-FFF2-40B4-BE49-F238E27FC236}">
                <a16:creationId xmlns:a16="http://schemas.microsoft.com/office/drawing/2014/main" id="{0277755F-2AF1-6D5C-72C9-9FB2B7843187}"/>
              </a:ext>
            </a:extLst>
          </p:cNvPr>
          <p:cNvPicPr>
            <a:picLocks noChangeAspect="1"/>
          </p:cNvPicPr>
          <p:nvPr/>
        </p:nvPicPr>
        <p:blipFill>
          <a:blip r:embed="rId7">
            <a:clrChange>
              <a:clrFrom>
                <a:srgbClr val="F7F7F7"/>
              </a:clrFrom>
              <a:clrTo>
                <a:srgbClr val="F7F7F7">
                  <a:alpha val="0"/>
                </a:srgbClr>
              </a:clrTo>
            </a:clrChange>
            <a:extLst>
              <a:ext uri="{28A0092B-C50C-407E-A947-70E740481C1C}">
                <a14:useLocalDpi xmlns:a14="http://schemas.microsoft.com/office/drawing/2010/main" val="0"/>
              </a:ext>
            </a:extLst>
          </a:blip>
          <a:stretch>
            <a:fillRect/>
          </a:stretch>
        </p:blipFill>
        <p:spPr>
          <a:xfrm>
            <a:off x="3734049" y="2459581"/>
            <a:ext cx="5219538" cy="3684380"/>
          </a:xfrm>
          <a:prstGeom prst="rect">
            <a:avLst/>
          </a:prstGeom>
        </p:spPr>
      </p:pic>
      <p:pic>
        <p:nvPicPr>
          <p:cNvPr id="7" name="Picture 2">
            <a:extLst>
              <a:ext uri="{FF2B5EF4-FFF2-40B4-BE49-F238E27FC236}">
                <a16:creationId xmlns:a16="http://schemas.microsoft.com/office/drawing/2014/main" id="{B8EECAFC-DFF9-7A8C-89B8-3979E930E942}"/>
              </a:ext>
            </a:extLst>
          </p:cNvPr>
          <p:cNvPicPr>
            <a:picLocks noChangeAspect="1" noChangeArrowheads="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a:stretch/>
        </p:blipFill>
        <p:spPr bwMode="auto">
          <a:xfrm>
            <a:off x="4144802" y="2807036"/>
            <a:ext cx="1170418" cy="115123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a:extLst>
              <a:ext uri="{FF2B5EF4-FFF2-40B4-BE49-F238E27FC236}">
                <a16:creationId xmlns:a16="http://schemas.microsoft.com/office/drawing/2014/main" id="{DA66FC97-BEEE-FC71-FEBA-5E7B5D591A8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652331" y="3978840"/>
            <a:ext cx="1268579" cy="1215811"/>
          </a:xfrm>
          <a:prstGeom prst="rect">
            <a:avLst/>
          </a:prstGeom>
        </p:spPr>
      </p:pic>
      <p:pic>
        <p:nvPicPr>
          <p:cNvPr id="25" name="Image 24">
            <a:extLst>
              <a:ext uri="{FF2B5EF4-FFF2-40B4-BE49-F238E27FC236}">
                <a16:creationId xmlns:a16="http://schemas.microsoft.com/office/drawing/2014/main" id="{914BD475-2AEF-9AFE-6E4B-B465C7E6C9B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354408" y="4103106"/>
            <a:ext cx="1186969" cy="967277"/>
          </a:xfrm>
          <a:prstGeom prst="rect">
            <a:avLst/>
          </a:prstGeom>
        </p:spPr>
      </p:pic>
      <p:pic>
        <p:nvPicPr>
          <p:cNvPr id="29" name="Image 28">
            <a:extLst>
              <a:ext uri="{FF2B5EF4-FFF2-40B4-BE49-F238E27FC236}">
                <a16:creationId xmlns:a16="http://schemas.microsoft.com/office/drawing/2014/main" id="{46AC2F39-F9EB-882E-E566-8EB10C45A4B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030764" y="4137974"/>
            <a:ext cx="1398494" cy="897544"/>
          </a:xfrm>
          <a:prstGeom prst="rect">
            <a:avLst/>
          </a:prstGeom>
        </p:spPr>
      </p:pic>
      <p:pic>
        <p:nvPicPr>
          <p:cNvPr id="5" name="Image 4">
            <a:extLst>
              <a:ext uri="{FF2B5EF4-FFF2-40B4-BE49-F238E27FC236}">
                <a16:creationId xmlns:a16="http://schemas.microsoft.com/office/drawing/2014/main" id="{28FB072B-AADF-4295-4820-4DAB499E31E1}"/>
              </a:ext>
            </a:extLst>
          </p:cNvPr>
          <p:cNvPicPr>
            <a:picLocks noChangeAspect="1"/>
          </p:cNvPicPr>
          <p:nvPr/>
        </p:nvPicPr>
        <p:blipFill>
          <a:blip r:embed="rId13">
            <a:extLst>
              <a:ext uri="{28A0092B-C50C-407E-A947-70E740481C1C}">
                <a14:useLocalDpi xmlns:a14="http://schemas.microsoft.com/office/drawing/2010/main" val="0"/>
              </a:ext>
              <a:ext uri="{837473B0-CC2E-450A-ABE3-18F120FF3D39}">
                <a1611:picAttrSrcUrl xmlns:a1611="http://schemas.microsoft.com/office/drawing/2016/11/main" r:id="rId14"/>
              </a:ext>
            </a:extLst>
          </a:blip>
          <a:stretch>
            <a:fillRect/>
          </a:stretch>
        </p:blipFill>
        <p:spPr>
          <a:xfrm>
            <a:off x="5652332" y="2897125"/>
            <a:ext cx="1268579" cy="890824"/>
          </a:xfrm>
          <a:prstGeom prst="rect">
            <a:avLst/>
          </a:prstGeom>
        </p:spPr>
      </p:pic>
      <p:pic>
        <p:nvPicPr>
          <p:cNvPr id="12" name="Image 11">
            <a:extLst>
              <a:ext uri="{FF2B5EF4-FFF2-40B4-BE49-F238E27FC236}">
                <a16:creationId xmlns:a16="http://schemas.microsoft.com/office/drawing/2014/main" id="{72A7B63D-141C-D56F-AD28-99E4AF2F77E0}"/>
              </a:ext>
            </a:extLst>
          </p:cNvPr>
          <p:cNvPicPr>
            <a:picLocks noChangeAspect="1"/>
          </p:cNvPicPr>
          <p:nvPr/>
        </p:nvPicPr>
        <p:blipFill>
          <a:blip r:embed="rId15">
            <a:extLst>
              <a:ext uri="{28A0092B-C50C-407E-A947-70E740481C1C}">
                <a14:useLocalDpi xmlns:a14="http://schemas.microsoft.com/office/drawing/2010/main" val="0"/>
              </a:ext>
              <a:ext uri="{837473B0-CC2E-450A-ABE3-18F120FF3D39}">
                <a1611:picAttrSrcUrl xmlns:a1611="http://schemas.microsoft.com/office/drawing/2016/11/main" r:id="rId16"/>
              </a:ext>
            </a:extLst>
          </a:blip>
          <a:stretch>
            <a:fillRect/>
          </a:stretch>
        </p:blipFill>
        <p:spPr>
          <a:xfrm>
            <a:off x="7296203" y="2807036"/>
            <a:ext cx="1542991" cy="1071002"/>
          </a:xfrm>
          <a:prstGeom prst="rect">
            <a:avLst/>
          </a:prstGeom>
        </p:spPr>
      </p:pic>
    </p:spTree>
    <p:custDataLst>
      <p:tags r:id="rId1"/>
    </p:custDataLst>
    <p:extLst>
      <p:ext uri="{BB962C8B-B14F-4D97-AF65-F5344CB8AC3E}">
        <p14:creationId xmlns:p14="http://schemas.microsoft.com/office/powerpoint/2010/main" val="1277765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250" fill="hold"/>
                                        <p:tgtEl>
                                          <p:spTgt spid="14"/>
                                        </p:tgtEl>
                                        <p:attrNameLst>
                                          <p:attrName>ppt_x</p:attrName>
                                        </p:attrNameLst>
                                      </p:cBhvr>
                                      <p:tavLst>
                                        <p:tav tm="0">
                                          <p:val>
                                            <p:strVal val="0-#ppt_w/2"/>
                                          </p:val>
                                        </p:tav>
                                        <p:tav tm="100000">
                                          <p:val>
                                            <p:strVal val="#ppt_x"/>
                                          </p:val>
                                        </p:tav>
                                      </p:tavLst>
                                    </p:anim>
                                    <p:anim calcmode="lin" valueType="num">
                                      <p:cBhvr additive="base">
                                        <p:cTn id="8" dur="250" fill="hold"/>
                                        <p:tgtEl>
                                          <p:spTgt spid="14"/>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2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2" presetClass="entr" presetSubtype="8"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500" fill="hold"/>
                                        <p:tgtEl>
                                          <p:spTgt spid="15"/>
                                        </p:tgtEl>
                                        <p:attrNameLst>
                                          <p:attrName>ppt_x</p:attrName>
                                        </p:attrNameLst>
                                      </p:cBhvr>
                                      <p:tavLst>
                                        <p:tav tm="0">
                                          <p:val>
                                            <p:strVal val="0-#ppt_w/2"/>
                                          </p:val>
                                        </p:tav>
                                        <p:tav tm="100000">
                                          <p:val>
                                            <p:strVal val="#ppt_x"/>
                                          </p:val>
                                        </p:tav>
                                      </p:tavLst>
                                    </p:anim>
                                    <p:anim calcmode="lin" valueType="num">
                                      <p:cBhvr additive="base">
                                        <p:cTn id="15" dur="500" fill="hold"/>
                                        <p:tgtEl>
                                          <p:spTgt spid="15"/>
                                        </p:tgtEl>
                                        <p:attrNameLst>
                                          <p:attrName>ppt_y</p:attrName>
                                        </p:attrNameLst>
                                      </p:cBhvr>
                                      <p:tavLst>
                                        <p:tav tm="0">
                                          <p:val>
                                            <p:strVal val="#ppt_y"/>
                                          </p:val>
                                        </p:tav>
                                        <p:tav tm="100000">
                                          <p:val>
                                            <p:strVal val="#ppt_y"/>
                                          </p:val>
                                        </p:tav>
                                      </p:tavLst>
                                    </p:anim>
                                  </p:childTnLst>
                                </p:cTn>
                              </p:par>
                            </p:childTnLst>
                          </p:cTn>
                        </p:par>
                        <p:par>
                          <p:cTn id="16" fill="hold">
                            <p:stCondLst>
                              <p:cond delay="600"/>
                            </p:stCondLst>
                            <p:childTnLst>
                              <p:par>
                                <p:cTn id="17" presetID="16" presetClass="entr" presetSubtype="21" fill="hold" grpId="0" nodeType="afterEffect">
                                  <p:stCondLst>
                                    <p:cond delay="500"/>
                                  </p:stCondLst>
                                  <p:childTnLst>
                                    <p:set>
                                      <p:cBhvr>
                                        <p:cTn id="18" dur="1" fill="hold">
                                          <p:stCondLst>
                                            <p:cond delay="0"/>
                                          </p:stCondLst>
                                        </p:cTn>
                                        <p:tgtEl>
                                          <p:spTgt spid="4">
                                            <p:bg/>
                                          </p:spTgt>
                                        </p:tgtEl>
                                        <p:attrNameLst>
                                          <p:attrName>style.visibility</p:attrName>
                                        </p:attrNameLst>
                                      </p:cBhvr>
                                      <p:to>
                                        <p:strVal val="visible"/>
                                      </p:to>
                                    </p:set>
                                    <p:animEffect transition="in" filter="barn(inVertical)">
                                      <p:cBhvr>
                                        <p:cTn id="19" dur="500"/>
                                        <p:tgtEl>
                                          <p:spTgt spid="4">
                                            <p:bg/>
                                          </p:spTgt>
                                        </p:tgtEl>
                                      </p:cBhvr>
                                    </p:animEffect>
                                  </p:childTnLst>
                                </p:cTn>
                              </p:par>
                            </p:childTnLst>
                          </p:cTn>
                        </p:par>
                        <p:par>
                          <p:cTn id="20" fill="hold">
                            <p:stCondLst>
                              <p:cond delay="1600"/>
                            </p:stCondLst>
                            <p:childTnLst>
                              <p:par>
                                <p:cTn id="21" presetID="16" presetClass="entr" presetSubtype="21" fill="hold" grpId="0" nodeType="afterEffect">
                                  <p:stCondLst>
                                    <p:cond delay="500"/>
                                  </p:stCondLst>
                                  <p:childTnLst>
                                    <p:set>
                                      <p:cBhvr>
                                        <p:cTn id="22" dur="1" fill="hold">
                                          <p:stCondLst>
                                            <p:cond delay="0"/>
                                          </p:stCondLst>
                                        </p:cTn>
                                        <p:tgtEl>
                                          <p:spTgt spid="4">
                                            <p:txEl>
                                              <p:pRg st="0" end="0"/>
                                            </p:txEl>
                                          </p:spTgt>
                                        </p:tgtEl>
                                        <p:attrNameLst>
                                          <p:attrName>style.visibility</p:attrName>
                                        </p:attrNameLst>
                                      </p:cBhvr>
                                      <p:to>
                                        <p:strVal val="visible"/>
                                      </p:to>
                                    </p:set>
                                    <p:animEffect transition="in" filter="barn(inVertical)">
                                      <p:cBhvr>
                                        <p:cTn id="2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P spid="4" grpId="0" uiExpand="1" build="p"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18B07EE-A45E-4446-A223-5B883B13E13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a:extLst>
              <a:ext uri="{FF2B5EF4-FFF2-40B4-BE49-F238E27FC236}">
                <a16:creationId xmlns:a16="http://schemas.microsoft.com/office/drawing/2014/main" id="{CA8813BB-D448-4521-9F33-B74EFDC2BCD9}"/>
              </a:ext>
            </a:extLst>
          </p:cNvPr>
          <p:cNvSpPr/>
          <p:nvPr/>
        </p:nvSpPr>
        <p:spPr>
          <a:xfrm>
            <a:off x="5393227" y="2166484"/>
            <a:ext cx="5524168" cy="259805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2" name="Rectangle 1">
            <a:extLst>
              <a:ext uri="{FF2B5EF4-FFF2-40B4-BE49-F238E27FC236}">
                <a16:creationId xmlns:a16="http://schemas.microsoft.com/office/drawing/2014/main" id="{226F08B3-37B7-4D5C-80DD-85ECEA54CD23}"/>
              </a:ext>
            </a:extLst>
          </p:cNvPr>
          <p:cNvSpPr/>
          <p:nvPr/>
        </p:nvSpPr>
        <p:spPr>
          <a:xfrm>
            <a:off x="5500914" y="1236087"/>
            <a:ext cx="6691086" cy="40333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8" name="TextBox 7">
            <a:extLst>
              <a:ext uri="{FF2B5EF4-FFF2-40B4-BE49-F238E27FC236}">
                <a16:creationId xmlns:a16="http://schemas.microsoft.com/office/drawing/2014/main" id="{DF7833B0-BA71-4453-853F-974C3C7535A2}"/>
              </a:ext>
            </a:extLst>
          </p:cNvPr>
          <p:cNvSpPr txBox="1"/>
          <p:nvPr/>
        </p:nvSpPr>
        <p:spPr>
          <a:xfrm>
            <a:off x="5778620" y="2166484"/>
            <a:ext cx="6808376" cy="1477328"/>
          </a:xfrm>
          <a:prstGeom prst="rect">
            <a:avLst/>
          </a:prstGeom>
          <a:noFill/>
        </p:spPr>
        <p:txBody>
          <a:bodyPr wrap="square" lIns="0" tIns="0" rIns="0" bIns="0" numCol="1" rtlCol="0">
            <a:spAutoFit/>
          </a:bodyPr>
          <a:lstStyle/>
          <a:p>
            <a:r>
              <a:rPr lang="fr-FR" sz="4800" b="1" i="1" dirty="0">
                <a:solidFill>
                  <a:srgbClr val="0070C0"/>
                </a:solidFill>
                <a:effectLst>
                  <a:outerShdw blurRad="38100" dist="38100" dir="2700000" algn="tl">
                    <a:srgbClr val="000000">
                      <a:alpha val="43137"/>
                    </a:srgbClr>
                  </a:outerShdw>
                </a:effectLst>
                <a:latin typeface="Roboto" pitchFamily="2" charset="0"/>
                <a:ea typeface="Roboto" pitchFamily="2" charset="0"/>
              </a:rPr>
              <a:t>Conclusion et Perspectives</a:t>
            </a:r>
          </a:p>
        </p:txBody>
      </p:sp>
      <p:sp>
        <p:nvSpPr>
          <p:cNvPr id="11" name="ZoneTexte 10">
            <a:extLst>
              <a:ext uri="{FF2B5EF4-FFF2-40B4-BE49-F238E27FC236}">
                <a16:creationId xmlns:a16="http://schemas.microsoft.com/office/drawing/2014/main" id="{874A49F3-0002-4629-8953-27B21388CF24}"/>
              </a:ext>
            </a:extLst>
          </p:cNvPr>
          <p:cNvSpPr txBox="1"/>
          <p:nvPr/>
        </p:nvSpPr>
        <p:spPr>
          <a:xfrm>
            <a:off x="1983887" y="1543868"/>
            <a:ext cx="3794733" cy="3770263"/>
          </a:xfrm>
          <a:prstGeom prst="rect">
            <a:avLst/>
          </a:prstGeom>
          <a:noFill/>
        </p:spPr>
        <p:txBody>
          <a:bodyPr wrap="square">
            <a:spAutoFit/>
          </a:bodyPr>
          <a:lstStyle/>
          <a:p>
            <a:r>
              <a:rPr lang="en-US" sz="23900" dirty="0">
                <a:ln w="15875">
                  <a:solidFill>
                    <a:schemeClr val="bg1"/>
                  </a:solidFill>
                </a:ln>
                <a:noFill/>
                <a:latin typeface="Archivo Black" panose="020B0A03020202020B04" pitchFamily="34" charset="0"/>
              </a:rPr>
              <a:t>06</a:t>
            </a:r>
            <a:endParaRPr lang="en-US" sz="23900" dirty="0"/>
          </a:p>
        </p:txBody>
      </p:sp>
      <p:sp>
        <p:nvSpPr>
          <p:cNvPr id="9" name="Google Shape;273;p6">
            <a:extLst>
              <a:ext uri="{FF2B5EF4-FFF2-40B4-BE49-F238E27FC236}">
                <a16:creationId xmlns:a16="http://schemas.microsoft.com/office/drawing/2014/main" id="{8596F887-84A4-44C7-B2FC-3E2D057731F6}"/>
              </a:ext>
            </a:extLst>
          </p:cNvPr>
          <p:cNvSpPr txBox="1"/>
          <p:nvPr/>
        </p:nvSpPr>
        <p:spPr>
          <a:xfrm>
            <a:off x="11310470" y="6334820"/>
            <a:ext cx="598245"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25</a:t>
            </a:r>
            <a:endParaRPr sz="2800" b="1" dirty="0">
              <a:solidFill>
                <a:schemeClr val="lt1"/>
              </a:solidFill>
              <a:latin typeface="Arial"/>
              <a:ea typeface="Arial"/>
              <a:cs typeface="Arial"/>
              <a:sym typeface="Arial"/>
            </a:endParaRPr>
          </a:p>
        </p:txBody>
      </p:sp>
    </p:spTree>
    <p:custDataLst>
      <p:tags r:id="rId1"/>
    </p:custDataLst>
    <p:extLst>
      <p:ext uri="{BB962C8B-B14F-4D97-AF65-F5344CB8AC3E}">
        <p14:creationId xmlns:p14="http://schemas.microsoft.com/office/powerpoint/2010/main" val="3754070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50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18B07EE-A45E-4446-A223-5B883B13E13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0" name="Object 9" hidden="1">
                        <a:extLst>
                          <a:ext uri="{FF2B5EF4-FFF2-40B4-BE49-F238E27FC236}">
                            <a16:creationId xmlns:a16="http://schemas.microsoft.com/office/drawing/2014/main" id="{E18B07EE-A45E-4446-A223-5B883B13E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Google Shape;273;p6">
            <a:extLst>
              <a:ext uri="{FF2B5EF4-FFF2-40B4-BE49-F238E27FC236}">
                <a16:creationId xmlns:a16="http://schemas.microsoft.com/office/drawing/2014/main" id="{B3D7A185-85FE-4FAE-B4A7-6A9D3D258FCE}"/>
              </a:ext>
            </a:extLst>
          </p:cNvPr>
          <p:cNvSpPr txBox="1"/>
          <p:nvPr/>
        </p:nvSpPr>
        <p:spPr>
          <a:xfrm>
            <a:off x="11310470" y="6334820"/>
            <a:ext cx="598245"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dirty="0">
                <a:solidFill>
                  <a:schemeClr val="lt1"/>
                </a:solidFill>
                <a:latin typeface="Arial"/>
                <a:ea typeface="Arial"/>
                <a:cs typeface="Arial"/>
                <a:sym typeface="Arial"/>
              </a:rPr>
              <a:t>26</a:t>
            </a:r>
            <a:endParaRPr sz="2800" b="1" dirty="0">
              <a:solidFill>
                <a:schemeClr val="lt1"/>
              </a:solidFill>
              <a:latin typeface="Arial"/>
              <a:ea typeface="Arial"/>
              <a:cs typeface="Arial"/>
              <a:sym typeface="Arial"/>
            </a:endParaRPr>
          </a:p>
        </p:txBody>
      </p:sp>
      <p:sp>
        <p:nvSpPr>
          <p:cNvPr id="13" name="TextBox 12">
            <a:extLst>
              <a:ext uri="{FF2B5EF4-FFF2-40B4-BE49-F238E27FC236}">
                <a16:creationId xmlns:a16="http://schemas.microsoft.com/office/drawing/2014/main" id="{6E8AF745-18D5-4D7D-81EC-38B04F266874}"/>
              </a:ext>
            </a:extLst>
          </p:cNvPr>
          <p:cNvSpPr txBox="1"/>
          <p:nvPr/>
        </p:nvSpPr>
        <p:spPr>
          <a:xfrm>
            <a:off x="1330452" y="61014"/>
            <a:ext cx="5420703" cy="307777"/>
          </a:xfrm>
          <a:prstGeom prst="rect">
            <a:avLst/>
          </a:prstGeom>
          <a:noFill/>
        </p:spPr>
        <p:txBody>
          <a:bodyPr wrap="square" lIns="0" tIns="0" rIns="0" bIns="0" numCol="1" rtlCol="0">
            <a:spAutoFit/>
          </a:bodyPr>
          <a:lstStyle/>
          <a:p>
            <a:r>
              <a:rPr lang="fr-FR" sz="2000" b="1" i="1" dirty="0">
                <a:solidFill>
                  <a:srgbClr val="0070C0"/>
                </a:solidFill>
                <a:effectLst>
                  <a:outerShdw blurRad="38100" dist="38100" dir="2700000" algn="tl">
                    <a:srgbClr val="000000">
                      <a:alpha val="43137"/>
                    </a:srgbClr>
                  </a:outerShdw>
                </a:effectLst>
                <a:latin typeface="Roboto" pitchFamily="2" charset="0"/>
                <a:ea typeface="Roboto" pitchFamily="2" charset="0"/>
              </a:rPr>
              <a:t>Conclusion et Perspectives</a:t>
            </a:r>
          </a:p>
        </p:txBody>
      </p:sp>
      <p:sp>
        <p:nvSpPr>
          <p:cNvPr id="14" name="ZoneTexte 10">
            <a:extLst>
              <a:ext uri="{FF2B5EF4-FFF2-40B4-BE49-F238E27FC236}">
                <a16:creationId xmlns:a16="http://schemas.microsoft.com/office/drawing/2014/main" id="{1E01071E-F3FD-4213-BD20-684CF73B8674}"/>
              </a:ext>
            </a:extLst>
          </p:cNvPr>
          <p:cNvSpPr txBox="1"/>
          <p:nvPr/>
        </p:nvSpPr>
        <p:spPr>
          <a:xfrm>
            <a:off x="0" y="-203200"/>
            <a:ext cx="2038470" cy="1446550"/>
          </a:xfrm>
          <a:prstGeom prst="rect">
            <a:avLst/>
          </a:prstGeom>
          <a:noFill/>
        </p:spPr>
        <p:txBody>
          <a:bodyPr wrap="square">
            <a:spAutoFit/>
          </a:bodyPr>
          <a:lstStyle/>
          <a:p>
            <a:r>
              <a:rPr lang="en-US" sz="8800" dirty="0">
                <a:ln w="15875">
                  <a:solidFill>
                    <a:schemeClr val="bg1"/>
                  </a:solidFill>
                </a:ln>
                <a:noFill/>
                <a:latin typeface="Archivo Black" panose="020B0A03020202020B04" pitchFamily="34" charset="0"/>
              </a:rPr>
              <a:t>06</a:t>
            </a:r>
            <a:endParaRPr lang="en-US" sz="23900" dirty="0"/>
          </a:p>
        </p:txBody>
      </p:sp>
      <p:sp>
        <p:nvSpPr>
          <p:cNvPr id="15" name="Rectangle 14">
            <a:extLst>
              <a:ext uri="{FF2B5EF4-FFF2-40B4-BE49-F238E27FC236}">
                <a16:creationId xmlns:a16="http://schemas.microsoft.com/office/drawing/2014/main" id="{B30D154F-1971-48F1-A4ED-44073E441A70}"/>
              </a:ext>
            </a:extLst>
          </p:cNvPr>
          <p:cNvSpPr/>
          <p:nvPr/>
        </p:nvSpPr>
        <p:spPr>
          <a:xfrm>
            <a:off x="1228135" y="57371"/>
            <a:ext cx="45719" cy="925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de-DE" altLang="de-DE" dirty="0"/>
          </a:p>
        </p:txBody>
      </p:sp>
      <p:sp>
        <p:nvSpPr>
          <p:cNvPr id="2" name="Rectangle 1">
            <a:extLst>
              <a:ext uri="{FF2B5EF4-FFF2-40B4-BE49-F238E27FC236}">
                <a16:creationId xmlns:a16="http://schemas.microsoft.com/office/drawing/2014/main" id="{FE35CA6F-6A58-449B-9955-C9F2185128CA}"/>
              </a:ext>
            </a:extLst>
          </p:cNvPr>
          <p:cNvSpPr/>
          <p:nvPr/>
        </p:nvSpPr>
        <p:spPr>
          <a:xfrm>
            <a:off x="3745038" y="888192"/>
            <a:ext cx="4701928" cy="742511"/>
          </a:xfrm>
          <a:prstGeom prst="rect">
            <a:avLst/>
          </a:prstGeom>
        </p:spPr>
        <p:txBody>
          <a:bodyPr wrap="none">
            <a:spAutoFit/>
          </a:bodyPr>
          <a:lstStyle/>
          <a:p>
            <a:pPr algn="ctr">
              <a:lnSpc>
                <a:spcPct val="150000"/>
              </a:lnSpc>
            </a:pPr>
            <a:r>
              <a:rPr lang="fr-FR" sz="3200" b="1" i="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 et Perspectives</a:t>
            </a:r>
          </a:p>
        </p:txBody>
      </p:sp>
      <p:sp>
        <p:nvSpPr>
          <p:cNvPr id="3" name="TextBox 2">
            <a:extLst>
              <a:ext uri="{FF2B5EF4-FFF2-40B4-BE49-F238E27FC236}">
                <a16:creationId xmlns:a16="http://schemas.microsoft.com/office/drawing/2014/main" id="{F0F9BCEC-81AD-44EA-BA1E-9506025A6A2D}"/>
              </a:ext>
            </a:extLst>
          </p:cNvPr>
          <p:cNvSpPr txBox="1"/>
          <p:nvPr/>
        </p:nvSpPr>
        <p:spPr>
          <a:xfrm>
            <a:off x="1601739" y="2162287"/>
            <a:ext cx="9585063" cy="345889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20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 :</a:t>
            </a:r>
            <a:endParaRPr lang="en-GB"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ü"/>
            </a:pPr>
            <a:r>
              <a:rPr lang="en-GB"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Application modernisée avec succès</a:t>
            </a:r>
          </a:p>
          <a:p>
            <a:pPr marL="285750" indent="-285750">
              <a:lnSpc>
                <a:spcPct val="150000"/>
              </a:lnSpc>
              <a:buFont typeface="Wingdings" panose="05000000000000000000" pitchFamily="2" charset="2"/>
              <a:buChar char="ü"/>
            </a:pPr>
            <a:r>
              <a:rPr lang="fr-FR"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Meilleure expérience utilisateur et simplification de la maintenance</a:t>
            </a:r>
            <a:endParaRPr lang="en-GB"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endParaRPr lang="en-GB"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GB" sz="20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Perspectives :</a:t>
            </a:r>
          </a:p>
          <a:p>
            <a:pPr marL="285750" indent="-285750">
              <a:lnSpc>
                <a:spcPct val="150000"/>
              </a:lnSpc>
              <a:buFont typeface="Wingdings" panose="05000000000000000000" pitchFamily="2" charset="2"/>
              <a:buChar char="ü"/>
            </a:pPr>
            <a:r>
              <a:rPr lang="fr-FR"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Extension des fonctionnalités</a:t>
            </a:r>
          </a:p>
          <a:p>
            <a:pPr marL="285750" indent="-285750">
              <a:lnSpc>
                <a:spcPct val="150000"/>
              </a:lnSpc>
              <a:buFont typeface="Wingdings" panose="05000000000000000000" pitchFamily="2" charset="2"/>
              <a:buChar char="ü"/>
            </a:pPr>
            <a:r>
              <a:rPr lang="fr-FR"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Intégration avec d'autres systèmes bancaires</a:t>
            </a:r>
          </a:p>
          <a:p>
            <a:pPr marL="285750" indent="-285750">
              <a:lnSpc>
                <a:spcPct val="150000"/>
              </a:lnSpc>
              <a:buFont typeface="Wingdings" panose="05000000000000000000" pitchFamily="2" charset="2"/>
              <a:buChar char="ü"/>
            </a:pPr>
            <a:r>
              <a:rPr lang="fr-FR"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Scalabilité pour répondre à une charge utilisateur accrue</a:t>
            </a:r>
            <a:endParaRPr lang="en-GB"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3658475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250" fill="hold"/>
                                        <p:tgtEl>
                                          <p:spTgt spid="14"/>
                                        </p:tgtEl>
                                        <p:attrNameLst>
                                          <p:attrName>ppt_x</p:attrName>
                                        </p:attrNameLst>
                                      </p:cBhvr>
                                      <p:tavLst>
                                        <p:tav tm="0">
                                          <p:val>
                                            <p:strVal val="0-#ppt_w/2"/>
                                          </p:val>
                                        </p:tav>
                                        <p:tav tm="100000">
                                          <p:val>
                                            <p:strVal val="#ppt_x"/>
                                          </p:val>
                                        </p:tav>
                                      </p:tavLst>
                                    </p:anim>
                                    <p:anim calcmode="lin" valueType="num">
                                      <p:cBhvr additive="base">
                                        <p:cTn id="8" dur="250" fill="hold"/>
                                        <p:tgtEl>
                                          <p:spTgt spid="14"/>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2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2" presetClass="entr" presetSubtype="8"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500" fill="hold"/>
                                        <p:tgtEl>
                                          <p:spTgt spid="15"/>
                                        </p:tgtEl>
                                        <p:attrNameLst>
                                          <p:attrName>ppt_x</p:attrName>
                                        </p:attrNameLst>
                                      </p:cBhvr>
                                      <p:tavLst>
                                        <p:tav tm="0">
                                          <p:val>
                                            <p:strVal val="0-#ppt_w/2"/>
                                          </p:val>
                                        </p:tav>
                                        <p:tav tm="100000">
                                          <p:val>
                                            <p:strVal val="#ppt_x"/>
                                          </p:val>
                                        </p:tav>
                                      </p:tavLst>
                                    </p:anim>
                                    <p:anim calcmode="lin" valueType="num">
                                      <p:cBhvr additive="base">
                                        <p:cTn id="15"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40" name="Image 39">
            <a:extLst>
              <a:ext uri="{FF2B5EF4-FFF2-40B4-BE49-F238E27FC236}">
                <a16:creationId xmlns:a16="http://schemas.microsoft.com/office/drawing/2014/main" id="{635A91DC-2B7B-4178-9D0B-F97A7F757ECB}"/>
              </a:ext>
            </a:extLst>
          </p:cNvPr>
          <p:cNvPicPr>
            <a:picLocks noChangeAspect="1"/>
          </p:cNvPicPr>
          <p:nvPr/>
        </p:nvPicPr>
        <p:blipFill rotWithShape="1">
          <a:blip r:embed="rId3">
            <a:alphaModFix amt="9000"/>
            <a:extLst>
              <a:ext uri="{28A0092B-C50C-407E-A947-70E740481C1C}">
                <a14:useLocalDpi xmlns:a14="http://schemas.microsoft.com/office/drawing/2010/main" val="0"/>
              </a:ext>
            </a:extLst>
          </a:blip>
          <a:srcRect t="13322" b="2985"/>
          <a:stretch/>
        </p:blipFill>
        <p:spPr>
          <a:xfrm>
            <a:off x="0" y="0"/>
            <a:ext cx="12291237" cy="6858000"/>
          </a:xfrm>
          <a:prstGeom prst="rect">
            <a:avLst/>
          </a:prstGeom>
          <a:effectLst>
            <a:outerShdw dist="50800" dir="5400000" algn="ctr" rotWithShape="0">
              <a:srgbClr val="000000">
                <a:alpha val="43137"/>
              </a:srgbClr>
            </a:outerShdw>
          </a:effectLst>
        </p:spPr>
      </p:pic>
      <p:grpSp>
        <p:nvGrpSpPr>
          <p:cNvPr id="44" name="Group 43">
            <a:extLst>
              <a:ext uri="{FF2B5EF4-FFF2-40B4-BE49-F238E27FC236}">
                <a16:creationId xmlns:a16="http://schemas.microsoft.com/office/drawing/2014/main" id="{550D411C-ED67-4A68-9DF1-CFB31456ABDC}"/>
              </a:ext>
            </a:extLst>
          </p:cNvPr>
          <p:cNvGrpSpPr/>
          <p:nvPr/>
        </p:nvGrpSpPr>
        <p:grpSpPr>
          <a:xfrm>
            <a:off x="6627454" y="1120898"/>
            <a:ext cx="2349361" cy="544955"/>
            <a:chOff x="1158258" y="1110577"/>
            <a:chExt cx="2349361" cy="544955"/>
          </a:xfrm>
        </p:grpSpPr>
        <p:sp>
          <p:nvSpPr>
            <p:cNvPr id="45" name="Rectangle 44">
              <a:extLst>
                <a:ext uri="{FF2B5EF4-FFF2-40B4-BE49-F238E27FC236}">
                  <a16:creationId xmlns:a16="http://schemas.microsoft.com/office/drawing/2014/main" id="{933F016E-D331-4361-8301-751099F7DBD4}"/>
                </a:ext>
              </a:extLst>
            </p:cNvPr>
            <p:cNvSpPr/>
            <p:nvPr/>
          </p:nvSpPr>
          <p:spPr>
            <a:xfrm>
              <a:off x="1158259" y="1110577"/>
              <a:ext cx="184731" cy="369332"/>
            </a:xfrm>
            <a:prstGeom prst="rect">
              <a:avLst/>
            </a:prstGeom>
          </p:spPr>
          <p:txBody>
            <a:bodyPr wrap="none">
              <a:spAutoFit/>
            </a:bodyPr>
            <a:lstStyle/>
            <a:p>
              <a:endParaRPr lang="en-US" dirty="0">
                <a:solidFill>
                  <a:srgbClr val="8F5CD3"/>
                </a:solidFill>
                <a:latin typeface="Roboto" pitchFamily="2" charset="0"/>
                <a:ea typeface="Roboto" pitchFamily="2" charset="0"/>
              </a:endParaRPr>
            </a:p>
          </p:txBody>
        </p:sp>
        <p:sp>
          <p:nvSpPr>
            <p:cNvPr id="46" name="Rectangle 45">
              <a:extLst>
                <a:ext uri="{FF2B5EF4-FFF2-40B4-BE49-F238E27FC236}">
                  <a16:creationId xmlns:a16="http://schemas.microsoft.com/office/drawing/2014/main" id="{01B2BCBC-F207-44CB-824F-60E44BFF6282}"/>
                </a:ext>
              </a:extLst>
            </p:cNvPr>
            <p:cNvSpPr/>
            <p:nvPr/>
          </p:nvSpPr>
          <p:spPr>
            <a:xfrm>
              <a:off x="1158258" y="1401616"/>
              <a:ext cx="2349361" cy="253916"/>
            </a:xfrm>
            <a:prstGeom prst="rect">
              <a:avLst/>
            </a:prstGeom>
          </p:spPr>
          <p:txBody>
            <a:bodyPr wrap="square">
              <a:spAutoFit/>
            </a:bodyPr>
            <a:lstStyle/>
            <a:p>
              <a:endParaRPr lang="en-US" sz="1050" dirty="0">
                <a:solidFill>
                  <a:schemeClr val="bg1"/>
                </a:solidFill>
                <a:latin typeface="Roboto Light" panose="02000000000000000000" pitchFamily="2" charset="0"/>
                <a:ea typeface="Roboto Light" panose="02000000000000000000" pitchFamily="2" charset="0"/>
              </a:endParaRPr>
            </a:p>
          </p:txBody>
        </p:sp>
      </p:grpSp>
      <p:sp>
        <p:nvSpPr>
          <p:cNvPr id="55" name="Triangle isocèle 54">
            <a:extLst>
              <a:ext uri="{FF2B5EF4-FFF2-40B4-BE49-F238E27FC236}">
                <a16:creationId xmlns:a16="http://schemas.microsoft.com/office/drawing/2014/main" id="{7264988C-A7A7-4C5F-BB4B-31BE6985AFA6}"/>
              </a:ext>
            </a:extLst>
          </p:cNvPr>
          <p:cNvSpPr/>
          <p:nvPr/>
        </p:nvSpPr>
        <p:spPr>
          <a:xfrm rot="16200000">
            <a:off x="1527445" y="3267340"/>
            <a:ext cx="666750" cy="323322"/>
          </a:xfrm>
          <a:custGeom>
            <a:avLst/>
            <a:gdLst>
              <a:gd name="connsiteX0" fmla="*/ 0 w 666750"/>
              <a:gd name="connsiteY0" fmla="*/ 520700 h 520700"/>
              <a:gd name="connsiteX1" fmla="*/ 333375 w 666750"/>
              <a:gd name="connsiteY1" fmla="*/ 0 h 520700"/>
              <a:gd name="connsiteX2" fmla="*/ 666750 w 666750"/>
              <a:gd name="connsiteY2" fmla="*/ 520700 h 520700"/>
              <a:gd name="connsiteX3" fmla="*/ 0 w 666750"/>
              <a:gd name="connsiteY3" fmla="*/ 520700 h 520700"/>
              <a:gd name="connsiteX0" fmla="*/ 0 w 666750"/>
              <a:gd name="connsiteY0" fmla="*/ 323319 h 323319"/>
              <a:gd name="connsiteX1" fmla="*/ 325318 w 666750"/>
              <a:gd name="connsiteY1" fmla="*/ 0 h 323319"/>
              <a:gd name="connsiteX2" fmla="*/ 666750 w 666750"/>
              <a:gd name="connsiteY2" fmla="*/ 323319 h 323319"/>
              <a:gd name="connsiteX3" fmla="*/ 0 w 666750"/>
              <a:gd name="connsiteY3" fmla="*/ 323319 h 323319"/>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Lst>
            <a:ahLst/>
            <a:cxnLst>
              <a:cxn ang="0">
                <a:pos x="connsiteX0" y="connsiteY0"/>
              </a:cxn>
              <a:cxn ang="0">
                <a:pos x="connsiteX1" y="connsiteY1"/>
              </a:cxn>
              <a:cxn ang="0">
                <a:pos x="connsiteX2" y="connsiteY2"/>
              </a:cxn>
              <a:cxn ang="0">
                <a:pos x="connsiteX3" y="connsiteY3"/>
              </a:cxn>
            </a:cxnLst>
            <a:rect l="l" t="t" r="r" b="b"/>
            <a:pathLst>
              <a:path w="666750" h="323322">
                <a:moveTo>
                  <a:pt x="0" y="323319"/>
                </a:moveTo>
                <a:cubicBezTo>
                  <a:pt x="193031" y="243744"/>
                  <a:pt x="180625" y="67491"/>
                  <a:pt x="325318" y="0"/>
                </a:cubicBezTo>
                <a:cubicBezTo>
                  <a:pt x="487467" y="111802"/>
                  <a:pt x="484460" y="251802"/>
                  <a:pt x="666750" y="323322"/>
                </a:cubicBezTo>
                <a:lnTo>
                  <a:pt x="0" y="323319"/>
                </a:lnTo>
                <a:close/>
              </a:path>
            </a:pathLst>
          </a:custGeom>
          <a:solidFill>
            <a:srgbClr val="4C57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ZoneTexte 1">
            <a:extLst>
              <a:ext uri="{FF2B5EF4-FFF2-40B4-BE49-F238E27FC236}">
                <a16:creationId xmlns:a16="http://schemas.microsoft.com/office/drawing/2014/main" id="{E950B322-99FE-427D-B906-80429EB9D4FB}"/>
              </a:ext>
            </a:extLst>
          </p:cNvPr>
          <p:cNvSpPr txBox="1"/>
          <p:nvPr/>
        </p:nvSpPr>
        <p:spPr>
          <a:xfrm>
            <a:off x="3946009" y="1490230"/>
            <a:ext cx="4299983" cy="2646878"/>
          </a:xfrm>
          <a:prstGeom prst="rect">
            <a:avLst/>
          </a:prstGeom>
          <a:noFill/>
        </p:spPr>
        <p:txBody>
          <a:bodyPr wrap="square" rtlCol="0">
            <a:spAutoFit/>
          </a:bodyPr>
          <a:lstStyle/>
          <a:p>
            <a:r>
              <a:rPr lang="en-US" sz="16600" dirty="0">
                <a:solidFill>
                  <a:schemeClr val="bg1"/>
                </a:solidFill>
                <a:latin typeface="Agency FB" panose="020B0503020202020204" pitchFamily="34" charset="0"/>
              </a:rPr>
              <a:t>MERCI</a:t>
            </a:r>
          </a:p>
        </p:txBody>
      </p:sp>
      <p:sp>
        <p:nvSpPr>
          <p:cNvPr id="3" name="ZoneTexte 2">
            <a:extLst>
              <a:ext uri="{FF2B5EF4-FFF2-40B4-BE49-F238E27FC236}">
                <a16:creationId xmlns:a16="http://schemas.microsoft.com/office/drawing/2014/main" id="{9AB4A478-8B08-4D6B-82AE-E3D0C71C7CF0}"/>
              </a:ext>
            </a:extLst>
          </p:cNvPr>
          <p:cNvSpPr txBox="1"/>
          <p:nvPr/>
        </p:nvSpPr>
        <p:spPr>
          <a:xfrm>
            <a:off x="4075814" y="3677151"/>
            <a:ext cx="4040372" cy="584775"/>
          </a:xfrm>
          <a:prstGeom prst="rect">
            <a:avLst/>
          </a:prstGeom>
          <a:noFill/>
        </p:spPr>
        <p:txBody>
          <a:bodyPr wrap="square" rtlCol="0">
            <a:spAutoFit/>
          </a:bodyPr>
          <a:lstStyle/>
          <a:p>
            <a:pPr algn="ctr"/>
            <a:r>
              <a:rPr lang="en-US" sz="3200" dirty="0">
                <a:solidFill>
                  <a:schemeClr val="bg1"/>
                </a:solidFill>
                <a:latin typeface="Agency FB" panose="020B0503020202020204" pitchFamily="34" charset="0"/>
              </a:rPr>
              <a:t>Pour votre attention</a:t>
            </a:r>
          </a:p>
        </p:txBody>
      </p:sp>
    </p:spTree>
    <p:extLst>
      <p:ext uri="{BB962C8B-B14F-4D97-AF65-F5344CB8AC3E}">
        <p14:creationId xmlns:p14="http://schemas.microsoft.com/office/powerpoint/2010/main" val="5234084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1000"/>
                                        <p:tgtEl>
                                          <p:spTgt spid="44"/>
                                        </p:tgtEl>
                                      </p:cBhvr>
                                    </p:animEffect>
                                    <p:anim calcmode="lin" valueType="num">
                                      <p:cBhvr>
                                        <p:cTn id="8" dur="1000" fill="hold"/>
                                        <p:tgtEl>
                                          <p:spTgt spid="44"/>
                                        </p:tgtEl>
                                        <p:attrNameLst>
                                          <p:attrName>ppt_x</p:attrName>
                                        </p:attrNameLst>
                                      </p:cBhvr>
                                      <p:tavLst>
                                        <p:tav tm="0">
                                          <p:val>
                                            <p:strVal val="#ppt_x"/>
                                          </p:val>
                                        </p:tav>
                                        <p:tav tm="100000">
                                          <p:val>
                                            <p:strVal val="#ppt_x"/>
                                          </p:val>
                                        </p:tav>
                                      </p:tavLst>
                                    </p:anim>
                                    <p:anim calcmode="lin" valueType="num">
                                      <p:cBhvr>
                                        <p:cTn id="9" dur="1000" fill="hold"/>
                                        <p:tgtEl>
                                          <p:spTgt spid="4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40" name="Image 39">
            <a:extLst>
              <a:ext uri="{FF2B5EF4-FFF2-40B4-BE49-F238E27FC236}">
                <a16:creationId xmlns:a16="http://schemas.microsoft.com/office/drawing/2014/main" id="{635A91DC-2B7B-4178-9D0B-F97A7F757ECB}"/>
              </a:ext>
            </a:extLst>
          </p:cNvPr>
          <p:cNvPicPr>
            <a:picLocks noChangeAspect="1"/>
          </p:cNvPicPr>
          <p:nvPr/>
        </p:nvPicPr>
        <p:blipFill rotWithShape="1">
          <a:blip r:embed="rId3">
            <a:alphaModFix amt="9000"/>
            <a:extLst>
              <a:ext uri="{28A0092B-C50C-407E-A947-70E740481C1C}">
                <a14:useLocalDpi xmlns:a14="http://schemas.microsoft.com/office/drawing/2010/main" val="0"/>
              </a:ext>
            </a:extLst>
          </a:blip>
          <a:srcRect t="13322" b="2985"/>
          <a:stretch/>
        </p:blipFill>
        <p:spPr>
          <a:xfrm>
            <a:off x="0" y="0"/>
            <a:ext cx="12291237" cy="6858000"/>
          </a:xfrm>
          <a:prstGeom prst="rect">
            <a:avLst/>
          </a:prstGeom>
          <a:effectLst>
            <a:outerShdw dist="50800" dir="5400000" algn="ctr" rotWithShape="0">
              <a:srgbClr val="000000">
                <a:alpha val="43137"/>
              </a:srgbClr>
            </a:outerShdw>
          </a:effectLst>
        </p:spPr>
      </p:pic>
      <p:grpSp>
        <p:nvGrpSpPr>
          <p:cNvPr id="44" name="Group 43">
            <a:extLst>
              <a:ext uri="{FF2B5EF4-FFF2-40B4-BE49-F238E27FC236}">
                <a16:creationId xmlns:a16="http://schemas.microsoft.com/office/drawing/2014/main" id="{550D411C-ED67-4A68-9DF1-CFB31456ABDC}"/>
              </a:ext>
            </a:extLst>
          </p:cNvPr>
          <p:cNvGrpSpPr/>
          <p:nvPr/>
        </p:nvGrpSpPr>
        <p:grpSpPr>
          <a:xfrm>
            <a:off x="6627454" y="1120898"/>
            <a:ext cx="2349361" cy="544955"/>
            <a:chOff x="1158258" y="1110577"/>
            <a:chExt cx="2349361" cy="544955"/>
          </a:xfrm>
        </p:grpSpPr>
        <p:sp>
          <p:nvSpPr>
            <p:cNvPr id="45" name="Rectangle 44">
              <a:extLst>
                <a:ext uri="{FF2B5EF4-FFF2-40B4-BE49-F238E27FC236}">
                  <a16:creationId xmlns:a16="http://schemas.microsoft.com/office/drawing/2014/main" id="{933F016E-D331-4361-8301-751099F7DBD4}"/>
                </a:ext>
              </a:extLst>
            </p:cNvPr>
            <p:cNvSpPr/>
            <p:nvPr/>
          </p:nvSpPr>
          <p:spPr>
            <a:xfrm>
              <a:off x="1158259" y="1110577"/>
              <a:ext cx="184731" cy="369332"/>
            </a:xfrm>
            <a:prstGeom prst="rect">
              <a:avLst/>
            </a:prstGeom>
          </p:spPr>
          <p:txBody>
            <a:bodyPr wrap="none">
              <a:spAutoFit/>
            </a:bodyPr>
            <a:lstStyle/>
            <a:p>
              <a:endParaRPr lang="en-US" dirty="0">
                <a:solidFill>
                  <a:srgbClr val="8F5CD3"/>
                </a:solidFill>
                <a:latin typeface="Roboto" pitchFamily="2" charset="0"/>
                <a:ea typeface="Roboto" pitchFamily="2" charset="0"/>
              </a:endParaRPr>
            </a:p>
          </p:txBody>
        </p:sp>
        <p:sp>
          <p:nvSpPr>
            <p:cNvPr id="46" name="Rectangle 45">
              <a:extLst>
                <a:ext uri="{FF2B5EF4-FFF2-40B4-BE49-F238E27FC236}">
                  <a16:creationId xmlns:a16="http://schemas.microsoft.com/office/drawing/2014/main" id="{01B2BCBC-F207-44CB-824F-60E44BFF6282}"/>
                </a:ext>
              </a:extLst>
            </p:cNvPr>
            <p:cNvSpPr/>
            <p:nvPr/>
          </p:nvSpPr>
          <p:spPr>
            <a:xfrm>
              <a:off x="1158258" y="1401616"/>
              <a:ext cx="2349361" cy="253916"/>
            </a:xfrm>
            <a:prstGeom prst="rect">
              <a:avLst/>
            </a:prstGeom>
          </p:spPr>
          <p:txBody>
            <a:bodyPr wrap="square">
              <a:spAutoFit/>
            </a:bodyPr>
            <a:lstStyle/>
            <a:p>
              <a:endParaRPr lang="en-US" sz="1050" dirty="0">
                <a:solidFill>
                  <a:schemeClr val="bg1"/>
                </a:solidFill>
                <a:latin typeface="Roboto Light" panose="02000000000000000000" pitchFamily="2" charset="0"/>
                <a:ea typeface="Roboto Light" panose="02000000000000000000" pitchFamily="2" charset="0"/>
              </a:endParaRPr>
            </a:p>
          </p:txBody>
        </p:sp>
      </p:grpSp>
      <p:sp>
        <p:nvSpPr>
          <p:cNvPr id="55" name="Triangle isocèle 54">
            <a:extLst>
              <a:ext uri="{FF2B5EF4-FFF2-40B4-BE49-F238E27FC236}">
                <a16:creationId xmlns:a16="http://schemas.microsoft.com/office/drawing/2014/main" id="{7264988C-A7A7-4C5F-BB4B-31BE6985AFA6}"/>
              </a:ext>
            </a:extLst>
          </p:cNvPr>
          <p:cNvSpPr/>
          <p:nvPr/>
        </p:nvSpPr>
        <p:spPr>
          <a:xfrm rot="16200000">
            <a:off x="1527445" y="3267340"/>
            <a:ext cx="666750" cy="323322"/>
          </a:xfrm>
          <a:custGeom>
            <a:avLst/>
            <a:gdLst>
              <a:gd name="connsiteX0" fmla="*/ 0 w 666750"/>
              <a:gd name="connsiteY0" fmla="*/ 520700 h 520700"/>
              <a:gd name="connsiteX1" fmla="*/ 333375 w 666750"/>
              <a:gd name="connsiteY1" fmla="*/ 0 h 520700"/>
              <a:gd name="connsiteX2" fmla="*/ 666750 w 666750"/>
              <a:gd name="connsiteY2" fmla="*/ 520700 h 520700"/>
              <a:gd name="connsiteX3" fmla="*/ 0 w 666750"/>
              <a:gd name="connsiteY3" fmla="*/ 520700 h 520700"/>
              <a:gd name="connsiteX0" fmla="*/ 0 w 666750"/>
              <a:gd name="connsiteY0" fmla="*/ 323319 h 323319"/>
              <a:gd name="connsiteX1" fmla="*/ 325318 w 666750"/>
              <a:gd name="connsiteY1" fmla="*/ 0 h 323319"/>
              <a:gd name="connsiteX2" fmla="*/ 666750 w 666750"/>
              <a:gd name="connsiteY2" fmla="*/ 323319 h 323319"/>
              <a:gd name="connsiteX3" fmla="*/ 0 w 666750"/>
              <a:gd name="connsiteY3" fmla="*/ 323319 h 323319"/>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 name="connsiteX0" fmla="*/ 0 w 666750"/>
              <a:gd name="connsiteY0" fmla="*/ 323319 h 323322"/>
              <a:gd name="connsiteX1" fmla="*/ 325318 w 666750"/>
              <a:gd name="connsiteY1" fmla="*/ 0 h 323322"/>
              <a:gd name="connsiteX2" fmla="*/ 666750 w 666750"/>
              <a:gd name="connsiteY2" fmla="*/ 323322 h 323322"/>
              <a:gd name="connsiteX3" fmla="*/ 0 w 666750"/>
              <a:gd name="connsiteY3" fmla="*/ 323319 h 323322"/>
            </a:gdLst>
            <a:ahLst/>
            <a:cxnLst>
              <a:cxn ang="0">
                <a:pos x="connsiteX0" y="connsiteY0"/>
              </a:cxn>
              <a:cxn ang="0">
                <a:pos x="connsiteX1" y="connsiteY1"/>
              </a:cxn>
              <a:cxn ang="0">
                <a:pos x="connsiteX2" y="connsiteY2"/>
              </a:cxn>
              <a:cxn ang="0">
                <a:pos x="connsiteX3" y="connsiteY3"/>
              </a:cxn>
            </a:cxnLst>
            <a:rect l="l" t="t" r="r" b="b"/>
            <a:pathLst>
              <a:path w="666750" h="323322">
                <a:moveTo>
                  <a:pt x="0" y="323319"/>
                </a:moveTo>
                <a:cubicBezTo>
                  <a:pt x="193031" y="243744"/>
                  <a:pt x="180625" y="67491"/>
                  <a:pt x="325318" y="0"/>
                </a:cubicBezTo>
                <a:cubicBezTo>
                  <a:pt x="487467" y="111802"/>
                  <a:pt x="484460" y="251802"/>
                  <a:pt x="666750" y="323322"/>
                </a:cubicBezTo>
                <a:lnTo>
                  <a:pt x="0" y="323319"/>
                </a:lnTo>
                <a:close/>
              </a:path>
            </a:pathLst>
          </a:custGeom>
          <a:solidFill>
            <a:srgbClr val="4C57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ZoneTexte 2">
            <a:extLst>
              <a:ext uri="{FF2B5EF4-FFF2-40B4-BE49-F238E27FC236}">
                <a16:creationId xmlns:a16="http://schemas.microsoft.com/office/drawing/2014/main" id="{9AB4A478-8B08-4D6B-82AE-E3D0C71C7CF0}"/>
              </a:ext>
            </a:extLst>
          </p:cNvPr>
          <p:cNvSpPr txBox="1"/>
          <p:nvPr/>
        </p:nvSpPr>
        <p:spPr>
          <a:xfrm>
            <a:off x="4075814" y="3077790"/>
            <a:ext cx="4040372" cy="584775"/>
          </a:xfrm>
          <a:prstGeom prst="rect">
            <a:avLst/>
          </a:prstGeom>
          <a:noFill/>
        </p:spPr>
        <p:txBody>
          <a:bodyPr wrap="square" rtlCol="0">
            <a:spAutoFit/>
          </a:bodyPr>
          <a:lstStyle/>
          <a:p>
            <a:pPr algn="ctr"/>
            <a:r>
              <a:rPr lang="en-US" sz="3200" dirty="0">
                <a:solidFill>
                  <a:schemeClr val="bg1"/>
                </a:solidFill>
                <a:latin typeface="Agency FB" panose="020B0503020202020204" pitchFamily="34" charset="0"/>
              </a:rPr>
              <a:t>Mohammed Amine Cherni</a:t>
            </a:r>
          </a:p>
        </p:txBody>
      </p:sp>
      <p:sp>
        <p:nvSpPr>
          <p:cNvPr id="5" name="Rectangle 4">
            <a:extLst>
              <a:ext uri="{FF2B5EF4-FFF2-40B4-BE49-F238E27FC236}">
                <a16:creationId xmlns:a16="http://schemas.microsoft.com/office/drawing/2014/main" id="{3C6F9335-F378-4D6C-8BC2-54D636F2CC03}"/>
              </a:ext>
            </a:extLst>
          </p:cNvPr>
          <p:cNvSpPr/>
          <p:nvPr/>
        </p:nvSpPr>
        <p:spPr>
          <a:xfrm>
            <a:off x="3884428" y="2367776"/>
            <a:ext cx="4423144" cy="2122447"/>
          </a:xfrm>
          <a:prstGeom prst="rect">
            <a:avLst/>
          </a:prstGeom>
          <a:no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29736158"/>
      </p:ext>
    </p:extLst>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1000"/>
                                        <p:tgtEl>
                                          <p:spTgt spid="44"/>
                                        </p:tgtEl>
                                      </p:cBhvr>
                                    </p:animEffect>
                                    <p:anim calcmode="lin" valueType="num">
                                      <p:cBhvr>
                                        <p:cTn id="8" dur="1000" fill="hold"/>
                                        <p:tgtEl>
                                          <p:spTgt spid="44"/>
                                        </p:tgtEl>
                                        <p:attrNameLst>
                                          <p:attrName>ppt_x</p:attrName>
                                        </p:attrNameLst>
                                      </p:cBhvr>
                                      <p:tavLst>
                                        <p:tav tm="0">
                                          <p:val>
                                            <p:strVal val="#ppt_x"/>
                                          </p:val>
                                        </p:tav>
                                        <p:tav tm="100000">
                                          <p:val>
                                            <p:strVal val="#ppt_x"/>
                                          </p:val>
                                        </p:tav>
                                      </p:tavLst>
                                    </p:anim>
                                    <p:anim calcmode="lin" valueType="num">
                                      <p:cBhvr>
                                        <p:cTn id="9"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4855</TotalTime>
  <Words>1468</Words>
  <Application>Microsoft Office PowerPoint</Application>
  <PresentationFormat>Grand écran</PresentationFormat>
  <Paragraphs>266</Paragraphs>
  <Slides>30</Slides>
  <Notes>29</Notes>
  <HiddenSlides>0</HiddenSlides>
  <MMClips>0</MMClips>
  <ScaleCrop>false</ScaleCrop>
  <HeadingPairs>
    <vt:vector size="8" baseType="variant">
      <vt:variant>
        <vt:lpstr>Polices utilisées</vt:lpstr>
      </vt:variant>
      <vt:variant>
        <vt:i4>13</vt:i4>
      </vt:variant>
      <vt:variant>
        <vt:lpstr>Thème</vt:lpstr>
      </vt:variant>
      <vt:variant>
        <vt:i4>1</vt:i4>
      </vt:variant>
      <vt:variant>
        <vt:lpstr>Serveurs OLE incorporés</vt:lpstr>
      </vt:variant>
      <vt:variant>
        <vt:i4>1</vt:i4>
      </vt:variant>
      <vt:variant>
        <vt:lpstr>Titres des diapositives</vt:lpstr>
      </vt:variant>
      <vt:variant>
        <vt:i4>30</vt:i4>
      </vt:variant>
    </vt:vector>
  </HeadingPairs>
  <TitlesOfParts>
    <vt:vector size="45" baseType="lpstr">
      <vt:lpstr>Malgun Gothic</vt:lpstr>
      <vt:lpstr>Agency FB</vt:lpstr>
      <vt:lpstr>Archivo Black</vt:lpstr>
      <vt:lpstr>Arial</vt:lpstr>
      <vt:lpstr>Calibri</vt:lpstr>
      <vt:lpstr>Calibri Light</vt:lpstr>
      <vt:lpstr>Codec Pro</vt:lpstr>
      <vt:lpstr>Roboto</vt:lpstr>
      <vt:lpstr>Roboto Light</vt:lpstr>
      <vt:lpstr>Söhne</vt:lpstr>
      <vt:lpstr>Times New Roman</vt:lpstr>
      <vt:lpstr>Ultra</vt:lpstr>
      <vt:lpstr>Wingdings</vt:lpstr>
      <vt:lpstr>Office Theme</vt:lpstr>
      <vt:lpstr>think-cell Slide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Ganesh Musuku</dc:creator>
  <cp:lastModifiedBy>cherni mohamed amine</cp:lastModifiedBy>
  <cp:revision>290</cp:revision>
  <dcterms:created xsi:type="dcterms:W3CDTF">2021-06-07T03:59:28Z</dcterms:created>
  <dcterms:modified xsi:type="dcterms:W3CDTF">2025-01-14T21:58:38Z</dcterms:modified>
</cp:coreProperties>
</file>